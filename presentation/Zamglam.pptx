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sentence: a marketplace where many clothing and footwear shops sell in one place, with delivery built into the platform rather than arranged separately. The four coloured dots are the four kinds of user — the same colours the application uses, and the same colours as in every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come straight from the problem statement in our proposal. Keep this slide short — the rest of the presentation answers each one. Trust is answered by verification and moderation; delivery by the courier module and the handover; fragmentation and comparison by the shared catalogue.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aim, then name the four objectives. We come back to exactly these four on the outcomes slide, so the examiners can check each one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we built four dashboards where the proposal promised two. Couriers had to become users of the system rather than a service we call, so they could claim parcels and be held accountable for them. The administrator exists because verification and complaints need somebody to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top to bottom. The proposal named vendor management, product catalogue, courier tracking and a user interface layer — those are the shaded modules. Orders, trust and administration were added as building the system showed they were needed. Key point: controllers do HTTP only; every rule lives in the domain modules, so it holds no matter which route reaches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the platform genuinely multi-vendor. Three shops in three towns cannot share one delivery fee or one status — so an order is split into parcels, one per shop, and each moves on its own. The customer is charged exactly what the checkout quote showed, because the same calculation prices both, from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project, and our answer to the problem statement: logistics arranged manually between sellers and couriers. Emphasise that neither the shop nor the courier can complete a collection alone. If asked how two couriers are stopped from claiming the same parcel: the claim is a single conditional database update, so only one can succeed and the second is told somebody got there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answers the first problem — trust. Bottom row is objective 4. If asked about encrypted transmission: HTTPS is applied at deployment, at the web server in front of the application; the local demonstration runs on plain HTTP on this machine, where there is no network to intercept.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test names on the right. The five bugs were found by running the tests against an empty database — the kind of problems that would have met anyone installing the project fresh, such as the database never being created and couriers being approved automatically without an administrator’s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 be ready for the word "scheduling". What we built is dispatch — organising and assigning deliveries — rather than customers choosing a time slot. If the examiners read scheduling as time slots, say so honestly and point to it as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before the examiners ask. The framework change is a deliberate engineering decision, not a drift. The payment gap is a risk we identified in advance whose mitigation proved impossible for reasons outside the project. Delivery distance currently comes from matching addresses against Zambian towns and Lusaka neighbourhoods; an unrecognised address is priced as an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demonstration, a good path: place an order from two shops as a customer; release one parcel as a shop; claim it as a courier; confirm the handover as the shop; then show the customer tracking with the courier details now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4F46E5"/>
          </a:solidFill>
          <a:ln w="12700">
            <a:solidFill>
              <a:srgbClr val="4F46E5"/>
            </a:solidFill>
            <a:prstDash val="solid"/>
          </a:ln>
        </p:spPr>
      </p:sp>
      <p:sp>
        <p:nvSpPr>
          <p:cNvPr id="3" name="Text 1"/>
          <p:cNvSpPr/>
          <p:nvPr/>
        </p:nvSpPr>
        <p:spPr>
          <a:xfrm>
            <a:off x="822960" y="1188720"/>
            <a:ext cx="10058400" cy="457200"/>
          </a:xfrm>
          <a:prstGeom prst="rect">
            <a:avLst/>
          </a:prstGeom>
          <a:noFill/>
          <a:ln/>
        </p:spPr>
        <p:txBody>
          <a:bodyPr wrap="square" rtlCol="0" anchor="ctr"/>
          <a:lstStyle/>
          <a:p>
            <a:pPr indent="0" marL="0">
              <a:buNone/>
            </a:pPr>
            <a:r>
              <a:rPr lang="en-US" sz="1600" b="1" spc="600" kern="0" dirty="0">
                <a:solidFill>
                  <a:srgbClr val="A5B4FC"/>
                </a:solidFill>
                <a:latin typeface="Calibri" pitchFamily="34" charset="0"/>
                <a:ea typeface="Calibri" pitchFamily="34" charset="-122"/>
                <a:cs typeface="Calibri" pitchFamily="34" charset="-120"/>
              </a:rPr>
              <a:t>ZAMGLAM</a:t>
            </a:r>
            <a:endParaRPr lang="en-US" sz="1600" dirty="0"/>
          </a:p>
        </p:txBody>
      </p:sp>
      <p:sp>
        <p:nvSpPr>
          <p:cNvPr id="4" name="Text 2"/>
          <p:cNvSpPr/>
          <p:nvPr/>
        </p:nvSpPr>
        <p:spPr>
          <a:xfrm>
            <a:off x="822960" y="1691640"/>
            <a:ext cx="10241280" cy="1828800"/>
          </a:xfrm>
          <a:prstGeom prst="rect">
            <a:avLst/>
          </a:prstGeom>
          <a:noFill/>
          <a:ln/>
        </p:spPr>
        <p:txBody>
          <a:bodyPr wrap="square"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Design and Implementation of a</a:t>
            </a:r>
            <a:endParaRPr lang="en-US" sz="3800" dirty="0"/>
          </a:p>
          <a:p>
            <a:pPr indent="0" marL="0">
              <a:buNone/>
            </a:pPr>
            <a:r>
              <a:rPr lang="en-US" sz="3800" b="1" dirty="0">
                <a:solidFill>
                  <a:srgbClr val="FFFFFF"/>
                </a:solidFill>
                <a:latin typeface="Calibri" pitchFamily="34" charset="0"/>
                <a:ea typeface="Calibri" pitchFamily="34" charset="-122"/>
                <a:cs typeface="Calibri" pitchFamily="34" charset="-120"/>
              </a:rPr>
              <a:t>Multi-Vendor E-Commerce Platform with</a:t>
            </a:r>
            <a:endParaRPr lang="en-US" sz="3800" dirty="0"/>
          </a:p>
          <a:p>
            <a:pPr indent="0" marL="0">
              <a:buNone/>
            </a:pPr>
            <a:r>
              <a:rPr lang="en-US" sz="3800" b="1" dirty="0">
                <a:solidFill>
                  <a:srgbClr val="FFFFFF"/>
                </a:solidFill>
                <a:latin typeface="Calibri" pitchFamily="34" charset="0"/>
                <a:ea typeface="Calibri" pitchFamily="34" charset="-122"/>
                <a:cs typeface="Calibri" pitchFamily="34" charset="-120"/>
              </a:rPr>
              <a:t>Integrated Courier Delivery</a:t>
            </a:r>
            <a:endParaRPr lang="en-US" sz="3800" dirty="0"/>
          </a:p>
        </p:txBody>
      </p:sp>
      <p:sp>
        <p:nvSpPr>
          <p:cNvPr id="5" name="Text 3"/>
          <p:cNvSpPr/>
          <p:nvPr/>
        </p:nvSpPr>
        <p:spPr>
          <a:xfrm>
            <a:off x="822960" y="3611880"/>
            <a:ext cx="10058400" cy="457200"/>
          </a:xfrm>
          <a:prstGeom prst="rect">
            <a:avLst/>
          </a:prstGeom>
          <a:noFill/>
          <a:ln/>
        </p:spPr>
        <p:txBody>
          <a:bodyPr wrap="square" rtlCol="0" anchor="ctr"/>
          <a:lstStyle/>
          <a:p>
            <a:pPr indent="0" marL="0">
              <a:buNone/>
            </a:pPr>
            <a:r>
              <a:rPr lang="en-US" sz="2000" dirty="0">
                <a:solidFill>
                  <a:srgbClr val="CBD5E1"/>
                </a:solidFill>
                <a:latin typeface="Calibri" pitchFamily="34" charset="0"/>
                <a:ea typeface="Calibri" pitchFamily="34" charset="-122"/>
                <a:cs typeface="Calibri" pitchFamily="34" charset="-120"/>
              </a:rPr>
              <a:t>For clothing and footwear retailers in Zambia</a:t>
            </a:r>
            <a:endParaRPr lang="en-US" sz="2000" dirty="0"/>
          </a:p>
        </p:txBody>
      </p:sp>
      <p:sp>
        <p:nvSpPr>
          <p:cNvPr id="6" name="Shape 4"/>
          <p:cNvSpPr/>
          <p:nvPr/>
        </p:nvSpPr>
        <p:spPr>
          <a:xfrm>
            <a:off x="822960" y="4617720"/>
            <a:ext cx="201168" cy="201168"/>
          </a:xfrm>
          <a:prstGeom prst="ellipse">
            <a:avLst/>
          </a:prstGeom>
          <a:solidFill>
            <a:srgbClr val="4F46E5"/>
          </a:solidFill>
          <a:ln w="12700">
            <a:solidFill>
              <a:srgbClr val="4F46E5"/>
            </a:solidFill>
            <a:prstDash val="solid"/>
          </a:ln>
        </p:spPr>
      </p:sp>
      <p:sp>
        <p:nvSpPr>
          <p:cNvPr id="7" name="Text 5"/>
          <p:cNvSpPr/>
          <p:nvPr/>
        </p:nvSpPr>
        <p:spPr>
          <a:xfrm>
            <a:off x="1115568" y="4526280"/>
            <a:ext cx="2011680" cy="384048"/>
          </a:xfrm>
          <a:prstGeom prst="rect">
            <a:avLst/>
          </a:prstGeom>
          <a:noFill/>
          <a:ln/>
        </p:spPr>
        <p:txBody>
          <a:bodyPr wrap="square" rtlCol="0" anchor="ctr"/>
          <a:lstStyle/>
          <a:p>
            <a:pPr indent="0" marL="0">
              <a:buNone/>
            </a:pPr>
            <a:r>
              <a:rPr lang="en-US" sz="1500" dirty="0">
                <a:solidFill>
                  <a:srgbClr val="E2E8F0"/>
                </a:solidFill>
                <a:latin typeface="Calibri" pitchFamily="34" charset="0"/>
                <a:ea typeface="Calibri" pitchFamily="34" charset="-122"/>
                <a:cs typeface="Calibri" pitchFamily="34" charset="-120"/>
              </a:rPr>
              <a:t>Customers</a:t>
            </a:r>
            <a:endParaRPr lang="en-US" sz="1500" dirty="0"/>
          </a:p>
        </p:txBody>
      </p:sp>
      <p:sp>
        <p:nvSpPr>
          <p:cNvPr id="8" name="Shape 6"/>
          <p:cNvSpPr/>
          <p:nvPr/>
        </p:nvSpPr>
        <p:spPr>
          <a:xfrm>
            <a:off x="3200400" y="4617720"/>
            <a:ext cx="201168" cy="201168"/>
          </a:xfrm>
          <a:prstGeom prst="ellipse">
            <a:avLst/>
          </a:prstGeom>
          <a:solidFill>
            <a:srgbClr val="7E22CE"/>
          </a:solidFill>
          <a:ln w="12700">
            <a:solidFill>
              <a:srgbClr val="7E22CE"/>
            </a:solidFill>
            <a:prstDash val="solid"/>
          </a:ln>
        </p:spPr>
      </p:sp>
      <p:sp>
        <p:nvSpPr>
          <p:cNvPr id="9" name="Text 7"/>
          <p:cNvSpPr/>
          <p:nvPr/>
        </p:nvSpPr>
        <p:spPr>
          <a:xfrm>
            <a:off x="3493008" y="4526280"/>
            <a:ext cx="2011680" cy="384048"/>
          </a:xfrm>
          <a:prstGeom prst="rect">
            <a:avLst/>
          </a:prstGeom>
          <a:noFill/>
          <a:ln/>
        </p:spPr>
        <p:txBody>
          <a:bodyPr wrap="square" rtlCol="0" anchor="ctr"/>
          <a:lstStyle/>
          <a:p>
            <a:pPr indent="0" marL="0">
              <a:buNone/>
            </a:pPr>
            <a:r>
              <a:rPr lang="en-US" sz="1500" dirty="0">
                <a:solidFill>
                  <a:srgbClr val="E2E8F0"/>
                </a:solidFill>
                <a:latin typeface="Calibri" pitchFamily="34" charset="0"/>
                <a:ea typeface="Calibri" pitchFamily="34" charset="-122"/>
                <a:cs typeface="Calibri" pitchFamily="34" charset="-120"/>
              </a:rPr>
              <a:t>Shops</a:t>
            </a:r>
            <a:endParaRPr lang="en-US" sz="1500" dirty="0"/>
          </a:p>
        </p:txBody>
      </p:sp>
      <p:sp>
        <p:nvSpPr>
          <p:cNvPr id="10" name="Shape 8"/>
          <p:cNvSpPr/>
          <p:nvPr/>
        </p:nvSpPr>
        <p:spPr>
          <a:xfrm>
            <a:off x="5577840" y="4617720"/>
            <a:ext cx="201168" cy="201168"/>
          </a:xfrm>
          <a:prstGeom prst="ellipse">
            <a:avLst/>
          </a:prstGeom>
          <a:solidFill>
            <a:srgbClr val="047857"/>
          </a:solidFill>
          <a:ln w="12700">
            <a:solidFill>
              <a:srgbClr val="047857"/>
            </a:solidFill>
            <a:prstDash val="solid"/>
          </a:ln>
        </p:spPr>
      </p:sp>
      <p:sp>
        <p:nvSpPr>
          <p:cNvPr id="11" name="Text 9"/>
          <p:cNvSpPr/>
          <p:nvPr/>
        </p:nvSpPr>
        <p:spPr>
          <a:xfrm>
            <a:off x="5870448" y="4526280"/>
            <a:ext cx="2011680" cy="384048"/>
          </a:xfrm>
          <a:prstGeom prst="rect">
            <a:avLst/>
          </a:prstGeom>
          <a:noFill/>
          <a:ln/>
        </p:spPr>
        <p:txBody>
          <a:bodyPr wrap="square" rtlCol="0" anchor="ctr"/>
          <a:lstStyle/>
          <a:p>
            <a:pPr indent="0" marL="0">
              <a:buNone/>
            </a:pPr>
            <a:r>
              <a:rPr lang="en-US" sz="1500" dirty="0">
                <a:solidFill>
                  <a:srgbClr val="E2E8F0"/>
                </a:solidFill>
                <a:latin typeface="Calibri" pitchFamily="34" charset="0"/>
                <a:ea typeface="Calibri" pitchFamily="34" charset="-122"/>
                <a:cs typeface="Calibri" pitchFamily="34" charset="-120"/>
              </a:rPr>
              <a:t>Couriers</a:t>
            </a:r>
            <a:endParaRPr lang="en-US" sz="1500" dirty="0"/>
          </a:p>
        </p:txBody>
      </p:sp>
      <p:sp>
        <p:nvSpPr>
          <p:cNvPr id="12" name="Shape 10"/>
          <p:cNvSpPr/>
          <p:nvPr/>
        </p:nvSpPr>
        <p:spPr>
          <a:xfrm>
            <a:off x="7955280" y="4617720"/>
            <a:ext cx="201168" cy="201168"/>
          </a:xfrm>
          <a:prstGeom prst="ellipse">
            <a:avLst/>
          </a:prstGeom>
          <a:solidFill>
            <a:srgbClr val="64748B"/>
          </a:solidFill>
          <a:ln w="12700">
            <a:solidFill>
              <a:srgbClr val="64748B"/>
            </a:solidFill>
            <a:prstDash val="solid"/>
          </a:ln>
        </p:spPr>
      </p:sp>
      <p:sp>
        <p:nvSpPr>
          <p:cNvPr id="13" name="Text 11"/>
          <p:cNvSpPr/>
          <p:nvPr/>
        </p:nvSpPr>
        <p:spPr>
          <a:xfrm>
            <a:off x="8247888" y="4526280"/>
            <a:ext cx="2011680" cy="384048"/>
          </a:xfrm>
          <a:prstGeom prst="rect">
            <a:avLst/>
          </a:prstGeom>
          <a:noFill/>
          <a:ln/>
        </p:spPr>
        <p:txBody>
          <a:bodyPr wrap="square" rtlCol="0" anchor="ctr"/>
          <a:lstStyle/>
          <a:p>
            <a:pPr indent="0" marL="0">
              <a:buNone/>
            </a:pPr>
            <a:r>
              <a:rPr lang="en-US" sz="1500" dirty="0">
                <a:solidFill>
                  <a:srgbClr val="E2E8F0"/>
                </a:solidFill>
                <a:latin typeface="Calibri" pitchFamily="34" charset="0"/>
                <a:ea typeface="Calibri" pitchFamily="34" charset="-122"/>
                <a:cs typeface="Calibri" pitchFamily="34" charset="-120"/>
              </a:rPr>
              <a:t>Administrators</a:t>
            </a:r>
            <a:endParaRPr lang="en-US" sz="1500" dirty="0"/>
          </a:p>
        </p:txBody>
      </p:sp>
      <p:sp>
        <p:nvSpPr>
          <p:cNvPr id="14" name="Text 12"/>
          <p:cNvSpPr/>
          <p:nvPr/>
        </p:nvSpPr>
        <p:spPr>
          <a:xfrm>
            <a:off x="822960" y="5989320"/>
            <a:ext cx="10515600" cy="36576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Final-year project  ·  Department of Computing and Informatics  ·  University of Zambia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4F46E5"/>
          </a:solidFill>
          <a:ln w="12700">
            <a:solidFill>
              <a:srgbClr val="4F46E5"/>
            </a:solidFill>
            <a:prstDash val="solid"/>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THE PROBLEM</a:t>
            </a:r>
            <a:endParaRPr lang="en-US" sz="1200" dirty="0"/>
          </a:p>
        </p:txBody>
      </p:sp>
      <p:sp>
        <p:nvSpPr>
          <p:cNvPr id="4" name="Text 2"/>
          <p:cNvSpPr/>
          <p:nvPr/>
        </p:nvSpPr>
        <p:spPr>
          <a:xfrm>
            <a:off x="548640" y="621792"/>
            <a:ext cx="11155680" cy="73152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Buying clothes online in Zambia today</a:t>
            </a:r>
            <a:endParaRPr lang="en-US" sz="3000" dirty="0"/>
          </a:p>
        </p:txBody>
      </p:sp>
      <p:sp>
        <p:nvSpPr>
          <p:cNvPr id="5" name="Text 3"/>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Zamglam  ·  multi-vendor e-commerce with integrated courier delivery</a:t>
            </a:r>
            <a:endParaRPr lang="en-US" sz="1000" dirty="0"/>
          </a:p>
        </p:txBody>
      </p:sp>
      <p:sp>
        <p:nvSpPr>
          <p:cNvPr id="6" name="Text 4"/>
          <p:cNvSpPr/>
          <p:nvPr/>
        </p:nvSpPr>
        <p:spPr>
          <a:xfrm>
            <a:off x="10698480" y="6400800"/>
            <a:ext cx="100584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 / 12</a:t>
            </a:r>
            <a:endParaRPr lang="en-US" sz="1000" dirty="0"/>
          </a:p>
        </p:txBody>
      </p:sp>
      <p:sp>
        <p:nvSpPr>
          <p:cNvPr id="7" name="Shape 5"/>
          <p:cNvSpPr/>
          <p:nvPr/>
        </p:nvSpPr>
        <p:spPr>
          <a:xfrm>
            <a:off x="548640" y="1783080"/>
            <a:ext cx="5440680" cy="1920240"/>
          </a:xfrm>
          <a:prstGeom prst="rect">
            <a:avLst/>
          </a:prstGeom>
          <a:solidFill>
            <a:srgbClr val="FFF1F2"/>
          </a:solidFill>
          <a:ln w="9525">
            <a:solidFill>
              <a:srgbClr val="E2E8F0"/>
            </a:solidFill>
            <a:prstDash val="solid"/>
          </a:ln>
        </p:spPr>
      </p:sp>
      <p:sp>
        <p:nvSpPr>
          <p:cNvPr id="8" name="Shape 6"/>
          <p:cNvSpPr/>
          <p:nvPr/>
        </p:nvSpPr>
        <p:spPr>
          <a:xfrm>
            <a:off x="548640" y="1783080"/>
            <a:ext cx="5440680" cy="73152"/>
          </a:xfrm>
          <a:prstGeom prst="rect">
            <a:avLst/>
          </a:prstGeom>
          <a:solidFill>
            <a:srgbClr val="E11D48"/>
          </a:solidFill>
          <a:ln w="12700">
            <a:solidFill>
              <a:srgbClr val="E11D48"/>
            </a:solidFill>
            <a:prstDash val="solid"/>
          </a:ln>
        </p:spPr>
      </p:sp>
      <p:sp>
        <p:nvSpPr>
          <p:cNvPr id="9" name="Text 7"/>
          <p:cNvSpPr/>
          <p:nvPr/>
        </p:nvSpPr>
        <p:spPr>
          <a:xfrm>
            <a:off x="749808" y="1965960"/>
            <a:ext cx="5038344" cy="457200"/>
          </a:xfrm>
          <a:prstGeom prst="rect">
            <a:avLst/>
          </a:prstGeom>
          <a:noFill/>
          <a:ln/>
        </p:spPr>
        <p:txBody>
          <a:bodyPr wrap="square" rtlCol="0" anchor="t"/>
          <a:lstStyle/>
          <a:p>
            <a:pPr indent="0" marL="0">
              <a:buNone/>
            </a:pPr>
            <a:r>
              <a:rPr lang="en-US" sz="2000" b="1" dirty="0">
                <a:solidFill>
                  <a:srgbClr val="E11D48"/>
                </a:solidFill>
                <a:latin typeface="Calibri" pitchFamily="34" charset="0"/>
                <a:ea typeface="Calibri" pitchFamily="34" charset="-122"/>
                <a:cs typeface="Calibri" pitchFamily="34" charset="-120"/>
              </a:rPr>
              <a:t>Can I trust this seller?</a:t>
            </a:r>
            <a:endParaRPr lang="en-US" sz="2000" dirty="0"/>
          </a:p>
        </p:txBody>
      </p:sp>
      <p:sp>
        <p:nvSpPr>
          <p:cNvPr id="10" name="Text 8"/>
          <p:cNvSpPr/>
          <p:nvPr/>
        </p:nvSpPr>
        <p:spPr>
          <a:xfrm>
            <a:off x="749808" y="2441448"/>
            <a:ext cx="5038344" cy="1097280"/>
          </a:xfrm>
          <a:prstGeom prst="rect">
            <a:avLst/>
          </a:prstGeom>
          <a:noFill/>
          <a:ln/>
        </p:spPr>
        <p:txBody>
          <a:bodyPr wrap="square" rtlCol="0" anchor="t"/>
          <a:lstStyle/>
          <a:p>
            <a:pPr indent="0" marL="0">
              <a:spcAft>
                <a:spcPts val="400"/>
              </a:spcAft>
              <a:buNone/>
            </a:pPr>
            <a:r>
              <a:rPr lang="en-US" sz="1700" dirty="0">
                <a:solidFill>
                  <a:srgbClr val="334155"/>
                </a:solidFill>
                <a:latin typeface="Calibri" pitchFamily="34" charset="0"/>
                <a:ea typeface="Calibri" pitchFamily="34" charset="-122"/>
                <a:cs typeface="Calibri" pitchFamily="34" charset="-120"/>
              </a:rPr>
              <a:t>Most selling happens on Facebook and WhatsApp. There is no verified registration, so a real shop and a scam look the same.</a:t>
            </a:r>
            <a:endParaRPr lang="en-US" sz="1700" dirty="0"/>
          </a:p>
        </p:txBody>
      </p:sp>
      <p:sp>
        <p:nvSpPr>
          <p:cNvPr id="11" name="Shape 9"/>
          <p:cNvSpPr/>
          <p:nvPr/>
        </p:nvSpPr>
        <p:spPr>
          <a:xfrm>
            <a:off x="6217920" y="1783080"/>
            <a:ext cx="5440680" cy="1920240"/>
          </a:xfrm>
          <a:prstGeom prst="rect">
            <a:avLst/>
          </a:prstGeom>
          <a:solidFill>
            <a:srgbClr val="FFFBEB"/>
          </a:solidFill>
          <a:ln w="9525">
            <a:solidFill>
              <a:srgbClr val="E2E8F0"/>
            </a:solidFill>
            <a:prstDash val="solid"/>
          </a:ln>
        </p:spPr>
      </p:sp>
      <p:sp>
        <p:nvSpPr>
          <p:cNvPr id="12" name="Shape 10"/>
          <p:cNvSpPr/>
          <p:nvPr/>
        </p:nvSpPr>
        <p:spPr>
          <a:xfrm>
            <a:off x="6217920" y="1783080"/>
            <a:ext cx="5440680" cy="73152"/>
          </a:xfrm>
          <a:prstGeom prst="rect">
            <a:avLst/>
          </a:prstGeom>
          <a:solidFill>
            <a:srgbClr val="B45309"/>
          </a:solidFill>
          <a:ln w="12700">
            <a:solidFill>
              <a:srgbClr val="B45309"/>
            </a:solidFill>
            <a:prstDash val="solid"/>
          </a:ln>
        </p:spPr>
      </p:sp>
      <p:sp>
        <p:nvSpPr>
          <p:cNvPr id="13" name="Text 11"/>
          <p:cNvSpPr/>
          <p:nvPr/>
        </p:nvSpPr>
        <p:spPr>
          <a:xfrm>
            <a:off x="6419088" y="1965960"/>
            <a:ext cx="5038344" cy="457200"/>
          </a:xfrm>
          <a:prstGeom prst="rect">
            <a:avLst/>
          </a:prstGeom>
          <a:noFill/>
          <a:ln/>
        </p:spPr>
        <p:txBody>
          <a:bodyPr wrap="square" rtlCol="0" anchor="t"/>
          <a:lstStyle/>
          <a:p>
            <a:pPr indent="0" marL="0">
              <a:buNone/>
            </a:pPr>
            <a:r>
              <a:rPr lang="en-US" sz="2000" b="1" dirty="0">
                <a:solidFill>
                  <a:srgbClr val="B45309"/>
                </a:solidFill>
                <a:latin typeface="Calibri" pitchFamily="34" charset="0"/>
                <a:ea typeface="Calibri" pitchFamily="34" charset="-122"/>
                <a:cs typeface="Calibri" pitchFamily="34" charset="-120"/>
              </a:rPr>
              <a:t>Will it actually arrive?</a:t>
            </a:r>
            <a:endParaRPr lang="en-US" sz="2000" dirty="0"/>
          </a:p>
        </p:txBody>
      </p:sp>
      <p:sp>
        <p:nvSpPr>
          <p:cNvPr id="14" name="Text 12"/>
          <p:cNvSpPr/>
          <p:nvPr/>
        </p:nvSpPr>
        <p:spPr>
          <a:xfrm>
            <a:off x="6419088" y="2441448"/>
            <a:ext cx="5038344" cy="1097280"/>
          </a:xfrm>
          <a:prstGeom prst="rect">
            <a:avLst/>
          </a:prstGeom>
          <a:noFill/>
          <a:ln/>
        </p:spPr>
        <p:txBody>
          <a:bodyPr wrap="square" rtlCol="0" anchor="t"/>
          <a:lstStyle/>
          <a:p>
            <a:pPr indent="0" marL="0">
              <a:spcAft>
                <a:spcPts val="400"/>
              </a:spcAft>
              <a:buNone/>
            </a:pPr>
            <a:r>
              <a:rPr lang="en-US" sz="1700" dirty="0">
                <a:solidFill>
                  <a:srgbClr val="334155"/>
                </a:solidFill>
                <a:latin typeface="Calibri" pitchFamily="34" charset="0"/>
                <a:ea typeface="Calibri" pitchFamily="34" charset="-122"/>
                <a:cs typeface="Calibri" pitchFamily="34" charset="-120"/>
              </a:rPr>
              <a:t>Delivery is arranged by hand between the seller and whatever courier they know. Nobody can see where a parcel is.</a:t>
            </a:r>
            <a:endParaRPr lang="en-US" sz="1700" dirty="0"/>
          </a:p>
        </p:txBody>
      </p:sp>
      <p:sp>
        <p:nvSpPr>
          <p:cNvPr id="15" name="Shape 13"/>
          <p:cNvSpPr/>
          <p:nvPr/>
        </p:nvSpPr>
        <p:spPr>
          <a:xfrm>
            <a:off x="548640" y="3977640"/>
            <a:ext cx="5440680" cy="1920240"/>
          </a:xfrm>
          <a:prstGeom prst="rect">
            <a:avLst/>
          </a:prstGeom>
          <a:solidFill>
            <a:srgbClr val="EEF2FF"/>
          </a:solidFill>
          <a:ln w="9525">
            <a:solidFill>
              <a:srgbClr val="E2E8F0"/>
            </a:solidFill>
            <a:prstDash val="solid"/>
          </a:ln>
        </p:spPr>
      </p:sp>
      <p:sp>
        <p:nvSpPr>
          <p:cNvPr id="16" name="Shape 14"/>
          <p:cNvSpPr/>
          <p:nvPr/>
        </p:nvSpPr>
        <p:spPr>
          <a:xfrm>
            <a:off x="548640" y="3977640"/>
            <a:ext cx="5440680" cy="73152"/>
          </a:xfrm>
          <a:prstGeom prst="rect">
            <a:avLst/>
          </a:prstGeom>
          <a:solidFill>
            <a:srgbClr val="4F46E5"/>
          </a:solidFill>
          <a:ln w="12700">
            <a:solidFill>
              <a:srgbClr val="4F46E5"/>
            </a:solidFill>
            <a:prstDash val="solid"/>
          </a:ln>
        </p:spPr>
      </p:sp>
      <p:sp>
        <p:nvSpPr>
          <p:cNvPr id="17" name="Text 15"/>
          <p:cNvSpPr/>
          <p:nvPr/>
        </p:nvSpPr>
        <p:spPr>
          <a:xfrm>
            <a:off x="749808" y="4160520"/>
            <a:ext cx="5038344" cy="457200"/>
          </a:xfrm>
          <a:prstGeom prst="rect">
            <a:avLst/>
          </a:prstGeom>
          <a:noFill/>
          <a:ln/>
        </p:spPr>
        <p:txBody>
          <a:bodyPr wrap="square" rtlCol="0" anchor="t"/>
          <a:lstStyle/>
          <a:p>
            <a:pPr indent="0" marL="0">
              <a:buNone/>
            </a:pPr>
            <a:r>
              <a:rPr lang="en-US" sz="2000" b="1" dirty="0">
                <a:solidFill>
                  <a:srgbClr val="4F46E5"/>
                </a:solidFill>
                <a:latin typeface="Calibri" pitchFamily="34" charset="0"/>
                <a:ea typeface="Calibri" pitchFamily="34" charset="-122"/>
                <a:cs typeface="Calibri" pitchFamily="34" charset="-120"/>
              </a:rPr>
              <a:t>Where do I even look?</a:t>
            </a:r>
            <a:endParaRPr lang="en-US" sz="2000" dirty="0"/>
          </a:p>
        </p:txBody>
      </p:sp>
      <p:sp>
        <p:nvSpPr>
          <p:cNvPr id="18" name="Text 16"/>
          <p:cNvSpPr/>
          <p:nvPr/>
        </p:nvSpPr>
        <p:spPr>
          <a:xfrm>
            <a:off x="749808" y="4636008"/>
            <a:ext cx="5038344" cy="1097280"/>
          </a:xfrm>
          <a:prstGeom prst="rect">
            <a:avLst/>
          </a:prstGeom>
          <a:noFill/>
          <a:ln/>
        </p:spPr>
        <p:txBody>
          <a:bodyPr wrap="square" rtlCol="0" anchor="t"/>
          <a:lstStyle/>
          <a:p>
            <a:pPr indent="0" marL="0">
              <a:spcAft>
                <a:spcPts val="400"/>
              </a:spcAft>
              <a:buNone/>
            </a:pPr>
            <a:r>
              <a:rPr lang="en-US" sz="1700" dirty="0">
                <a:solidFill>
                  <a:srgbClr val="334155"/>
                </a:solidFill>
                <a:latin typeface="Calibri" pitchFamily="34" charset="0"/>
                <a:ea typeface="Calibri" pitchFamily="34" charset="-122"/>
                <a:cs typeface="Calibri" pitchFamily="34" charset="-120"/>
              </a:rPr>
              <a:t>Products are scattered across dozens of social media pages, each searched separately.</a:t>
            </a:r>
            <a:endParaRPr lang="en-US" sz="1700" dirty="0"/>
          </a:p>
        </p:txBody>
      </p:sp>
      <p:sp>
        <p:nvSpPr>
          <p:cNvPr id="19" name="Shape 17"/>
          <p:cNvSpPr/>
          <p:nvPr/>
        </p:nvSpPr>
        <p:spPr>
          <a:xfrm>
            <a:off x="6217920" y="3977640"/>
            <a:ext cx="5440680" cy="1920240"/>
          </a:xfrm>
          <a:prstGeom prst="rect">
            <a:avLst/>
          </a:prstGeom>
          <a:solidFill>
            <a:srgbClr val="FAF5FF"/>
          </a:solidFill>
          <a:ln w="9525">
            <a:solidFill>
              <a:srgbClr val="E2E8F0"/>
            </a:solidFill>
            <a:prstDash val="solid"/>
          </a:ln>
        </p:spPr>
      </p:sp>
      <p:sp>
        <p:nvSpPr>
          <p:cNvPr id="20" name="Shape 18"/>
          <p:cNvSpPr/>
          <p:nvPr/>
        </p:nvSpPr>
        <p:spPr>
          <a:xfrm>
            <a:off x="6217920" y="3977640"/>
            <a:ext cx="5440680" cy="73152"/>
          </a:xfrm>
          <a:prstGeom prst="rect">
            <a:avLst/>
          </a:prstGeom>
          <a:solidFill>
            <a:srgbClr val="7E22CE"/>
          </a:solidFill>
          <a:ln w="12700">
            <a:solidFill>
              <a:srgbClr val="7E22CE"/>
            </a:solidFill>
            <a:prstDash val="solid"/>
          </a:ln>
        </p:spPr>
      </p:sp>
      <p:sp>
        <p:nvSpPr>
          <p:cNvPr id="21" name="Text 19"/>
          <p:cNvSpPr/>
          <p:nvPr/>
        </p:nvSpPr>
        <p:spPr>
          <a:xfrm>
            <a:off x="6419088" y="4160520"/>
            <a:ext cx="5038344" cy="457200"/>
          </a:xfrm>
          <a:prstGeom prst="rect">
            <a:avLst/>
          </a:prstGeom>
          <a:noFill/>
          <a:ln/>
        </p:spPr>
        <p:txBody>
          <a:bodyPr wrap="square" rtlCol="0" anchor="t"/>
          <a:lstStyle/>
          <a:p>
            <a:pPr indent="0" marL="0">
              <a:buNone/>
            </a:pPr>
            <a:r>
              <a:rPr lang="en-US" sz="2000" b="1" dirty="0">
                <a:solidFill>
                  <a:srgbClr val="7E22CE"/>
                </a:solidFill>
                <a:latin typeface="Calibri" pitchFamily="34" charset="0"/>
                <a:ea typeface="Calibri" pitchFamily="34" charset="-122"/>
                <a:cs typeface="Calibri" pitchFamily="34" charset="-120"/>
              </a:rPr>
              <a:t>Is this a good price?</a:t>
            </a:r>
            <a:endParaRPr lang="en-US" sz="2000" dirty="0"/>
          </a:p>
        </p:txBody>
      </p:sp>
      <p:sp>
        <p:nvSpPr>
          <p:cNvPr id="22" name="Text 20"/>
          <p:cNvSpPr/>
          <p:nvPr/>
        </p:nvSpPr>
        <p:spPr>
          <a:xfrm>
            <a:off x="6419088" y="4636008"/>
            <a:ext cx="5038344" cy="1097280"/>
          </a:xfrm>
          <a:prstGeom prst="rect">
            <a:avLst/>
          </a:prstGeom>
          <a:noFill/>
          <a:ln/>
        </p:spPr>
        <p:txBody>
          <a:bodyPr wrap="square" rtlCol="0" anchor="t"/>
          <a:lstStyle/>
          <a:p>
            <a:pPr indent="0" marL="0">
              <a:spcAft>
                <a:spcPts val="400"/>
              </a:spcAft>
              <a:buNone/>
            </a:pPr>
            <a:r>
              <a:rPr lang="en-US" sz="1700" dirty="0">
                <a:solidFill>
                  <a:srgbClr val="334155"/>
                </a:solidFill>
                <a:latin typeface="Calibri" pitchFamily="34" charset="0"/>
                <a:ea typeface="Calibri" pitchFamily="34" charset="-122"/>
                <a:cs typeface="Calibri" pitchFamily="34" charset="-120"/>
              </a:rPr>
              <a:t>With no shared catalogue, comparing price and availability across shops means doing it yourself.</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4F46E5"/>
          </a:solidFill>
          <a:ln w="12700">
            <a:solidFill>
              <a:srgbClr val="4F46E5"/>
            </a:solidFill>
            <a:prstDash val="solid"/>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AIM AND OBJECTIVES</a:t>
            </a:r>
            <a:endParaRPr lang="en-US" sz="1200" dirty="0"/>
          </a:p>
        </p:txBody>
      </p:sp>
      <p:sp>
        <p:nvSpPr>
          <p:cNvPr id="4" name="Text 2"/>
          <p:cNvSpPr/>
          <p:nvPr/>
        </p:nvSpPr>
        <p:spPr>
          <a:xfrm>
            <a:off x="548640" y="621792"/>
            <a:ext cx="11155680" cy="73152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What we set out to build</a:t>
            </a:r>
            <a:endParaRPr lang="en-US" sz="3000" dirty="0"/>
          </a:p>
        </p:txBody>
      </p:sp>
      <p:sp>
        <p:nvSpPr>
          <p:cNvPr id="5" name="Text 3"/>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Zamglam  ·  multi-vendor e-commerce with integrated courier delivery</a:t>
            </a:r>
            <a:endParaRPr lang="en-US" sz="1000" dirty="0"/>
          </a:p>
        </p:txBody>
      </p:sp>
      <p:sp>
        <p:nvSpPr>
          <p:cNvPr id="6" name="Text 4"/>
          <p:cNvSpPr/>
          <p:nvPr/>
        </p:nvSpPr>
        <p:spPr>
          <a:xfrm>
            <a:off x="10698480" y="6400800"/>
            <a:ext cx="100584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3 / 12</a:t>
            </a:r>
            <a:endParaRPr lang="en-US" sz="1000" dirty="0"/>
          </a:p>
        </p:txBody>
      </p:sp>
      <p:sp>
        <p:nvSpPr>
          <p:cNvPr id="7" name="Text 5"/>
          <p:cNvSpPr/>
          <p:nvPr/>
        </p:nvSpPr>
        <p:spPr>
          <a:xfrm>
            <a:off x="548640" y="1463040"/>
            <a:ext cx="11064240" cy="822960"/>
          </a:xfrm>
          <a:prstGeom prst="rect">
            <a:avLst/>
          </a:prstGeom>
          <a:noFill/>
          <a:ln/>
        </p:spPr>
        <p:txBody>
          <a:bodyPr wrap="square" rtlCol="0" anchor="ctr"/>
          <a:lstStyle/>
          <a:p>
            <a:pPr indent="0" marL="0">
              <a:buNone/>
            </a:pPr>
            <a:r>
              <a:rPr lang="en-US" sz="1800" i="1" dirty="0">
                <a:solidFill>
                  <a:srgbClr val="475569"/>
                </a:solidFill>
                <a:latin typeface="Calibri" pitchFamily="34" charset="0"/>
                <a:ea typeface="Calibri" pitchFamily="34" charset="-122"/>
                <a:cs typeface="Calibri" pitchFamily="34" charset="-120"/>
              </a:rPr>
              <a:t>A localised multi-vendor e-commerce platform, with an integrated courier management system, connecting clothing and footwear retailers to customers across Zambia.</a:t>
            </a:r>
            <a:endParaRPr lang="en-US" sz="1800" dirty="0"/>
          </a:p>
        </p:txBody>
      </p:sp>
      <p:sp>
        <p:nvSpPr>
          <p:cNvPr id="8" name="Shape 6"/>
          <p:cNvSpPr/>
          <p:nvPr/>
        </p:nvSpPr>
        <p:spPr>
          <a:xfrm>
            <a:off x="548640" y="2587752"/>
            <a:ext cx="566928" cy="566928"/>
          </a:xfrm>
          <a:prstGeom prst="ellipse">
            <a:avLst/>
          </a:prstGeom>
          <a:solidFill>
            <a:srgbClr val="4F46E5"/>
          </a:solidFill>
          <a:ln w="12700">
            <a:solidFill>
              <a:srgbClr val="4F46E5"/>
            </a:solidFill>
            <a:prstDash val="solid"/>
          </a:ln>
        </p:spPr>
      </p:sp>
      <p:sp>
        <p:nvSpPr>
          <p:cNvPr id="9" name="Text 7"/>
          <p:cNvSpPr/>
          <p:nvPr/>
        </p:nvSpPr>
        <p:spPr>
          <a:xfrm>
            <a:off x="548640" y="2587752"/>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Shape 8"/>
          <p:cNvSpPr/>
          <p:nvPr/>
        </p:nvSpPr>
        <p:spPr>
          <a:xfrm>
            <a:off x="1325880" y="2514600"/>
            <a:ext cx="10287000" cy="713232"/>
          </a:xfrm>
          <a:prstGeom prst="rect">
            <a:avLst/>
          </a:prstGeom>
          <a:solidFill>
            <a:srgbClr val="F8FAFC"/>
          </a:solidFill>
          <a:ln w="9525">
            <a:solidFill>
              <a:srgbClr val="E2E8F0"/>
            </a:solidFill>
            <a:prstDash val="solid"/>
          </a:ln>
        </p:spPr>
      </p:sp>
      <p:sp>
        <p:nvSpPr>
          <p:cNvPr id="11" name="Text 9"/>
          <p:cNvSpPr/>
          <p:nvPr/>
        </p:nvSpPr>
        <p:spPr>
          <a:xfrm>
            <a:off x="1554480" y="2514600"/>
            <a:ext cx="9966960" cy="713232"/>
          </a:xfrm>
          <a:prstGeom prst="rect">
            <a:avLst/>
          </a:prstGeom>
          <a:noFill/>
          <a:ln/>
        </p:spPr>
        <p:txBody>
          <a:bodyPr wrap="square" rtlCol="0" anchor="ctr"/>
          <a:lstStyle/>
          <a:p>
            <a:pPr indent="0" marL="0">
              <a:buNone/>
            </a:pPr>
            <a:r>
              <a:rPr lang="en-US" sz="1800" dirty="0">
                <a:solidFill>
                  <a:srgbClr val="0F172A"/>
                </a:solidFill>
                <a:latin typeface="Calibri" pitchFamily="34" charset="0"/>
                <a:ea typeface="Calibri" pitchFamily="34" charset="-122"/>
                <a:cs typeface="Calibri" pitchFamily="34" charset="-120"/>
              </a:rPr>
              <a:t>Build a secure multi-vendor e-commerce system</a:t>
            </a:r>
            <a:endParaRPr lang="en-US" sz="1800" dirty="0"/>
          </a:p>
        </p:txBody>
      </p:sp>
      <p:sp>
        <p:nvSpPr>
          <p:cNvPr id="12" name="Shape 10"/>
          <p:cNvSpPr/>
          <p:nvPr/>
        </p:nvSpPr>
        <p:spPr>
          <a:xfrm>
            <a:off x="548640" y="3520440"/>
            <a:ext cx="566928" cy="566928"/>
          </a:xfrm>
          <a:prstGeom prst="ellipse">
            <a:avLst/>
          </a:prstGeom>
          <a:solidFill>
            <a:srgbClr val="4F46E5"/>
          </a:solidFill>
          <a:ln w="12700">
            <a:solidFill>
              <a:srgbClr val="4F46E5"/>
            </a:solidFill>
            <a:prstDash val="solid"/>
          </a:ln>
        </p:spPr>
      </p:sp>
      <p:sp>
        <p:nvSpPr>
          <p:cNvPr id="13" name="Text 11"/>
          <p:cNvSpPr/>
          <p:nvPr/>
        </p:nvSpPr>
        <p:spPr>
          <a:xfrm>
            <a:off x="548640" y="3520440"/>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Shape 12"/>
          <p:cNvSpPr/>
          <p:nvPr/>
        </p:nvSpPr>
        <p:spPr>
          <a:xfrm>
            <a:off x="1325880" y="3447288"/>
            <a:ext cx="10287000" cy="713232"/>
          </a:xfrm>
          <a:prstGeom prst="rect">
            <a:avLst/>
          </a:prstGeom>
          <a:solidFill>
            <a:srgbClr val="F8FAFC"/>
          </a:solidFill>
          <a:ln w="9525">
            <a:solidFill>
              <a:srgbClr val="E2E8F0"/>
            </a:solidFill>
            <a:prstDash val="solid"/>
          </a:ln>
        </p:spPr>
      </p:sp>
      <p:sp>
        <p:nvSpPr>
          <p:cNvPr id="15" name="Text 13"/>
          <p:cNvSpPr/>
          <p:nvPr/>
        </p:nvSpPr>
        <p:spPr>
          <a:xfrm>
            <a:off x="1554480" y="3447288"/>
            <a:ext cx="9966960" cy="713232"/>
          </a:xfrm>
          <a:prstGeom prst="rect">
            <a:avLst/>
          </a:prstGeom>
          <a:noFill/>
          <a:ln/>
        </p:spPr>
        <p:txBody>
          <a:bodyPr wrap="square" rtlCol="0" anchor="ctr"/>
          <a:lstStyle/>
          <a:p>
            <a:pPr indent="0" marL="0">
              <a:buNone/>
            </a:pPr>
            <a:r>
              <a:rPr lang="en-US" sz="1800" dirty="0">
                <a:solidFill>
                  <a:srgbClr val="0F172A"/>
                </a:solidFill>
                <a:latin typeface="Calibri" pitchFamily="34" charset="0"/>
                <a:ea typeface="Calibri" pitchFamily="34" charset="-122"/>
                <a:cs typeface="Calibri" pitchFamily="34" charset="-120"/>
              </a:rPr>
              <a:t>Integrate a courier management module that supports delivery scheduling and tracking</a:t>
            </a:r>
            <a:endParaRPr lang="en-US" sz="1800" dirty="0"/>
          </a:p>
        </p:txBody>
      </p:sp>
      <p:sp>
        <p:nvSpPr>
          <p:cNvPr id="16" name="Shape 14"/>
          <p:cNvSpPr/>
          <p:nvPr/>
        </p:nvSpPr>
        <p:spPr>
          <a:xfrm>
            <a:off x="548640" y="4453128"/>
            <a:ext cx="566928" cy="566928"/>
          </a:xfrm>
          <a:prstGeom prst="ellipse">
            <a:avLst/>
          </a:prstGeom>
          <a:solidFill>
            <a:srgbClr val="4F46E5"/>
          </a:solidFill>
          <a:ln w="12700">
            <a:solidFill>
              <a:srgbClr val="4F46E5"/>
            </a:solidFill>
            <a:prstDash val="solid"/>
          </a:ln>
        </p:spPr>
      </p:sp>
      <p:sp>
        <p:nvSpPr>
          <p:cNvPr id="17" name="Text 15"/>
          <p:cNvSpPr/>
          <p:nvPr/>
        </p:nvSpPr>
        <p:spPr>
          <a:xfrm>
            <a:off x="548640" y="4453128"/>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Shape 16"/>
          <p:cNvSpPr/>
          <p:nvPr/>
        </p:nvSpPr>
        <p:spPr>
          <a:xfrm>
            <a:off x="1325880" y="4379976"/>
            <a:ext cx="10287000" cy="713232"/>
          </a:xfrm>
          <a:prstGeom prst="rect">
            <a:avLst/>
          </a:prstGeom>
          <a:solidFill>
            <a:srgbClr val="F8FAFC"/>
          </a:solidFill>
          <a:ln w="9525">
            <a:solidFill>
              <a:srgbClr val="E2E8F0"/>
            </a:solidFill>
            <a:prstDash val="solid"/>
          </a:ln>
        </p:spPr>
      </p:sp>
      <p:sp>
        <p:nvSpPr>
          <p:cNvPr id="19" name="Text 17"/>
          <p:cNvSpPr/>
          <p:nvPr/>
        </p:nvSpPr>
        <p:spPr>
          <a:xfrm>
            <a:off x="1554480" y="4379976"/>
            <a:ext cx="9966960" cy="713232"/>
          </a:xfrm>
          <a:prstGeom prst="rect">
            <a:avLst/>
          </a:prstGeom>
          <a:noFill/>
          <a:ln/>
        </p:spPr>
        <p:txBody>
          <a:bodyPr wrap="square" rtlCol="0" anchor="ctr"/>
          <a:lstStyle/>
          <a:p>
            <a:pPr indent="0" marL="0">
              <a:buNone/>
            </a:pPr>
            <a:r>
              <a:rPr lang="en-US" sz="1800" dirty="0">
                <a:solidFill>
                  <a:srgbClr val="0F172A"/>
                </a:solidFill>
                <a:latin typeface="Calibri" pitchFamily="34" charset="0"/>
                <a:ea typeface="Calibri" pitchFamily="34" charset="-122"/>
                <a:cs typeface="Calibri" pitchFamily="34" charset="-120"/>
              </a:rPr>
              <a:t>Provide user-friendly interfaces for customers and store owners</a:t>
            </a:r>
            <a:endParaRPr lang="en-US" sz="1800" dirty="0"/>
          </a:p>
        </p:txBody>
      </p:sp>
      <p:sp>
        <p:nvSpPr>
          <p:cNvPr id="20" name="Shape 18"/>
          <p:cNvSpPr/>
          <p:nvPr/>
        </p:nvSpPr>
        <p:spPr>
          <a:xfrm>
            <a:off x="548640" y="5385816"/>
            <a:ext cx="566928" cy="566928"/>
          </a:xfrm>
          <a:prstGeom prst="ellipse">
            <a:avLst/>
          </a:prstGeom>
          <a:solidFill>
            <a:srgbClr val="4F46E5"/>
          </a:solidFill>
          <a:ln w="12700">
            <a:solidFill>
              <a:srgbClr val="4F46E5"/>
            </a:solidFill>
            <a:prstDash val="solid"/>
          </a:ln>
        </p:spPr>
      </p:sp>
      <p:sp>
        <p:nvSpPr>
          <p:cNvPr id="21" name="Text 19"/>
          <p:cNvSpPr/>
          <p:nvPr/>
        </p:nvSpPr>
        <p:spPr>
          <a:xfrm>
            <a:off x="548640" y="5385816"/>
            <a:ext cx="566928" cy="566928"/>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Shape 20"/>
          <p:cNvSpPr/>
          <p:nvPr/>
        </p:nvSpPr>
        <p:spPr>
          <a:xfrm>
            <a:off x="1325880" y="5312664"/>
            <a:ext cx="10287000" cy="713232"/>
          </a:xfrm>
          <a:prstGeom prst="rect">
            <a:avLst/>
          </a:prstGeom>
          <a:solidFill>
            <a:srgbClr val="F8FAFC"/>
          </a:solidFill>
          <a:ln w="9525">
            <a:solidFill>
              <a:srgbClr val="E2E8F0"/>
            </a:solidFill>
            <a:prstDash val="solid"/>
          </a:ln>
        </p:spPr>
      </p:sp>
      <p:sp>
        <p:nvSpPr>
          <p:cNvPr id="23" name="Text 21"/>
          <p:cNvSpPr/>
          <p:nvPr/>
        </p:nvSpPr>
        <p:spPr>
          <a:xfrm>
            <a:off x="1554480" y="5312664"/>
            <a:ext cx="9966960" cy="713232"/>
          </a:xfrm>
          <a:prstGeom prst="rect">
            <a:avLst/>
          </a:prstGeom>
          <a:noFill/>
          <a:ln/>
        </p:spPr>
        <p:txBody>
          <a:bodyPr wrap="square" rtlCol="0" anchor="ctr"/>
          <a:lstStyle/>
          <a:p>
            <a:pPr indent="0" marL="0">
              <a:buNone/>
            </a:pPr>
            <a:r>
              <a:rPr lang="en-US" sz="1800" dirty="0">
                <a:solidFill>
                  <a:srgbClr val="0F172A"/>
                </a:solidFill>
                <a:latin typeface="Calibri" pitchFamily="34" charset="0"/>
                <a:ea typeface="Calibri" pitchFamily="34" charset="-122"/>
                <a:cs typeface="Calibri" pitchFamily="34" charset="-120"/>
              </a:rPr>
              <a:t>Implement secure authentication and data protection for customer and vendor information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4F46E5"/>
          </a:solidFill>
          <a:ln w="12700">
            <a:solidFill>
              <a:srgbClr val="4F46E5"/>
            </a:solidFill>
            <a:prstDash val="solid"/>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WHAT WE BUILT</a:t>
            </a:r>
            <a:endParaRPr lang="en-US" sz="1200" dirty="0"/>
          </a:p>
        </p:txBody>
      </p:sp>
      <p:sp>
        <p:nvSpPr>
          <p:cNvPr id="4" name="Text 2"/>
          <p:cNvSpPr/>
          <p:nvPr/>
        </p:nvSpPr>
        <p:spPr>
          <a:xfrm>
            <a:off x="548640" y="621792"/>
            <a:ext cx="11155680" cy="73152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Four kinds of user, each with their own dashboard</a:t>
            </a:r>
            <a:endParaRPr lang="en-US" sz="3000" dirty="0"/>
          </a:p>
        </p:txBody>
      </p:sp>
      <p:sp>
        <p:nvSpPr>
          <p:cNvPr id="5" name="Text 3"/>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Zamglam  ·  multi-vendor e-commerce with integrated courier delivery</a:t>
            </a:r>
            <a:endParaRPr lang="en-US" sz="1000" dirty="0"/>
          </a:p>
        </p:txBody>
      </p:sp>
      <p:sp>
        <p:nvSpPr>
          <p:cNvPr id="6" name="Text 4"/>
          <p:cNvSpPr/>
          <p:nvPr/>
        </p:nvSpPr>
        <p:spPr>
          <a:xfrm>
            <a:off x="10698480" y="6400800"/>
            <a:ext cx="100584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4 / 12</a:t>
            </a:r>
            <a:endParaRPr lang="en-US" sz="1000" dirty="0"/>
          </a:p>
        </p:txBody>
      </p:sp>
      <p:sp>
        <p:nvSpPr>
          <p:cNvPr id="7" name="Shape 5"/>
          <p:cNvSpPr/>
          <p:nvPr/>
        </p:nvSpPr>
        <p:spPr>
          <a:xfrm>
            <a:off x="548640" y="1554480"/>
            <a:ext cx="2651760" cy="4297680"/>
          </a:xfrm>
          <a:prstGeom prst="rect">
            <a:avLst/>
          </a:prstGeom>
          <a:solidFill>
            <a:srgbClr val="EEF2FF"/>
          </a:solidFill>
          <a:ln w="9525">
            <a:solidFill>
              <a:srgbClr val="E2E8F0"/>
            </a:solidFill>
            <a:prstDash val="solid"/>
          </a:ln>
        </p:spPr>
      </p:sp>
      <p:sp>
        <p:nvSpPr>
          <p:cNvPr id="8" name="Shape 6"/>
          <p:cNvSpPr/>
          <p:nvPr/>
        </p:nvSpPr>
        <p:spPr>
          <a:xfrm>
            <a:off x="548640" y="1554480"/>
            <a:ext cx="2651760" cy="640080"/>
          </a:xfrm>
          <a:prstGeom prst="rect">
            <a:avLst/>
          </a:prstGeom>
          <a:solidFill>
            <a:srgbClr val="4F46E5"/>
          </a:solidFill>
          <a:ln w="12700">
            <a:solidFill>
              <a:srgbClr val="4F46E5"/>
            </a:solidFill>
            <a:prstDash val="solid"/>
          </a:ln>
        </p:spPr>
      </p:sp>
      <p:sp>
        <p:nvSpPr>
          <p:cNvPr id="9" name="Text 7"/>
          <p:cNvSpPr/>
          <p:nvPr/>
        </p:nvSpPr>
        <p:spPr>
          <a:xfrm>
            <a:off x="548640" y="1554480"/>
            <a:ext cx="2651760" cy="640080"/>
          </a:xfrm>
          <a:prstGeom prst="rect">
            <a:avLst/>
          </a:prstGeom>
          <a:noFill/>
          <a:ln/>
        </p:spPr>
        <p:txBody>
          <a:bodyPr wrap="square"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Customer</a:t>
            </a:r>
            <a:endParaRPr lang="en-US" sz="1900" dirty="0"/>
          </a:p>
        </p:txBody>
      </p:sp>
      <p:sp>
        <p:nvSpPr>
          <p:cNvPr id="10" name="Text 8"/>
          <p:cNvSpPr/>
          <p:nvPr/>
        </p:nvSpPr>
        <p:spPr>
          <a:xfrm>
            <a:off x="685800" y="2377440"/>
            <a:ext cx="2423160" cy="3383280"/>
          </a:xfrm>
          <a:prstGeom prst="rect">
            <a:avLst/>
          </a:prstGeom>
          <a:noFill/>
          <a:ln/>
        </p:spPr>
        <p:txBody>
          <a:bodyPr wrap="square" rtlCol="0" anchor="t"/>
          <a:lstStyle/>
          <a:p>
            <a:pPr marL="203200" indent="-203200">
              <a:spcAft>
                <a:spcPts val="900"/>
              </a:spcAft>
              <a:buSzPct val="100000"/>
              <a:buChar char="•"/>
            </a:pPr>
            <a:r>
              <a:rPr lang="en-US" sz="1600" dirty="0">
                <a:solidFill>
                  <a:srgbClr val="334155"/>
                </a:solidFill>
                <a:latin typeface="Calibri" pitchFamily="34" charset="0"/>
                <a:ea typeface="Calibri" pitchFamily="34" charset="-122"/>
                <a:cs typeface="Calibri" pitchFamily="34" charset="-120"/>
              </a:rPr>
              <a:t>Browse one catalogue across every shop</a:t>
            </a:r>
            <a:endParaRPr lang="en-US" sz="1600" dirty="0"/>
          </a:p>
          <a:p>
            <a:pPr marL="203200" indent="-203200">
              <a:spcAft>
                <a:spcPts val="900"/>
              </a:spcAft>
              <a:buSzPct val="100000"/>
              <a:buChar char="•"/>
            </a:pPr>
            <a:r>
              <a:rPr lang="en-US" sz="1600" dirty="0">
                <a:solidFill>
                  <a:srgbClr val="334155"/>
                </a:solidFill>
                <a:latin typeface="Calibri" pitchFamily="34" charset="0"/>
                <a:ea typeface="Calibri" pitchFamily="34" charset="-122"/>
                <a:cs typeface="Calibri" pitchFamily="34" charset="-120"/>
              </a:rPr>
              <a:t>Fill one basket from several shops</a:t>
            </a:r>
            <a:endParaRPr lang="en-US" sz="1600" dirty="0"/>
          </a:p>
          <a:p>
            <a:pPr marL="203200" indent="-203200">
              <a:spcAft>
                <a:spcPts val="900"/>
              </a:spcAft>
              <a:buSzPct val="100000"/>
              <a:buChar char="•"/>
            </a:pPr>
            <a:r>
              <a:rPr lang="en-US" sz="1600" dirty="0">
                <a:solidFill>
                  <a:srgbClr val="334155"/>
                </a:solidFill>
                <a:latin typeface="Calibri" pitchFamily="34" charset="0"/>
                <a:ea typeface="Calibri" pitchFamily="34" charset="-122"/>
                <a:cs typeface="Calibri" pitchFamily="34" charset="-120"/>
              </a:rPr>
              <a:t>Track each parcel separately</a:t>
            </a:r>
            <a:endParaRPr lang="en-US" sz="1600" dirty="0"/>
          </a:p>
          <a:p>
            <a:pPr marL="203200" indent="-203200">
              <a:spcAft>
                <a:spcPts val="900"/>
              </a:spcAft>
              <a:buSzPct val="100000"/>
              <a:buChar char="•"/>
            </a:pPr>
            <a:r>
              <a:rPr lang="en-US" sz="1600" dirty="0">
                <a:solidFill>
                  <a:srgbClr val="334155"/>
                </a:solidFill>
                <a:latin typeface="Calibri" pitchFamily="34" charset="0"/>
                <a:ea typeface="Calibri" pitchFamily="34" charset="-122"/>
                <a:cs typeface="Calibri" pitchFamily="34" charset="-120"/>
              </a:rPr>
              <a:t>Rate a shop after delivery</a:t>
            </a:r>
            <a:endParaRPr lang="en-US" sz="1600" dirty="0"/>
          </a:p>
          <a:p>
            <a:pPr marL="203200" indent="-203200">
              <a:spcAft>
                <a:spcPts val="900"/>
              </a:spcAft>
              <a:buSzPct val="100000"/>
              <a:buChar char="•"/>
            </a:pPr>
            <a:r>
              <a:rPr lang="en-US" sz="1600" dirty="0">
                <a:solidFill>
                  <a:srgbClr val="334155"/>
                </a:solidFill>
                <a:latin typeface="Calibri" pitchFamily="34" charset="0"/>
                <a:ea typeface="Calibri" pitchFamily="34" charset="-122"/>
                <a:cs typeface="Calibri" pitchFamily="34" charset="-120"/>
              </a:rPr>
              <a:t>Report a problem on an order</a:t>
            </a:r>
            <a:endParaRPr lang="en-US" sz="1600" dirty="0"/>
          </a:p>
        </p:txBody>
      </p:sp>
      <p:sp>
        <p:nvSpPr>
          <p:cNvPr id="11" name="Shape 9"/>
          <p:cNvSpPr/>
          <p:nvPr/>
        </p:nvSpPr>
        <p:spPr>
          <a:xfrm>
            <a:off x="3364992" y="1554480"/>
            <a:ext cx="2651760" cy="4297680"/>
          </a:xfrm>
          <a:prstGeom prst="rect">
            <a:avLst/>
          </a:prstGeom>
          <a:solidFill>
            <a:srgbClr val="FAF5FF"/>
          </a:solidFill>
          <a:ln w="9525">
            <a:solidFill>
              <a:srgbClr val="E2E8F0"/>
            </a:solidFill>
            <a:prstDash val="solid"/>
          </a:ln>
        </p:spPr>
      </p:sp>
      <p:sp>
        <p:nvSpPr>
          <p:cNvPr id="12" name="Shape 10"/>
          <p:cNvSpPr/>
          <p:nvPr/>
        </p:nvSpPr>
        <p:spPr>
          <a:xfrm>
            <a:off x="3364992" y="1554480"/>
            <a:ext cx="2651760" cy="640080"/>
          </a:xfrm>
          <a:prstGeom prst="rect">
            <a:avLst/>
          </a:prstGeom>
          <a:solidFill>
            <a:srgbClr val="7E22CE"/>
          </a:solidFill>
          <a:ln w="12700">
            <a:solidFill>
              <a:srgbClr val="7E22CE"/>
            </a:solidFill>
            <a:prstDash val="solid"/>
          </a:ln>
        </p:spPr>
      </p:sp>
      <p:sp>
        <p:nvSpPr>
          <p:cNvPr id="13" name="Text 11"/>
          <p:cNvSpPr/>
          <p:nvPr/>
        </p:nvSpPr>
        <p:spPr>
          <a:xfrm>
            <a:off x="3364992" y="1554480"/>
            <a:ext cx="2651760" cy="640080"/>
          </a:xfrm>
          <a:prstGeom prst="rect">
            <a:avLst/>
          </a:prstGeom>
          <a:noFill/>
          <a:ln/>
        </p:spPr>
        <p:txBody>
          <a:bodyPr wrap="square"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Shop</a:t>
            </a:r>
            <a:endParaRPr lang="en-US" sz="1900" dirty="0"/>
          </a:p>
        </p:txBody>
      </p:sp>
      <p:sp>
        <p:nvSpPr>
          <p:cNvPr id="14" name="Text 12"/>
          <p:cNvSpPr/>
          <p:nvPr/>
        </p:nvSpPr>
        <p:spPr>
          <a:xfrm>
            <a:off x="3502152" y="2377440"/>
            <a:ext cx="2423160" cy="3383280"/>
          </a:xfrm>
          <a:prstGeom prst="rect">
            <a:avLst/>
          </a:prstGeom>
          <a:noFill/>
          <a:ln/>
        </p:spPr>
        <p:txBody>
          <a:bodyPr wrap="square" rtlCol="0" anchor="t"/>
          <a:lstStyle/>
          <a:p>
            <a:pPr marL="203200" indent="-203200">
              <a:spcAft>
                <a:spcPts val="900"/>
              </a:spcAft>
              <a:buSzPct val="100000"/>
              <a:buChar char="•"/>
            </a:pPr>
            <a:r>
              <a:rPr lang="en-US" sz="1600" dirty="0">
                <a:solidFill>
                  <a:srgbClr val="334155"/>
                </a:solidFill>
                <a:latin typeface="Calibri" pitchFamily="34" charset="0"/>
                <a:ea typeface="Calibri" pitchFamily="34" charset="-122"/>
                <a:cs typeface="Calibri" pitchFamily="34" charset="-120"/>
              </a:rPr>
              <a:t>List products with photos</a:t>
            </a:r>
            <a:endParaRPr lang="en-US" sz="1600" dirty="0"/>
          </a:p>
          <a:p>
            <a:pPr marL="203200" indent="-203200">
              <a:spcAft>
                <a:spcPts val="900"/>
              </a:spcAft>
              <a:buSzPct val="100000"/>
              <a:buChar char="•"/>
            </a:pPr>
            <a:r>
              <a:rPr lang="en-US" sz="1600" dirty="0">
                <a:solidFill>
                  <a:srgbClr val="334155"/>
                </a:solidFill>
                <a:latin typeface="Calibri" pitchFamily="34" charset="0"/>
                <a:ea typeface="Calibri" pitchFamily="34" charset="-122"/>
                <a:cs typeface="Calibri" pitchFamily="34" charset="-120"/>
              </a:rPr>
              <a:t>Upload registration documents</a:t>
            </a:r>
            <a:endParaRPr lang="en-US" sz="1600" dirty="0"/>
          </a:p>
          <a:p>
            <a:pPr marL="203200" indent="-203200">
              <a:spcAft>
                <a:spcPts val="900"/>
              </a:spcAft>
              <a:buSzPct val="100000"/>
              <a:buChar char="•"/>
            </a:pPr>
            <a:r>
              <a:rPr lang="en-US" sz="1600" dirty="0">
                <a:solidFill>
                  <a:srgbClr val="334155"/>
                </a:solidFill>
                <a:latin typeface="Calibri" pitchFamily="34" charset="0"/>
                <a:ea typeface="Calibri" pitchFamily="34" charset="-122"/>
                <a:cs typeface="Calibri" pitchFamily="34" charset="-120"/>
              </a:rPr>
              <a:t>Pack and release parcels</a:t>
            </a:r>
            <a:endParaRPr lang="en-US" sz="1600" dirty="0"/>
          </a:p>
          <a:p>
            <a:pPr marL="203200" indent="-203200">
              <a:spcAft>
                <a:spcPts val="900"/>
              </a:spcAft>
              <a:buSzPct val="100000"/>
              <a:buChar char="•"/>
            </a:pPr>
            <a:r>
              <a:rPr lang="en-US" sz="1600" dirty="0">
                <a:solidFill>
                  <a:srgbClr val="334155"/>
                </a:solidFill>
                <a:latin typeface="Calibri" pitchFamily="34" charset="0"/>
                <a:ea typeface="Calibri" pitchFamily="34" charset="-122"/>
                <a:cs typeface="Calibri" pitchFamily="34" charset="-120"/>
              </a:rPr>
              <a:t>Confirm or deny each courier handover</a:t>
            </a:r>
            <a:endParaRPr lang="en-US" sz="1600" dirty="0"/>
          </a:p>
          <a:p>
            <a:pPr marL="203200" indent="-203200">
              <a:spcAft>
                <a:spcPts val="900"/>
              </a:spcAft>
              <a:buSzPct val="100000"/>
              <a:buChar char="•"/>
            </a:pPr>
            <a:r>
              <a:rPr lang="en-US" sz="1600" dirty="0">
                <a:solidFill>
                  <a:srgbClr val="334155"/>
                </a:solidFill>
                <a:latin typeface="Calibri" pitchFamily="34" charset="0"/>
                <a:ea typeface="Calibri" pitchFamily="34" charset="-122"/>
                <a:cs typeface="Calibri" pitchFamily="34" charset="-120"/>
              </a:rPr>
              <a:t>Reply to ratings</a:t>
            </a:r>
            <a:endParaRPr lang="en-US" sz="1600" dirty="0"/>
          </a:p>
        </p:txBody>
      </p:sp>
      <p:sp>
        <p:nvSpPr>
          <p:cNvPr id="15" name="Shape 13"/>
          <p:cNvSpPr/>
          <p:nvPr/>
        </p:nvSpPr>
        <p:spPr>
          <a:xfrm>
            <a:off x="6181344" y="1554480"/>
            <a:ext cx="2651760" cy="4297680"/>
          </a:xfrm>
          <a:prstGeom prst="rect">
            <a:avLst/>
          </a:prstGeom>
          <a:solidFill>
            <a:srgbClr val="ECFDF5"/>
          </a:solidFill>
          <a:ln w="9525">
            <a:solidFill>
              <a:srgbClr val="E2E8F0"/>
            </a:solidFill>
            <a:prstDash val="solid"/>
          </a:ln>
        </p:spPr>
      </p:sp>
      <p:sp>
        <p:nvSpPr>
          <p:cNvPr id="16" name="Shape 14"/>
          <p:cNvSpPr/>
          <p:nvPr/>
        </p:nvSpPr>
        <p:spPr>
          <a:xfrm>
            <a:off x="6181344" y="1554480"/>
            <a:ext cx="2651760" cy="640080"/>
          </a:xfrm>
          <a:prstGeom prst="rect">
            <a:avLst/>
          </a:prstGeom>
          <a:solidFill>
            <a:srgbClr val="047857"/>
          </a:solidFill>
          <a:ln w="12700">
            <a:solidFill>
              <a:srgbClr val="047857"/>
            </a:solidFill>
            <a:prstDash val="solid"/>
          </a:ln>
        </p:spPr>
      </p:sp>
      <p:sp>
        <p:nvSpPr>
          <p:cNvPr id="17" name="Text 15"/>
          <p:cNvSpPr/>
          <p:nvPr/>
        </p:nvSpPr>
        <p:spPr>
          <a:xfrm>
            <a:off x="6181344" y="1554480"/>
            <a:ext cx="2651760" cy="640080"/>
          </a:xfrm>
          <a:prstGeom prst="rect">
            <a:avLst/>
          </a:prstGeom>
          <a:noFill/>
          <a:ln/>
        </p:spPr>
        <p:txBody>
          <a:bodyPr wrap="square"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Courier</a:t>
            </a:r>
            <a:endParaRPr lang="en-US" sz="1900" dirty="0"/>
          </a:p>
        </p:txBody>
      </p:sp>
      <p:sp>
        <p:nvSpPr>
          <p:cNvPr id="18" name="Text 16"/>
          <p:cNvSpPr/>
          <p:nvPr/>
        </p:nvSpPr>
        <p:spPr>
          <a:xfrm>
            <a:off x="6318504" y="2377440"/>
            <a:ext cx="2423160" cy="3383280"/>
          </a:xfrm>
          <a:prstGeom prst="rect">
            <a:avLst/>
          </a:prstGeom>
          <a:noFill/>
          <a:ln/>
        </p:spPr>
        <p:txBody>
          <a:bodyPr wrap="square" rtlCol="0" anchor="t"/>
          <a:lstStyle/>
          <a:p>
            <a:pPr marL="203200" indent="-203200">
              <a:spcAft>
                <a:spcPts val="900"/>
              </a:spcAft>
              <a:buSzPct val="100000"/>
              <a:buChar char="•"/>
            </a:pPr>
            <a:r>
              <a:rPr lang="en-US" sz="1600" dirty="0">
                <a:solidFill>
                  <a:srgbClr val="334155"/>
                </a:solidFill>
                <a:latin typeface="Calibri" pitchFamily="34" charset="0"/>
                <a:ea typeface="Calibri" pitchFamily="34" charset="-122"/>
                <a:cs typeface="Calibri" pitchFamily="34" charset="-120"/>
              </a:rPr>
              <a:t>Go on and off duty</a:t>
            </a:r>
            <a:endParaRPr lang="en-US" sz="1600" dirty="0"/>
          </a:p>
          <a:p>
            <a:pPr marL="203200" indent="-203200">
              <a:spcAft>
                <a:spcPts val="900"/>
              </a:spcAft>
              <a:buSzPct val="100000"/>
              <a:buChar char="•"/>
            </a:pPr>
            <a:r>
              <a:rPr lang="en-US" sz="1600" dirty="0">
                <a:solidFill>
                  <a:srgbClr val="334155"/>
                </a:solidFill>
                <a:latin typeface="Calibri" pitchFamily="34" charset="0"/>
                <a:ea typeface="Calibri" pitchFamily="34" charset="-122"/>
                <a:cs typeface="Calibri" pitchFamily="34" charset="-120"/>
              </a:rPr>
              <a:t>See parcels waiting to be collected</a:t>
            </a:r>
            <a:endParaRPr lang="en-US" sz="1600" dirty="0"/>
          </a:p>
          <a:p>
            <a:pPr marL="203200" indent="-203200">
              <a:spcAft>
                <a:spcPts val="900"/>
              </a:spcAft>
              <a:buSzPct val="100000"/>
              <a:buChar char="•"/>
            </a:pPr>
            <a:r>
              <a:rPr lang="en-US" sz="1600" dirty="0">
                <a:solidFill>
                  <a:srgbClr val="334155"/>
                </a:solidFill>
                <a:latin typeface="Calibri" pitchFamily="34" charset="0"/>
                <a:ea typeface="Calibri" pitchFamily="34" charset="-122"/>
                <a:cs typeface="Calibri" pitchFamily="34" charset="-120"/>
              </a:rPr>
              <a:t>Claim a parcel from the pool</a:t>
            </a:r>
            <a:endParaRPr lang="en-US" sz="1600" dirty="0"/>
          </a:p>
          <a:p>
            <a:pPr marL="203200" indent="-203200">
              <a:spcAft>
                <a:spcPts val="900"/>
              </a:spcAft>
              <a:buSzPct val="100000"/>
              <a:buChar char="•"/>
            </a:pPr>
            <a:r>
              <a:rPr lang="en-US" sz="1600" dirty="0">
                <a:solidFill>
                  <a:srgbClr val="334155"/>
                </a:solidFill>
                <a:latin typeface="Calibri" pitchFamily="34" charset="0"/>
                <a:ea typeface="Calibri" pitchFamily="34" charset="-122"/>
                <a:cs typeface="Calibri" pitchFamily="34" charset="-120"/>
              </a:rPr>
              <a:t>Mark it delivered</a:t>
            </a:r>
            <a:endParaRPr lang="en-US" sz="1600" dirty="0"/>
          </a:p>
          <a:p>
            <a:pPr marL="203200" indent="-203200">
              <a:spcAft>
                <a:spcPts val="900"/>
              </a:spcAft>
              <a:buSzPct val="100000"/>
              <a:buChar char="•"/>
            </a:pPr>
            <a:r>
              <a:rPr lang="en-US" sz="1600" dirty="0">
                <a:solidFill>
                  <a:srgbClr val="334155"/>
                </a:solidFill>
                <a:latin typeface="Calibri" pitchFamily="34" charset="0"/>
                <a:ea typeface="Calibri" pitchFamily="34" charset="-122"/>
                <a:cs typeface="Calibri" pitchFamily="34" charset="-120"/>
              </a:rPr>
              <a:t>Report a problem on an order</a:t>
            </a:r>
            <a:endParaRPr lang="en-US" sz="1600" dirty="0"/>
          </a:p>
        </p:txBody>
      </p:sp>
      <p:sp>
        <p:nvSpPr>
          <p:cNvPr id="19" name="Shape 17"/>
          <p:cNvSpPr/>
          <p:nvPr/>
        </p:nvSpPr>
        <p:spPr>
          <a:xfrm>
            <a:off x="8997696" y="1554480"/>
            <a:ext cx="2651760" cy="4297680"/>
          </a:xfrm>
          <a:prstGeom prst="rect">
            <a:avLst/>
          </a:prstGeom>
          <a:solidFill>
            <a:srgbClr val="F1F5F9"/>
          </a:solidFill>
          <a:ln w="9525">
            <a:solidFill>
              <a:srgbClr val="E2E8F0"/>
            </a:solidFill>
            <a:prstDash val="solid"/>
          </a:ln>
        </p:spPr>
      </p:sp>
      <p:sp>
        <p:nvSpPr>
          <p:cNvPr id="20" name="Shape 18"/>
          <p:cNvSpPr/>
          <p:nvPr/>
        </p:nvSpPr>
        <p:spPr>
          <a:xfrm>
            <a:off x="8997696" y="1554480"/>
            <a:ext cx="2651760" cy="640080"/>
          </a:xfrm>
          <a:prstGeom prst="rect">
            <a:avLst/>
          </a:prstGeom>
          <a:solidFill>
            <a:srgbClr val="0F172A"/>
          </a:solidFill>
          <a:ln w="12700">
            <a:solidFill>
              <a:srgbClr val="0F172A"/>
            </a:solidFill>
            <a:prstDash val="solid"/>
          </a:ln>
        </p:spPr>
      </p:sp>
      <p:sp>
        <p:nvSpPr>
          <p:cNvPr id="21" name="Text 19"/>
          <p:cNvSpPr/>
          <p:nvPr/>
        </p:nvSpPr>
        <p:spPr>
          <a:xfrm>
            <a:off x="8997696" y="1554480"/>
            <a:ext cx="2651760" cy="640080"/>
          </a:xfrm>
          <a:prstGeom prst="rect">
            <a:avLst/>
          </a:prstGeom>
          <a:noFill/>
          <a:ln/>
        </p:spPr>
        <p:txBody>
          <a:bodyPr wrap="square"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Administrator</a:t>
            </a:r>
            <a:endParaRPr lang="en-US" sz="1900" dirty="0"/>
          </a:p>
        </p:txBody>
      </p:sp>
      <p:sp>
        <p:nvSpPr>
          <p:cNvPr id="22" name="Text 20"/>
          <p:cNvSpPr/>
          <p:nvPr/>
        </p:nvSpPr>
        <p:spPr>
          <a:xfrm>
            <a:off x="9134856" y="2377440"/>
            <a:ext cx="2423160" cy="3383280"/>
          </a:xfrm>
          <a:prstGeom prst="rect">
            <a:avLst/>
          </a:prstGeom>
          <a:noFill/>
          <a:ln/>
        </p:spPr>
        <p:txBody>
          <a:bodyPr wrap="square" rtlCol="0" anchor="t"/>
          <a:lstStyle/>
          <a:p>
            <a:pPr marL="203200" indent="-203200">
              <a:spcAft>
                <a:spcPts val="900"/>
              </a:spcAft>
              <a:buSzPct val="100000"/>
              <a:buChar char="•"/>
            </a:pPr>
            <a:r>
              <a:rPr lang="en-US" sz="1600" dirty="0">
                <a:solidFill>
                  <a:srgbClr val="334155"/>
                </a:solidFill>
                <a:latin typeface="Calibri" pitchFamily="34" charset="0"/>
                <a:ea typeface="Calibri" pitchFamily="34" charset="-122"/>
                <a:cs typeface="Calibri" pitchFamily="34" charset="-120"/>
              </a:rPr>
              <a:t>Verify shops</a:t>
            </a:r>
            <a:endParaRPr lang="en-US" sz="1600" dirty="0"/>
          </a:p>
          <a:p>
            <a:pPr marL="203200" indent="-203200">
              <a:spcAft>
                <a:spcPts val="900"/>
              </a:spcAft>
              <a:buSzPct val="100000"/>
              <a:buChar char="•"/>
            </a:pPr>
            <a:r>
              <a:rPr lang="en-US" sz="1600" dirty="0">
                <a:solidFill>
                  <a:srgbClr val="334155"/>
                </a:solidFill>
                <a:latin typeface="Calibri" pitchFamily="34" charset="0"/>
                <a:ea typeface="Calibri" pitchFamily="34" charset="-122"/>
                <a:cs typeface="Calibri" pitchFamily="34" charset="-120"/>
              </a:rPr>
              <a:t>Approve new couriers</a:t>
            </a:r>
            <a:endParaRPr lang="en-US" sz="1600" dirty="0"/>
          </a:p>
          <a:p>
            <a:pPr marL="203200" indent="-203200">
              <a:spcAft>
                <a:spcPts val="900"/>
              </a:spcAft>
              <a:buSzPct val="100000"/>
              <a:buChar char="•"/>
            </a:pPr>
            <a:r>
              <a:rPr lang="en-US" sz="1600" dirty="0">
                <a:solidFill>
                  <a:srgbClr val="334155"/>
                </a:solidFill>
                <a:latin typeface="Calibri" pitchFamily="34" charset="0"/>
                <a:ea typeface="Calibri" pitchFamily="34" charset="-122"/>
                <a:cs typeface="Calibri" pitchFamily="34" charset="-120"/>
              </a:rPr>
              <a:t>Review complaints</a:t>
            </a:r>
            <a:endParaRPr lang="en-US" sz="1600" dirty="0"/>
          </a:p>
          <a:p>
            <a:pPr marL="203200" indent="-203200">
              <a:spcAft>
                <a:spcPts val="900"/>
              </a:spcAft>
              <a:buSzPct val="100000"/>
              <a:buChar char="•"/>
            </a:pPr>
            <a:r>
              <a:rPr lang="en-US" sz="1600" dirty="0">
                <a:solidFill>
                  <a:srgbClr val="334155"/>
                </a:solidFill>
                <a:latin typeface="Calibri" pitchFamily="34" charset="0"/>
                <a:ea typeface="Calibri" pitchFamily="34" charset="-122"/>
                <a:cs typeface="Calibri" pitchFamily="34" charset="-120"/>
              </a:rPr>
              <a:t>Suspend or reinstate accounts</a:t>
            </a:r>
            <a:endParaRPr lang="en-US" sz="1600" dirty="0"/>
          </a:p>
          <a:p>
            <a:pPr marL="203200" indent="-203200">
              <a:spcAft>
                <a:spcPts val="900"/>
              </a:spcAft>
              <a:buSzPct val="100000"/>
              <a:buChar char="•"/>
            </a:pPr>
            <a:r>
              <a:rPr lang="en-US" sz="1600" dirty="0">
                <a:solidFill>
                  <a:srgbClr val="334155"/>
                </a:solidFill>
                <a:latin typeface="Calibri" pitchFamily="34" charset="0"/>
                <a:ea typeface="Calibri" pitchFamily="34" charset="-122"/>
                <a:cs typeface="Calibri" pitchFamily="34" charset="-120"/>
              </a:rPr>
              <a:t>Delete and restore accounts</a:t>
            </a:r>
            <a:endParaRPr lang="en-US" sz="1600" dirty="0"/>
          </a:p>
        </p:txBody>
      </p:sp>
      <p:sp>
        <p:nvSpPr>
          <p:cNvPr id="23" name="Text 21"/>
          <p:cNvSpPr/>
          <p:nvPr/>
        </p:nvSpPr>
        <p:spPr>
          <a:xfrm>
            <a:off x="548640" y="5943600"/>
            <a:ext cx="11064240" cy="36576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The proposal asked for interfaces for customers and store owners. Delivery and trust needed two more.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4F46E5"/>
          </a:solidFill>
          <a:ln w="12700">
            <a:solidFill>
              <a:srgbClr val="4F46E5"/>
            </a:solidFill>
            <a:prstDash val="solid"/>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ARCHITECTURE</a:t>
            </a:r>
            <a:endParaRPr lang="en-US" sz="1200" dirty="0"/>
          </a:p>
        </p:txBody>
      </p:sp>
      <p:sp>
        <p:nvSpPr>
          <p:cNvPr id="4" name="Text 2"/>
          <p:cNvSpPr/>
          <p:nvPr/>
        </p:nvSpPr>
        <p:spPr>
          <a:xfrm>
            <a:off x="548640" y="621792"/>
            <a:ext cx="11155680" cy="73152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A layered design, as the proposal described</a:t>
            </a:r>
            <a:endParaRPr lang="en-US" sz="3000" dirty="0"/>
          </a:p>
        </p:txBody>
      </p:sp>
      <p:sp>
        <p:nvSpPr>
          <p:cNvPr id="5" name="Text 3"/>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Zamglam  ·  multi-vendor e-commerce with integrated courier delivery</a:t>
            </a:r>
            <a:endParaRPr lang="en-US" sz="1000" dirty="0"/>
          </a:p>
        </p:txBody>
      </p:sp>
      <p:sp>
        <p:nvSpPr>
          <p:cNvPr id="6" name="Text 4"/>
          <p:cNvSpPr/>
          <p:nvPr/>
        </p:nvSpPr>
        <p:spPr>
          <a:xfrm>
            <a:off x="10698480" y="6400800"/>
            <a:ext cx="100584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5 / 12</a:t>
            </a:r>
            <a:endParaRPr lang="en-US" sz="1000" dirty="0"/>
          </a:p>
        </p:txBody>
      </p:sp>
      <p:sp>
        <p:nvSpPr>
          <p:cNvPr id="7" name="Shape 5"/>
          <p:cNvSpPr/>
          <p:nvPr/>
        </p:nvSpPr>
        <p:spPr>
          <a:xfrm>
            <a:off x="548640" y="1463040"/>
            <a:ext cx="11064240" cy="960120"/>
          </a:xfrm>
          <a:prstGeom prst="rect">
            <a:avLst/>
          </a:prstGeom>
          <a:solidFill>
            <a:srgbClr val="F8FAFC"/>
          </a:solidFill>
          <a:ln w="9525">
            <a:solidFill>
              <a:srgbClr val="E2E8F0"/>
            </a:solidFill>
            <a:prstDash val="solid"/>
          </a:ln>
        </p:spPr>
      </p:sp>
      <p:sp>
        <p:nvSpPr>
          <p:cNvPr id="8" name="Text 6"/>
          <p:cNvSpPr/>
          <p:nvPr/>
        </p:nvSpPr>
        <p:spPr>
          <a:xfrm>
            <a:off x="685800" y="1508760"/>
            <a:ext cx="5486400" cy="320040"/>
          </a:xfrm>
          <a:prstGeom prst="rect">
            <a:avLst/>
          </a:prstGeom>
          <a:noFill/>
          <a:ln/>
        </p:spPr>
        <p:txBody>
          <a:bodyPr wrap="square" rtlCol="0" anchor="ctr"/>
          <a:lstStyle/>
          <a:p>
            <a:pPr indent="0" marL="0">
              <a:buNone/>
            </a:pPr>
            <a:r>
              <a:rPr lang="en-US" sz="1200" b="1" dirty="0">
                <a:solidFill>
                  <a:srgbClr val="475569"/>
                </a:solidFill>
                <a:latin typeface="Calibri" pitchFamily="34" charset="0"/>
                <a:ea typeface="Calibri" pitchFamily="34" charset="-122"/>
                <a:cs typeface="Calibri" pitchFamily="34" charset="-120"/>
              </a:rPr>
              <a:t>USER INTERFACE  —  React, Vite, Tailwind CSS</a:t>
            </a:r>
            <a:endParaRPr lang="en-US" sz="1200" dirty="0"/>
          </a:p>
        </p:txBody>
      </p:sp>
      <p:sp>
        <p:nvSpPr>
          <p:cNvPr id="9" name="Shape 7"/>
          <p:cNvSpPr/>
          <p:nvPr/>
        </p:nvSpPr>
        <p:spPr>
          <a:xfrm>
            <a:off x="777240" y="1847088"/>
            <a:ext cx="2514600" cy="475488"/>
          </a:xfrm>
          <a:prstGeom prst="rect">
            <a:avLst/>
          </a:prstGeom>
          <a:solidFill>
            <a:srgbClr val="EEF2FF"/>
          </a:solidFill>
          <a:ln w="15875">
            <a:solidFill>
              <a:srgbClr val="4F46E5"/>
            </a:solidFill>
            <a:prstDash val="solid"/>
          </a:ln>
        </p:spPr>
      </p:sp>
      <p:sp>
        <p:nvSpPr>
          <p:cNvPr id="10" name="Text 8"/>
          <p:cNvSpPr/>
          <p:nvPr/>
        </p:nvSpPr>
        <p:spPr>
          <a:xfrm>
            <a:off x="777240" y="1847088"/>
            <a:ext cx="2514600" cy="475488"/>
          </a:xfrm>
          <a:prstGeom prst="rect">
            <a:avLst/>
          </a:prstGeom>
          <a:noFill/>
          <a:ln/>
        </p:spPr>
        <p:txBody>
          <a:bodyPr wrap="square" rtlCol="0" anchor="ctr"/>
          <a:lstStyle/>
          <a:p>
            <a:pPr algn="ctr" indent="0" marL="0">
              <a:buNone/>
            </a:pPr>
            <a:r>
              <a:rPr lang="en-US" sz="1300" b="1" dirty="0">
                <a:solidFill>
                  <a:srgbClr val="4F46E5"/>
                </a:solidFill>
                <a:latin typeface="Calibri" pitchFamily="34" charset="0"/>
                <a:ea typeface="Calibri" pitchFamily="34" charset="-122"/>
                <a:cs typeface="Calibri" pitchFamily="34" charset="-120"/>
              </a:rPr>
              <a:t>Customer pages</a:t>
            </a:r>
            <a:endParaRPr lang="en-US" sz="1300" dirty="0"/>
          </a:p>
        </p:txBody>
      </p:sp>
      <p:sp>
        <p:nvSpPr>
          <p:cNvPr id="11" name="Shape 9"/>
          <p:cNvSpPr/>
          <p:nvPr/>
        </p:nvSpPr>
        <p:spPr>
          <a:xfrm>
            <a:off x="3493008" y="1847088"/>
            <a:ext cx="2514600" cy="475488"/>
          </a:xfrm>
          <a:prstGeom prst="rect">
            <a:avLst/>
          </a:prstGeom>
          <a:solidFill>
            <a:srgbClr val="FAF5FF"/>
          </a:solidFill>
          <a:ln w="15875">
            <a:solidFill>
              <a:srgbClr val="7E22CE"/>
            </a:solidFill>
            <a:prstDash val="solid"/>
          </a:ln>
        </p:spPr>
      </p:sp>
      <p:sp>
        <p:nvSpPr>
          <p:cNvPr id="12" name="Text 10"/>
          <p:cNvSpPr/>
          <p:nvPr/>
        </p:nvSpPr>
        <p:spPr>
          <a:xfrm>
            <a:off x="3493008" y="1847088"/>
            <a:ext cx="2514600" cy="475488"/>
          </a:xfrm>
          <a:prstGeom prst="rect">
            <a:avLst/>
          </a:prstGeom>
          <a:noFill/>
          <a:ln/>
        </p:spPr>
        <p:txBody>
          <a:bodyPr wrap="square" rtlCol="0" anchor="ctr"/>
          <a:lstStyle/>
          <a:p>
            <a:pPr algn="ctr" indent="0" marL="0">
              <a:buNone/>
            </a:pPr>
            <a:r>
              <a:rPr lang="en-US" sz="1300" b="1" dirty="0">
                <a:solidFill>
                  <a:srgbClr val="7E22CE"/>
                </a:solidFill>
                <a:latin typeface="Calibri" pitchFamily="34" charset="0"/>
                <a:ea typeface="Calibri" pitchFamily="34" charset="-122"/>
                <a:cs typeface="Calibri" pitchFamily="34" charset="-120"/>
              </a:rPr>
              <a:t>Shop dashboard</a:t>
            </a:r>
            <a:endParaRPr lang="en-US" sz="1300" dirty="0"/>
          </a:p>
        </p:txBody>
      </p:sp>
      <p:sp>
        <p:nvSpPr>
          <p:cNvPr id="13" name="Shape 11"/>
          <p:cNvSpPr/>
          <p:nvPr/>
        </p:nvSpPr>
        <p:spPr>
          <a:xfrm>
            <a:off x="6208776" y="1847088"/>
            <a:ext cx="2514600" cy="475488"/>
          </a:xfrm>
          <a:prstGeom prst="rect">
            <a:avLst/>
          </a:prstGeom>
          <a:solidFill>
            <a:srgbClr val="ECFDF5"/>
          </a:solidFill>
          <a:ln w="15875">
            <a:solidFill>
              <a:srgbClr val="047857"/>
            </a:solidFill>
            <a:prstDash val="solid"/>
          </a:ln>
        </p:spPr>
      </p:sp>
      <p:sp>
        <p:nvSpPr>
          <p:cNvPr id="14" name="Text 12"/>
          <p:cNvSpPr/>
          <p:nvPr/>
        </p:nvSpPr>
        <p:spPr>
          <a:xfrm>
            <a:off x="6208776" y="1847088"/>
            <a:ext cx="2514600" cy="475488"/>
          </a:xfrm>
          <a:prstGeom prst="rect">
            <a:avLst/>
          </a:prstGeom>
          <a:noFill/>
          <a:ln/>
        </p:spPr>
        <p:txBody>
          <a:bodyPr wrap="square" rtlCol="0" anchor="ctr"/>
          <a:lstStyle/>
          <a:p>
            <a:pPr algn="ctr" indent="0" marL="0">
              <a:buNone/>
            </a:pPr>
            <a:r>
              <a:rPr lang="en-US" sz="1300" b="1" dirty="0">
                <a:solidFill>
                  <a:srgbClr val="047857"/>
                </a:solidFill>
                <a:latin typeface="Calibri" pitchFamily="34" charset="0"/>
                <a:ea typeface="Calibri" pitchFamily="34" charset="-122"/>
                <a:cs typeface="Calibri" pitchFamily="34" charset="-120"/>
              </a:rPr>
              <a:t>Courier dashboard</a:t>
            </a:r>
            <a:endParaRPr lang="en-US" sz="1300" dirty="0"/>
          </a:p>
        </p:txBody>
      </p:sp>
      <p:sp>
        <p:nvSpPr>
          <p:cNvPr id="15" name="Shape 13"/>
          <p:cNvSpPr/>
          <p:nvPr/>
        </p:nvSpPr>
        <p:spPr>
          <a:xfrm>
            <a:off x="8924544" y="1847088"/>
            <a:ext cx="2514600" cy="475488"/>
          </a:xfrm>
          <a:prstGeom prst="rect">
            <a:avLst/>
          </a:prstGeom>
          <a:solidFill>
            <a:srgbClr val="F1F5F9"/>
          </a:solidFill>
          <a:ln w="15875">
            <a:solidFill>
              <a:srgbClr val="0F172A"/>
            </a:solidFill>
            <a:prstDash val="solid"/>
          </a:ln>
        </p:spPr>
      </p:sp>
      <p:sp>
        <p:nvSpPr>
          <p:cNvPr id="16" name="Text 14"/>
          <p:cNvSpPr/>
          <p:nvPr/>
        </p:nvSpPr>
        <p:spPr>
          <a:xfrm>
            <a:off x="8924544" y="1847088"/>
            <a:ext cx="2514600" cy="475488"/>
          </a:xfrm>
          <a:prstGeom prst="rect">
            <a:avLst/>
          </a:prstGeom>
          <a:noFill/>
          <a:ln/>
        </p:spPr>
        <p:txBody>
          <a:bodyPr wrap="square"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Admin console</a:t>
            </a:r>
            <a:endParaRPr lang="en-US" sz="1300" dirty="0"/>
          </a:p>
        </p:txBody>
      </p:sp>
      <p:sp>
        <p:nvSpPr>
          <p:cNvPr id="17" name="Shape 15"/>
          <p:cNvSpPr/>
          <p:nvPr/>
        </p:nvSpPr>
        <p:spPr>
          <a:xfrm>
            <a:off x="548640" y="2560320"/>
            <a:ext cx="11064240" cy="960120"/>
          </a:xfrm>
          <a:prstGeom prst="rect">
            <a:avLst/>
          </a:prstGeom>
          <a:solidFill>
            <a:srgbClr val="F8FAFC"/>
          </a:solidFill>
          <a:ln w="9525">
            <a:solidFill>
              <a:srgbClr val="E2E8F0"/>
            </a:solidFill>
            <a:prstDash val="solid"/>
          </a:ln>
        </p:spPr>
      </p:sp>
      <p:sp>
        <p:nvSpPr>
          <p:cNvPr id="18" name="Text 16"/>
          <p:cNvSpPr/>
          <p:nvPr/>
        </p:nvSpPr>
        <p:spPr>
          <a:xfrm>
            <a:off x="685800" y="2606040"/>
            <a:ext cx="5486400" cy="320040"/>
          </a:xfrm>
          <a:prstGeom prst="rect">
            <a:avLst/>
          </a:prstGeom>
          <a:noFill/>
          <a:ln/>
        </p:spPr>
        <p:txBody>
          <a:bodyPr wrap="square" rtlCol="0" anchor="ctr"/>
          <a:lstStyle/>
          <a:p>
            <a:pPr indent="0" marL="0">
              <a:buNone/>
            </a:pPr>
            <a:r>
              <a:rPr lang="en-US" sz="1200" b="1" dirty="0">
                <a:solidFill>
                  <a:srgbClr val="475569"/>
                </a:solidFill>
                <a:latin typeface="Calibri" pitchFamily="34" charset="0"/>
                <a:ea typeface="Calibri" pitchFamily="34" charset="-122"/>
                <a:cs typeface="Calibri" pitchFamily="34" charset="-120"/>
              </a:rPr>
              <a:t>API  —  Express</a:t>
            </a:r>
            <a:endParaRPr lang="en-US" sz="1200" dirty="0"/>
          </a:p>
        </p:txBody>
      </p:sp>
      <p:sp>
        <p:nvSpPr>
          <p:cNvPr id="19" name="Shape 17"/>
          <p:cNvSpPr/>
          <p:nvPr/>
        </p:nvSpPr>
        <p:spPr>
          <a:xfrm>
            <a:off x="777240" y="2944368"/>
            <a:ext cx="2514600" cy="475488"/>
          </a:xfrm>
          <a:prstGeom prst="rect">
            <a:avLst/>
          </a:prstGeom>
          <a:solidFill>
            <a:srgbClr val="FFFFFF"/>
          </a:solidFill>
          <a:ln w="15875">
            <a:solidFill>
              <a:srgbClr val="334155"/>
            </a:solidFill>
            <a:prstDash val="solid"/>
          </a:ln>
        </p:spPr>
      </p:sp>
      <p:sp>
        <p:nvSpPr>
          <p:cNvPr id="20" name="Text 18"/>
          <p:cNvSpPr/>
          <p:nvPr/>
        </p:nvSpPr>
        <p:spPr>
          <a:xfrm>
            <a:off x="777240" y="2944368"/>
            <a:ext cx="2514600" cy="475488"/>
          </a:xfrm>
          <a:prstGeom prst="rect">
            <a:avLst/>
          </a:prstGeom>
          <a:noFill/>
          <a:ln/>
        </p:spPr>
        <p:txBody>
          <a:bodyPr wrap="square" rtlCol="0" anchor="ctr"/>
          <a:lstStyle/>
          <a:p>
            <a:pPr algn="ctr" indent="0" marL="0">
              <a:buNone/>
            </a:pPr>
            <a:r>
              <a:rPr lang="en-US" sz="1300" dirty="0">
                <a:solidFill>
                  <a:srgbClr val="334155"/>
                </a:solidFill>
                <a:latin typeface="Calibri" pitchFamily="34" charset="0"/>
                <a:ea typeface="Calibri" pitchFamily="34" charset="-122"/>
                <a:cs typeface="Calibri" pitchFamily="34" charset="-120"/>
              </a:rPr>
              <a:t>Routes</a:t>
            </a:r>
            <a:endParaRPr lang="en-US" sz="1300" dirty="0"/>
          </a:p>
        </p:txBody>
      </p:sp>
      <p:sp>
        <p:nvSpPr>
          <p:cNvPr id="21" name="Shape 19"/>
          <p:cNvSpPr/>
          <p:nvPr/>
        </p:nvSpPr>
        <p:spPr>
          <a:xfrm>
            <a:off x="3493008" y="2944368"/>
            <a:ext cx="2514600" cy="475488"/>
          </a:xfrm>
          <a:prstGeom prst="rect">
            <a:avLst/>
          </a:prstGeom>
          <a:solidFill>
            <a:srgbClr val="FFFFFF"/>
          </a:solidFill>
          <a:ln w="15875">
            <a:solidFill>
              <a:srgbClr val="334155"/>
            </a:solidFill>
            <a:prstDash val="solid"/>
          </a:ln>
        </p:spPr>
      </p:sp>
      <p:sp>
        <p:nvSpPr>
          <p:cNvPr id="22" name="Text 20"/>
          <p:cNvSpPr/>
          <p:nvPr/>
        </p:nvSpPr>
        <p:spPr>
          <a:xfrm>
            <a:off x="3493008" y="2944368"/>
            <a:ext cx="2514600" cy="475488"/>
          </a:xfrm>
          <a:prstGeom prst="rect">
            <a:avLst/>
          </a:prstGeom>
          <a:noFill/>
          <a:ln/>
        </p:spPr>
        <p:txBody>
          <a:bodyPr wrap="square" rtlCol="0" anchor="ctr"/>
          <a:lstStyle/>
          <a:p>
            <a:pPr algn="ctr" indent="0" marL="0">
              <a:buNone/>
            </a:pPr>
            <a:r>
              <a:rPr lang="en-US" sz="1300" dirty="0">
                <a:solidFill>
                  <a:srgbClr val="334155"/>
                </a:solidFill>
                <a:latin typeface="Calibri" pitchFamily="34" charset="0"/>
                <a:ea typeface="Calibri" pitchFamily="34" charset="-122"/>
                <a:cs typeface="Calibri" pitchFamily="34" charset="-120"/>
              </a:rPr>
              <a:t>Sign-in, role and suspension checks</a:t>
            </a:r>
            <a:endParaRPr lang="en-US" sz="1300" dirty="0"/>
          </a:p>
        </p:txBody>
      </p:sp>
      <p:sp>
        <p:nvSpPr>
          <p:cNvPr id="23" name="Shape 21"/>
          <p:cNvSpPr/>
          <p:nvPr/>
        </p:nvSpPr>
        <p:spPr>
          <a:xfrm>
            <a:off x="6208776" y="2944368"/>
            <a:ext cx="2514600" cy="475488"/>
          </a:xfrm>
          <a:prstGeom prst="rect">
            <a:avLst/>
          </a:prstGeom>
          <a:solidFill>
            <a:srgbClr val="FFFFFF"/>
          </a:solidFill>
          <a:ln w="15875">
            <a:solidFill>
              <a:srgbClr val="334155"/>
            </a:solidFill>
            <a:prstDash val="solid"/>
          </a:ln>
        </p:spPr>
      </p:sp>
      <p:sp>
        <p:nvSpPr>
          <p:cNvPr id="24" name="Text 22"/>
          <p:cNvSpPr/>
          <p:nvPr/>
        </p:nvSpPr>
        <p:spPr>
          <a:xfrm>
            <a:off x="6208776" y="2944368"/>
            <a:ext cx="2514600" cy="475488"/>
          </a:xfrm>
          <a:prstGeom prst="rect">
            <a:avLst/>
          </a:prstGeom>
          <a:noFill/>
          <a:ln/>
        </p:spPr>
        <p:txBody>
          <a:bodyPr wrap="square" rtlCol="0" anchor="ctr"/>
          <a:lstStyle/>
          <a:p>
            <a:pPr algn="ctr" indent="0" marL="0">
              <a:buNone/>
            </a:pPr>
            <a:r>
              <a:rPr lang="en-US" sz="1300" dirty="0">
                <a:solidFill>
                  <a:srgbClr val="334155"/>
                </a:solidFill>
                <a:latin typeface="Calibri" pitchFamily="34" charset="0"/>
                <a:ea typeface="Calibri" pitchFamily="34" charset="-122"/>
                <a:cs typeface="Calibri" pitchFamily="34" charset="-120"/>
              </a:rPr>
              <a:t>Rate limiting</a:t>
            </a:r>
            <a:endParaRPr lang="en-US" sz="1300" dirty="0"/>
          </a:p>
        </p:txBody>
      </p:sp>
      <p:sp>
        <p:nvSpPr>
          <p:cNvPr id="25" name="Shape 23"/>
          <p:cNvSpPr/>
          <p:nvPr/>
        </p:nvSpPr>
        <p:spPr>
          <a:xfrm>
            <a:off x="8924544" y="2944368"/>
            <a:ext cx="2514600" cy="475488"/>
          </a:xfrm>
          <a:prstGeom prst="rect">
            <a:avLst/>
          </a:prstGeom>
          <a:solidFill>
            <a:srgbClr val="FFFFFF"/>
          </a:solidFill>
          <a:ln w="15875">
            <a:solidFill>
              <a:srgbClr val="334155"/>
            </a:solidFill>
            <a:prstDash val="solid"/>
          </a:ln>
        </p:spPr>
      </p:sp>
      <p:sp>
        <p:nvSpPr>
          <p:cNvPr id="26" name="Text 24"/>
          <p:cNvSpPr/>
          <p:nvPr/>
        </p:nvSpPr>
        <p:spPr>
          <a:xfrm>
            <a:off x="8924544" y="2944368"/>
            <a:ext cx="2514600" cy="475488"/>
          </a:xfrm>
          <a:prstGeom prst="rect">
            <a:avLst/>
          </a:prstGeom>
          <a:noFill/>
          <a:ln/>
        </p:spPr>
        <p:txBody>
          <a:bodyPr wrap="square" rtlCol="0" anchor="ctr"/>
          <a:lstStyle/>
          <a:p>
            <a:pPr algn="ctr" indent="0" marL="0">
              <a:buNone/>
            </a:pPr>
            <a:r>
              <a:rPr lang="en-US" sz="1300" dirty="0">
                <a:solidFill>
                  <a:srgbClr val="334155"/>
                </a:solidFill>
                <a:latin typeface="Calibri" pitchFamily="34" charset="0"/>
                <a:ea typeface="Calibri" pitchFamily="34" charset="-122"/>
                <a:cs typeface="Calibri" pitchFamily="34" charset="-120"/>
              </a:rPr>
              <a:t>Controllers</a:t>
            </a:r>
            <a:endParaRPr lang="en-US" sz="1300" dirty="0"/>
          </a:p>
        </p:txBody>
      </p:sp>
      <p:sp>
        <p:nvSpPr>
          <p:cNvPr id="27" name="Shape 25"/>
          <p:cNvSpPr/>
          <p:nvPr/>
        </p:nvSpPr>
        <p:spPr>
          <a:xfrm>
            <a:off x="548640" y="3657600"/>
            <a:ext cx="11064240" cy="1554480"/>
          </a:xfrm>
          <a:prstGeom prst="rect">
            <a:avLst/>
          </a:prstGeom>
          <a:solidFill>
            <a:srgbClr val="F8FAFC"/>
          </a:solidFill>
          <a:ln w="9525">
            <a:solidFill>
              <a:srgbClr val="E2E8F0"/>
            </a:solidFill>
            <a:prstDash val="solid"/>
          </a:ln>
        </p:spPr>
      </p:sp>
      <p:sp>
        <p:nvSpPr>
          <p:cNvPr id="28" name="Text 26"/>
          <p:cNvSpPr/>
          <p:nvPr/>
        </p:nvSpPr>
        <p:spPr>
          <a:xfrm>
            <a:off x="685800" y="3703320"/>
            <a:ext cx="5486400" cy="320040"/>
          </a:xfrm>
          <a:prstGeom prst="rect">
            <a:avLst/>
          </a:prstGeom>
          <a:noFill/>
          <a:ln/>
        </p:spPr>
        <p:txBody>
          <a:bodyPr wrap="square" rtlCol="0" anchor="ctr"/>
          <a:lstStyle/>
          <a:p>
            <a:pPr indent="0" marL="0">
              <a:buNone/>
            </a:pPr>
            <a:r>
              <a:rPr lang="en-US" sz="1200" b="1" dirty="0">
                <a:solidFill>
                  <a:srgbClr val="475569"/>
                </a:solidFill>
                <a:latin typeface="Calibri" pitchFamily="34" charset="0"/>
                <a:ea typeface="Calibri" pitchFamily="34" charset="-122"/>
                <a:cs typeface="Calibri" pitchFamily="34" charset="-120"/>
              </a:rPr>
              <a:t>DOMAIN MODULES  —  where the rules live</a:t>
            </a:r>
            <a:endParaRPr lang="en-US" sz="1200" dirty="0"/>
          </a:p>
        </p:txBody>
      </p:sp>
      <p:sp>
        <p:nvSpPr>
          <p:cNvPr id="29" name="Shape 27"/>
          <p:cNvSpPr/>
          <p:nvPr/>
        </p:nvSpPr>
        <p:spPr>
          <a:xfrm>
            <a:off x="777240" y="4041648"/>
            <a:ext cx="2514600" cy="475488"/>
          </a:xfrm>
          <a:prstGeom prst="rect">
            <a:avLst/>
          </a:prstGeom>
          <a:solidFill>
            <a:srgbClr val="EEF2FF"/>
          </a:solidFill>
          <a:ln w="15875">
            <a:solidFill>
              <a:srgbClr val="4338CA"/>
            </a:solidFill>
            <a:prstDash val="solid"/>
          </a:ln>
        </p:spPr>
      </p:sp>
      <p:sp>
        <p:nvSpPr>
          <p:cNvPr id="30" name="Text 28"/>
          <p:cNvSpPr/>
          <p:nvPr/>
        </p:nvSpPr>
        <p:spPr>
          <a:xfrm>
            <a:off x="777240" y="4041648"/>
            <a:ext cx="2514600" cy="475488"/>
          </a:xfrm>
          <a:prstGeom prst="rect">
            <a:avLst/>
          </a:prstGeom>
          <a:noFill/>
          <a:ln/>
        </p:spPr>
        <p:txBody>
          <a:bodyPr wrap="square" rtlCol="0" anchor="ctr"/>
          <a:lstStyle/>
          <a:p>
            <a:pPr algn="ctr" indent="0" marL="0">
              <a:buNone/>
            </a:pPr>
            <a:r>
              <a:rPr lang="en-US" sz="1300" b="1" dirty="0">
                <a:solidFill>
                  <a:srgbClr val="4338CA"/>
                </a:solidFill>
                <a:latin typeface="Calibri" pitchFamily="34" charset="0"/>
                <a:ea typeface="Calibri" pitchFamily="34" charset="-122"/>
                <a:cs typeface="Calibri" pitchFamily="34" charset="-120"/>
              </a:rPr>
              <a:t>Vendor management</a:t>
            </a:r>
            <a:endParaRPr lang="en-US" sz="1300" dirty="0"/>
          </a:p>
        </p:txBody>
      </p:sp>
      <p:sp>
        <p:nvSpPr>
          <p:cNvPr id="31" name="Shape 29"/>
          <p:cNvSpPr/>
          <p:nvPr/>
        </p:nvSpPr>
        <p:spPr>
          <a:xfrm>
            <a:off x="3493008" y="4041648"/>
            <a:ext cx="2514600" cy="475488"/>
          </a:xfrm>
          <a:prstGeom prst="rect">
            <a:avLst/>
          </a:prstGeom>
          <a:solidFill>
            <a:srgbClr val="EEF2FF"/>
          </a:solidFill>
          <a:ln w="15875">
            <a:solidFill>
              <a:srgbClr val="4338CA"/>
            </a:solidFill>
            <a:prstDash val="solid"/>
          </a:ln>
        </p:spPr>
      </p:sp>
      <p:sp>
        <p:nvSpPr>
          <p:cNvPr id="32" name="Text 30"/>
          <p:cNvSpPr/>
          <p:nvPr/>
        </p:nvSpPr>
        <p:spPr>
          <a:xfrm>
            <a:off x="3493008" y="4041648"/>
            <a:ext cx="2514600" cy="475488"/>
          </a:xfrm>
          <a:prstGeom prst="rect">
            <a:avLst/>
          </a:prstGeom>
          <a:noFill/>
          <a:ln/>
        </p:spPr>
        <p:txBody>
          <a:bodyPr wrap="square" rtlCol="0" anchor="ctr"/>
          <a:lstStyle/>
          <a:p>
            <a:pPr algn="ctr" indent="0" marL="0">
              <a:buNone/>
            </a:pPr>
            <a:r>
              <a:rPr lang="en-US" sz="1300" b="1" dirty="0">
                <a:solidFill>
                  <a:srgbClr val="4338CA"/>
                </a:solidFill>
                <a:latin typeface="Calibri" pitchFamily="34" charset="0"/>
                <a:ea typeface="Calibri" pitchFamily="34" charset="-122"/>
                <a:cs typeface="Calibri" pitchFamily="34" charset="-120"/>
              </a:rPr>
              <a:t>Product catalogue</a:t>
            </a:r>
            <a:endParaRPr lang="en-US" sz="1300" dirty="0"/>
          </a:p>
        </p:txBody>
      </p:sp>
      <p:sp>
        <p:nvSpPr>
          <p:cNvPr id="33" name="Shape 31"/>
          <p:cNvSpPr/>
          <p:nvPr/>
        </p:nvSpPr>
        <p:spPr>
          <a:xfrm>
            <a:off x="6208776" y="4041648"/>
            <a:ext cx="2514600" cy="475488"/>
          </a:xfrm>
          <a:prstGeom prst="rect">
            <a:avLst/>
          </a:prstGeom>
          <a:solidFill>
            <a:srgbClr val="EEF2FF"/>
          </a:solidFill>
          <a:ln w="15875">
            <a:solidFill>
              <a:srgbClr val="4338CA"/>
            </a:solidFill>
            <a:prstDash val="solid"/>
          </a:ln>
        </p:spPr>
      </p:sp>
      <p:sp>
        <p:nvSpPr>
          <p:cNvPr id="34" name="Text 32"/>
          <p:cNvSpPr/>
          <p:nvPr/>
        </p:nvSpPr>
        <p:spPr>
          <a:xfrm>
            <a:off x="6208776" y="4041648"/>
            <a:ext cx="2514600" cy="475488"/>
          </a:xfrm>
          <a:prstGeom prst="rect">
            <a:avLst/>
          </a:prstGeom>
          <a:noFill/>
          <a:ln/>
        </p:spPr>
        <p:txBody>
          <a:bodyPr wrap="square" rtlCol="0" anchor="ctr"/>
          <a:lstStyle/>
          <a:p>
            <a:pPr algn="ctr" indent="0" marL="0">
              <a:buNone/>
            </a:pPr>
            <a:r>
              <a:rPr lang="en-US" sz="1300" b="1" dirty="0">
                <a:solidFill>
                  <a:srgbClr val="4338CA"/>
                </a:solidFill>
                <a:latin typeface="Calibri" pitchFamily="34" charset="0"/>
                <a:ea typeface="Calibri" pitchFamily="34" charset="-122"/>
                <a:cs typeface="Calibri" pitchFamily="34" charset="-120"/>
              </a:rPr>
              <a:t>Courier and delivery</a:t>
            </a:r>
            <a:endParaRPr lang="en-US" sz="1300" dirty="0"/>
          </a:p>
        </p:txBody>
      </p:sp>
      <p:sp>
        <p:nvSpPr>
          <p:cNvPr id="35" name="Shape 33"/>
          <p:cNvSpPr/>
          <p:nvPr/>
        </p:nvSpPr>
        <p:spPr>
          <a:xfrm>
            <a:off x="777240" y="4617720"/>
            <a:ext cx="2514600" cy="475488"/>
          </a:xfrm>
          <a:prstGeom prst="rect">
            <a:avLst/>
          </a:prstGeom>
          <a:solidFill>
            <a:srgbClr val="FFFFFF"/>
          </a:solidFill>
          <a:ln w="15875">
            <a:solidFill>
              <a:srgbClr val="334155"/>
            </a:solidFill>
            <a:prstDash val="solid"/>
          </a:ln>
        </p:spPr>
      </p:sp>
      <p:sp>
        <p:nvSpPr>
          <p:cNvPr id="36" name="Text 34"/>
          <p:cNvSpPr/>
          <p:nvPr/>
        </p:nvSpPr>
        <p:spPr>
          <a:xfrm>
            <a:off x="777240" y="4617720"/>
            <a:ext cx="2514600" cy="475488"/>
          </a:xfrm>
          <a:prstGeom prst="rect">
            <a:avLst/>
          </a:prstGeom>
          <a:noFill/>
          <a:ln/>
        </p:spPr>
        <p:txBody>
          <a:bodyPr wrap="square" rtlCol="0" anchor="ctr"/>
          <a:lstStyle/>
          <a:p>
            <a:pPr algn="ctr" indent="0" marL="0">
              <a:buNone/>
            </a:pPr>
            <a:r>
              <a:rPr lang="en-US" sz="1300" dirty="0">
                <a:solidFill>
                  <a:srgbClr val="334155"/>
                </a:solidFill>
                <a:latin typeface="Calibri" pitchFamily="34" charset="0"/>
                <a:ea typeface="Calibri" pitchFamily="34" charset="-122"/>
                <a:cs typeface="Calibri" pitchFamily="34" charset="-120"/>
              </a:rPr>
              <a:t>Orders and parcels</a:t>
            </a:r>
            <a:endParaRPr lang="en-US" sz="1300" dirty="0"/>
          </a:p>
        </p:txBody>
      </p:sp>
      <p:sp>
        <p:nvSpPr>
          <p:cNvPr id="37" name="Shape 35"/>
          <p:cNvSpPr/>
          <p:nvPr/>
        </p:nvSpPr>
        <p:spPr>
          <a:xfrm>
            <a:off x="3493008" y="4617720"/>
            <a:ext cx="2514600" cy="475488"/>
          </a:xfrm>
          <a:prstGeom prst="rect">
            <a:avLst/>
          </a:prstGeom>
          <a:solidFill>
            <a:srgbClr val="FFFFFF"/>
          </a:solidFill>
          <a:ln w="15875">
            <a:solidFill>
              <a:srgbClr val="334155"/>
            </a:solidFill>
            <a:prstDash val="solid"/>
          </a:ln>
        </p:spPr>
      </p:sp>
      <p:sp>
        <p:nvSpPr>
          <p:cNvPr id="38" name="Text 36"/>
          <p:cNvSpPr/>
          <p:nvPr/>
        </p:nvSpPr>
        <p:spPr>
          <a:xfrm>
            <a:off x="3493008" y="4617720"/>
            <a:ext cx="2514600" cy="475488"/>
          </a:xfrm>
          <a:prstGeom prst="rect">
            <a:avLst/>
          </a:prstGeom>
          <a:noFill/>
          <a:ln/>
        </p:spPr>
        <p:txBody>
          <a:bodyPr wrap="square" rtlCol="0" anchor="ctr"/>
          <a:lstStyle/>
          <a:p>
            <a:pPr algn="ctr" indent="0" marL="0">
              <a:buNone/>
            </a:pPr>
            <a:r>
              <a:rPr lang="en-US" sz="1300" dirty="0">
                <a:solidFill>
                  <a:srgbClr val="334155"/>
                </a:solidFill>
                <a:latin typeface="Calibri" pitchFamily="34" charset="0"/>
                <a:ea typeface="Calibri" pitchFamily="34" charset="-122"/>
                <a:cs typeface="Calibri" pitchFamily="34" charset="-120"/>
              </a:rPr>
              <a:t>Trust and moderation</a:t>
            </a:r>
            <a:endParaRPr lang="en-US" sz="1300" dirty="0"/>
          </a:p>
        </p:txBody>
      </p:sp>
      <p:sp>
        <p:nvSpPr>
          <p:cNvPr id="39" name="Shape 37"/>
          <p:cNvSpPr/>
          <p:nvPr/>
        </p:nvSpPr>
        <p:spPr>
          <a:xfrm>
            <a:off x="6208776" y="4617720"/>
            <a:ext cx="2514600" cy="475488"/>
          </a:xfrm>
          <a:prstGeom prst="rect">
            <a:avLst/>
          </a:prstGeom>
          <a:solidFill>
            <a:srgbClr val="FFFFFF"/>
          </a:solidFill>
          <a:ln w="15875">
            <a:solidFill>
              <a:srgbClr val="334155"/>
            </a:solidFill>
            <a:prstDash val="solid"/>
          </a:ln>
        </p:spPr>
      </p:sp>
      <p:sp>
        <p:nvSpPr>
          <p:cNvPr id="40" name="Text 38"/>
          <p:cNvSpPr/>
          <p:nvPr/>
        </p:nvSpPr>
        <p:spPr>
          <a:xfrm>
            <a:off x="6208776" y="4617720"/>
            <a:ext cx="2514600" cy="475488"/>
          </a:xfrm>
          <a:prstGeom prst="rect">
            <a:avLst/>
          </a:prstGeom>
          <a:noFill/>
          <a:ln/>
        </p:spPr>
        <p:txBody>
          <a:bodyPr wrap="square" rtlCol="0" anchor="ctr"/>
          <a:lstStyle/>
          <a:p>
            <a:pPr algn="ctr" indent="0" marL="0">
              <a:buNone/>
            </a:pPr>
            <a:r>
              <a:rPr lang="en-US" sz="1300" dirty="0">
                <a:solidFill>
                  <a:srgbClr val="334155"/>
                </a:solidFill>
                <a:latin typeface="Calibri" pitchFamily="34" charset="0"/>
                <a:ea typeface="Calibri" pitchFamily="34" charset="-122"/>
                <a:cs typeface="Calibri" pitchFamily="34" charset="-120"/>
              </a:rPr>
              <a:t>Administration</a:t>
            </a:r>
            <a:endParaRPr lang="en-US" sz="1300" dirty="0"/>
          </a:p>
        </p:txBody>
      </p:sp>
      <p:sp>
        <p:nvSpPr>
          <p:cNvPr id="41" name="Text 39"/>
          <p:cNvSpPr/>
          <p:nvPr/>
        </p:nvSpPr>
        <p:spPr>
          <a:xfrm>
            <a:off x="8961120" y="4069080"/>
            <a:ext cx="2560320" cy="1005840"/>
          </a:xfrm>
          <a:prstGeom prst="rect">
            <a:avLst/>
          </a:prstGeom>
          <a:noFill/>
          <a:ln/>
        </p:spPr>
        <p:txBody>
          <a:bodyPr wrap="square" rtlCol="0" anchor="ctr"/>
          <a:lstStyle/>
          <a:p>
            <a:pPr indent="0" marL="0">
              <a:buNone/>
            </a:pPr>
            <a:r>
              <a:rPr lang="en-US" sz="1150" dirty="0">
                <a:solidFill>
                  <a:srgbClr val="475569"/>
                </a:solidFill>
                <a:latin typeface="Calibri" pitchFamily="34" charset="0"/>
                <a:ea typeface="Calibri" pitchFamily="34" charset="-122"/>
                <a:cs typeface="Calibri" pitchFamily="34" charset="-120"/>
              </a:rPr>
              <a:t>Shaded: named in the proposal</a:t>
            </a:r>
            <a:endParaRPr lang="en-US" sz="1150" dirty="0"/>
          </a:p>
          <a:p>
            <a:pPr indent="0" marL="0">
              <a:buNone/>
            </a:pPr>
            <a:r>
              <a:rPr lang="en-US" sz="1150" dirty="0">
                <a:solidFill>
                  <a:srgbClr val="475569"/>
                </a:solidFill>
                <a:latin typeface="Calibri" pitchFamily="34" charset="0"/>
                <a:ea typeface="Calibri" pitchFamily="34" charset="-122"/>
                <a:cs typeface="Calibri" pitchFamily="34" charset="-120"/>
              </a:rPr>
              <a:t>Plain: added during development</a:t>
            </a:r>
            <a:endParaRPr lang="en-US" sz="1150" dirty="0"/>
          </a:p>
        </p:txBody>
      </p:sp>
      <p:sp>
        <p:nvSpPr>
          <p:cNvPr id="42" name="Shape 40"/>
          <p:cNvSpPr/>
          <p:nvPr/>
        </p:nvSpPr>
        <p:spPr>
          <a:xfrm>
            <a:off x="548640" y="5349240"/>
            <a:ext cx="11064240" cy="914400"/>
          </a:xfrm>
          <a:prstGeom prst="rect">
            <a:avLst/>
          </a:prstGeom>
          <a:solidFill>
            <a:srgbClr val="F8FAFC"/>
          </a:solidFill>
          <a:ln w="9525">
            <a:solidFill>
              <a:srgbClr val="E2E8F0"/>
            </a:solidFill>
            <a:prstDash val="solid"/>
          </a:ln>
        </p:spPr>
      </p:sp>
      <p:sp>
        <p:nvSpPr>
          <p:cNvPr id="43" name="Text 41"/>
          <p:cNvSpPr/>
          <p:nvPr/>
        </p:nvSpPr>
        <p:spPr>
          <a:xfrm>
            <a:off x="685800" y="5394960"/>
            <a:ext cx="5486400" cy="320040"/>
          </a:xfrm>
          <a:prstGeom prst="rect">
            <a:avLst/>
          </a:prstGeom>
          <a:noFill/>
          <a:ln/>
        </p:spPr>
        <p:txBody>
          <a:bodyPr wrap="square" rtlCol="0" anchor="ctr"/>
          <a:lstStyle/>
          <a:p>
            <a:pPr indent="0" marL="0">
              <a:buNone/>
            </a:pPr>
            <a:r>
              <a:rPr lang="en-US" sz="1200" b="1" dirty="0">
                <a:solidFill>
                  <a:srgbClr val="475569"/>
                </a:solidFill>
                <a:latin typeface="Calibri" pitchFamily="34" charset="0"/>
                <a:ea typeface="Calibri" pitchFamily="34" charset="-122"/>
                <a:cs typeface="Calibri" pitchFamily="34" charset="-120"/>
              </a:rPr>
              <a:t>DATA  —  MySQL</a:t>
            </a:r>
            <a:endParaRPr lang="en-US" sz="1200" dirty="0"/>
          </a:p>
        </p:txBody>
      </p:sp>
      <p:sp>
        <p:nvSpPr>
          <p:cNvPr id="44" name="Shape 42"/>
          <p:cNvSpPr/>
          <p:nvPr/>
        </p:nvSpPr>
        <p:spPr>
          <a:xfrm>
            <a:off x="777240" y="5715000"/>
            <a:ext cx="5212080" cy="457200"/>
          </a:xfrm>
          <a:prstGeom prst="rect">
            <a:avLst/>
          </a:prstGeom>
          <a:solidFill>
            <a:srgbClr val="EEF2FF"/>
          </a:solidFill>
          <a:ln w="15875">
            <a:solidFill>
              <a:srgbClr val="4338CA"/>
            </a:solidFill>
            <a:prstDash val="solid"/>
          </a:ln>
        </p:spPr>
      </p:sp>
      <p:sp>
        <p:nvSpPr>
          <p:cNvPr id="45" name="Text 43"/>
          <p:cNvSpPr/>
          <p:nvPr/>
        </p:nvSpPr>
        <p:spPr>
          <a:xfrm>
            <a:off x="777240" y="5715000"/>
            <a:ext cx="5212080" cy="457200"/>
          </a:xfrm>
          <a:prstGeom prst="rect">
            <a:avLst/>
          </a:prstGeom>
          <a:noFill/>
          <a:ln/>
        </p:spPr>
        <p:txBody>
          <a:bodyPr wrap="square" rtlCol="0" anchor="ctr"/>
          <a:lstStyle/>
          <a:p>
            <a:pPr algn="ctr" indent="0" marL="0">
              <a:buNone/>
            </a:pPr>
            <a:r>
              <a:rPr lang="en-US" sz="1300" b="1" dirty="0">
                <a:solidFill>
                  <a:srgbClr val="4338CA"/>
                </a:solidFill>
                <a:latin typeface="Calibri" pitchFamily="34" charset="0"/>
                <a:ea typeface="Calibri" pitchFamily="34" charset="-122"/>
                <a:cs typeface="Calibri" pitchFamily="34" charset="-120"/>
              </a:rPr>
              <a:t>18 tables  ·  schema created and migrated by the application</a:t>
            </a:r>
            <a:endParaRPr lang="en-US" sz="1300" dirty="0"/>
          </a:p>
        </p:txBody>
      </p:sp>
      <p:sp>
        <p:nvSpPr>
          <p:cNvPr id="46" name="Shape 44"/>
          <p:cNvSpPr/>
          <p:nvPr/>
        </p:nvSpPr>
        <p:spPr>
          <a:xfrm>
            <a:off x="6217920" y="5715000"/>
            <a:ext cx="5212080" cy="457200"/>
          </a:xfrm>
          <a:prstGeom prst="rect">
            <a:avLst/>
          </a:prstGeom>
          <a:solidFill>
            <a:srgbClr val="FFFFFF"/>
          </a:solidFill>
          <a:ln w="15875">
            <a:solidFill>
              <a:srgbClr val="334155"/>
            </a:solidFill>
            <a:prstDash val="solid"/>
          </a:ln>
        </p:spPr>
      </p:sp>
      <p:sp>
        <p:nvSpPr>
          <p:cNvPr id="47" name="Text 45"/>
          <p:cNvSpPr/>
          <p:nvPr/>
        </p:nvSpPr>
        <p:spPr>
          <a:xfrm>
            <a:off x="6217920" y="5715000"/>
            <a:ext cx="5212080" cy="457200"/>
          </a:xfrm>
          <a:prstGeom prst="rect">
            <a:avLst/>
          </a:prstGeom>
          <a:noFill/>
          <a:ln/>
        </p:spPr>
        <p:txBody>
          <a:bodyPr wrap="square" rtlCol="0" anchor="ctr"/>
          <a:lstStyle/>
          <a:p>
            <a:pPr algn="ctr" indent="0" marL="0">
              <a:buNone/>
            </a:pPr>
            <a:r>
              <a:rPr lang="en-US" sz="1300" dirty="0">
                <a:solidFill>
                  <a:srgbClr val="334155"/>
                </a:solidFill>
                <a:latin typeface="Calibri" pitchFamily="34" charset="0"/>
                <a:ea typeface="Calibri" pitchFamily="34" charset="-122"/>
                <a:cs typeface="Calibri" pitchFamily="34" charset="-120"/>
              </a:rPr>
              <a:t>Uploaded product photos and registration documents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4F46E5"/>
          </a:solidFill>
          <a:ln w="12700">
            <a:solidFill>
              <a:srgbClr val="4F46E5"/>
            </a:solidFill>
            <a:prstDash val="solid"/>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THE KEY DESIGN DECISION</a:t>
            </a:r>
            <a:endParaRPr lang="en-US" sz="1200" dirty="0"/>
          </a:p>
        </p:txBody>
      </p:sp>
      <p:sp>
        <p:nvSpPr>
          <p:cNvPr id="4" name="Text 2"/>
          <p:cNvSpPr/>
          <p:nvPr/>
        </p:nvSpPr>
        <p:spPr>
          <a:xfrm>
            <a:off x="548640" y="621792"/>
            <a:ext cx="11155680" cy="73152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One order becomes one parcel per shop</a:t>
            </a:r>
            <a:endParaRPr lang="en-US" sz="3000" dirty="0"/>
          </a:p>
        </p:txBody>
      </p:sp>
      <p:sp>
        <p:nvSpPr>
          <p:cNvPr id="5" name="Text 3"/>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Zamglam  ·  multi-vendor e-commerce with integrated courier delivery</a:t>
            </a:r>
            <a:endParaRPr lang="en-US" sz="1000" dirty="0"/>
          </a:p>
        </p:txBody>
      </p:sp>
      <p:sp>
        <p:nvSpPr>
          <p:cNvPr id="6" name="Text 4"/>
          <p:cNvSpPr/>
          <p:nvPr/>
        </p:nvSpPr>
        <p:spPr>
          <a:xfrm>
            <a:off x="10698480" y="6400800"/>
            <a:ext cx="100584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6 / 12</a:t>
            </a:r>
            <a:endParaRPr lang="en-US" sz="1000" dirty="0"/>
          </a:p>
        </p:txBody>
      </p:sp>
      <p:sp>
        <p:nvSpPr>
          <p:cNvPr id="7" name="Shape 5"/>
          <p:cNvSpPr/>
          <p:nvPr/>
        </p:nvSpPr>
        <p:spPr>
          <a:xfrm>
            <a:off x="548640" y="2240280"/>
            <a:ext cx="2743200" cy="2468880"/>
          </a:xfrm>
          <a:prstGeom prst="rect">
            <a:avLst/>
          </a:prstGeom>
          <a:solidFill>
            <a:srgbClr val="EEF2FF"/>
          </a:solidFill>
          <a:ln w="19050">
            <a:solidFill>
              <a:srgbClr val="4F46E5"/>
            </a:solidFill>
            <a:prstDash val="solid"/>
          </a:ln>
        </p:spPr>
      </p:sp>
      <p:sp>
        <p:nvSpPr>
          <p:cNvPr id="8" name="Text 6"/>
          <p:cNvSpPr/>
          <p:nvPr/>
        </p:nvSpPr>
        <p:spPr>
          <a:xfrm>
            <a:off x="548640" y="2331720"/>
            <a:ext cx="2743200" cy="457200"/>
          </a:xfrm>
          <a:prstGeom prst="rect">
            <a:avLst/>
          </a:prstGeom>
          <a:noFill/>
          <a:ln/>
        </p:spPr>
        <p:txBody>
          <a:bodyPr wrap="square" rtlCol="0" anchor="ctr"/>
          <a:lstStyle/>
          <a:p>
            <a:pPr algn="ctr" indent="0" marL="0">
              <a:buNone/>
            </a:pPr>
            <a:r>
              <a:rPr lang="en-US" sz="1800" b="1" dirty="0">
                <a:solidFill>
                  <a:srgbClr val="4338CA"/>
                </a:solidFill>
                <a:latin typeface="Calibri" pitchFamily="34" charset="0"/>
                <a:ea typeface="Calibri" pitchFamily="34" charset="-122"/>
                <a:cs typeface="Calibri" pitchFamily="34" charset="-120"/>
              </a:rPr>
              <a:t>One basket</a:t>
            </a:r>
            <a:endParaRPr lang="en-US" sz="1800" dirty="0"/>
          </a:p>
        </p:txBody>
      </p:sp>
      <p:sp>
        <p:nvSpPr>
          <p:cNvPr id="9" name="Text 7"/>
          <p:cNvSpPr/>
          <p:nvPr/>
        </p:nvSpPr>
        <p:spPr>
          <a:xfrm>
            <a:off x="731520" y="2926080"/>
            <a:ext cx="2468880" cy="1691640"/>
          </a:xfrm>
          <a:prstGeom prst="rect">
            <a:avLst/>
          </a:prstGeom>
          <a:noFill/>
          <a:ln/>
        </p:spPr>
        <p:txBody>
          <a:bodyPr wrap="square" rtlCol="0" anchor="t"/>
          <a:lstStyle/>
          <a:p>
            <a:pPr marL="203200" indent="-203200">
              <a:spcAft>
                <a:spcPts val="1000"/>
              </a:spcAft>
              <a:buSzPct val="100000"/>
              <a:buChar char="•"/>
            </a:pPr>
            <a:r>
              <a:rPr lang="en-US" sz="1600" dirty="0">
                <a:solidFill>
                  <a:srgbClr val="334155"/>
                </a:solidFill>
                <a:latin typeface="Calibri" pitchFamily="34" charset="0"/>
                <a:ea typeface="Calibri" pitchFamily="34" charset="-122"/>
                <a:cs typeface="Calibri" pitchFamily="34" charset="-120"/>
              </a:rPr>
              <a:t>Dress from Mud, Lusaka</a:t>
            </a:r>
            <a:endParaRPr lang="en-US" sz="1600" dirty="0"/>
          </a:p>
          <a:p>
            <a:pPr marL="203200" indent="-203200">
              <a:spcAft>
                <a:spcPts val="1000"/>
              </a:spcAft>
              <a:buSzPct val="100000"/>
              <a:buChar char="•"/>
            </a:pPr>
            <a:r>
              <a:rPr lang="en-US" sz="1600" dirty="0">
                <a:solidFill>
                  <a:srgbClr val="334155"/>
                </a:solidFill>
                <a:latin typeface="Calibri" pitchFamily="34" charset="0"/>
                <a:ea typeface="Calibri" pitchFamily="34" charset="-122"/>
                <a:cs typeface="Calibri" pitchFamily="34" charset="-120"/>
              </a:rPr>
              <a:t>Jacket from Jets, Kitwe</a:t>
            </a:r>
            <a:endParaRPr lang="en-US" sz="1600" dirty="0"/>
          </a:p>
          <a:p>
            <a:pPr marL="203200" indent="-203200">
              <a:spcAft>
                <a:spcPts val="1000"/>
              </a:spcAft>
              <a:buSzPct val="100000"/>
              <a:buChar char="•"/>
            </a:pPr>
            <a:r>
              <a:rPr lang="en-US" sz="1600" dirty="0">
                <a:solidFill>
                  <a:srgbClr val="334155"/>
                </a:solidFill>
                <a:latin typeface="Calibri" pitchFamily="34" charset="0"/>
                <a:ea typeface="Calibri" pitchFamily="34" charset="-122"/>
                <a:cs typeface="Calibri" pitchFamily="34" charset="-120"/>
              </a:rPr>
              <a:t>Shoes from Bata, Ndola</a:t>
            </a:r>
            <a:endParaRPr lang="en-US" sz="1600" dirty="0"/>
          </a:p>
        </p:txBody>
      </p:sp>
      <p:sp>
        <p:nvSpPr>
          <p:cNvPr id="10" name="Shape 8"/>
          <p:cNvSpPr/>
          <p:nvPr/>
        </p:nvSpPr>
        <p:spPr>
          <a:xfrm>
            <a:off x="3520440" y="3200400"/>
            <a:ext cx="914400" cy="548640"/>
          </a:xfrm>
          <a:prstGeom prst="rightArrow">
            <a:avLst/>
          </a:prstGeom>
          <a:solidFill>
            <a:srgbClr val="CBD5E1"/>
          </a:solidFill>
          <a:ln w="12700">
            <a:solidFill>
              <a:srgbClr val="CBD5E1"/>
            </a:solidFill>
            <a:prstDash val="solid"/>
          </a:ln>
        </p:spPr>
      </p:sp>
      <p:sp>
        <p:nvSpPr>
          <p:cNvPr id="11" name="Shape 9"/>
          <p:cNvSpPr/>
          <p:nvPr/>
        </p:nvSpPr>
        <p:spPr>
          <a:xfrm>
            <a:off x="4663440" y="2880360"/>
            <a:ext cx="1920240" cy="1188720"/>
          </a:xfrm>
          <a:prstGeom prst="rect">
            <a:avLst/>
          </a:prstGeom>
          <a:solidFill>
            <a:srgbClr val="4F46E5"/>
          </a:solidFill>
          <a:ln w="12700">
            <a:solidFill>
              <a:srgbClr val="4F46E5"/>
            </a:solidFill>
            <a:prstDash val="solid"/>
          </a:ln>
        </p:spPr>
      </p:sp>
      <p:sp>
        <p:nvSpPr>
          <p:cNvPr id="12" name="Text 10"/>
          <p:cNvSpPr/>
          <p:nvPr/>
        </p:nvSpPr>
        <p:spPr>
          <a:xfrm>
            <a:off x="4663440" y="2880360"/>
            <a:ext cx="1920240" cy="11887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One order</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what was bought</a:t>
            </a:r>
            <a:endParaRPr lang="en-US" sz="1600" dirty="0"/>
          </a:p>
        </p:txBody>
      </p:sp>
      <p:sp>
        <p:nvSpPr>
          <p:cNvPr id="13" name="Shape 11"/>
          <p:cNvSpPr/>
          <p:nvPr/>
        </p:nvSpPr>
        <p:spPr>
          <a:xfrm flipV="1">
            <a:off x="6583680" y="2148840"/>
            <a:ext cx="731520" cy="1325880"/>
          </a:xfrm>
          <a:prstGeom prst="line">
            <a:avLst/>
          </a:prstGeom>
          <a:noFill/>
          <a:ln w="15875">
            <a:solidFill>
              <a:srgbClr val="94A3B8"/>
            </a:solidFill>
            <a:prstDash val="solid"/>
            <a:tailEnd type="triangle"/>
          </a:ln>
        </p:spPr>
      </p:sp>
      <p:sp>
        <p:nvSpPr>
          <p:cNvPr id="14" name="Shape 12"/>
          <p:cNvSpPr/>
          <p:nvPr/>
        </p:nvSpPr>
        <p:spPr>
          <a:xfrm>
            <a:off x="7360920" y="1691640"/>
            <a:ext cx="4251960" cy="914400"/>
          </a:xfrm>
          <a:prstGeom prst="rect">
            <a:avLst/>
          </a:prstGeom>
          <a:solidFill>
            <a:srgbClr val="FAF5FF"/>
          </a:solidFill>
          <a:ln w="15875">
            <a:solidFill>
              <a:srgbClr val="7E22CE"/>
            </a:solidFill>
            <a:prstDash val="solid"/>
          </a:ln>
        </p:spPr>
      </p:sp>
      <p:sp>
        <p:nvSpPr>
          <p:cNvPr id="15" name="Text 13"/>
          <p:cNvSpPr/>
          <p:nvPr/>
        </p:nvSpPr>
        <p:spPr>
          <a:xfrm>
            <a:off x="7543800" y="1691640"/>
            <a:ext cx="4023360" cy="914400"/>
          </a:xfrm>
          <a:prstGeom prst="rect">
            <a:avLst/>
          </a:prstGeom>
          <a:noFill/>
          <a:ln/>
        </p:spPr>
        <p:txBody>
          <a:bodyPr wrap="square" rtlCol="0" anchor="ctr"/>
          <a:lstStyle/>
          <a:p>
            <a:pPr indent="0" marL="0">
              <a:buNone/>
            </a:pPr>
            <a:r>
              <a:rPr lang="en-US" sz="1600" b="1" dirty="0">
                <a:solidFill>
                  <a:srgbClr val="7E22CE"/>
                </a:solidFill>
                <a:latin typeface="Calibri" pitchFamily="34" charset="0"/>
                <a:ea typeface="Calibri" pitchFamily="34" charset="-122"/>
                <a:cs typeface="Calibri" pitchFamily="34" charset="-120"/>
              </a:rPr>
              <a:t>Parcel 1 · Mud</a:t>
            </a:r>
            <a:endParaRPr lang="en-US" sz="1600" dirty="0"/>
          </a:p>
          <a:p>
            <a:pPr indent="0" marL="0">
              <a:buNone/>
            </a:pPr>
            <a:r>
              <a:rPr lang="en-US" sz="1250" dirty="0">
                <a:solidFill>
                  <a:srgbClr val="475569"/>
                </a:solidFill>
                <a:latin typeface="Calibri" pitchFamily="34" charset="0"/>
                <a:ea typeface="Calibri" pitchFamily="34" charset="-122"/>
                <a:cs typeface="Calibri" pitchFamily="34" charset="-120"/>
              </a:rPr>
              <a:t>from Lusaka · own fee · own courier · own status</a:t>
            </a:r>
            <a:endParaRPr lang="en-US" sz="1600" dirty="0"/>
          </a:p>
        </p:txBody>
      </p:sp>
      <p:sp>
        <p:nvSpPr>
          <p:cNvPr id="16" name="Shape 14"/>
          <p:cNvSpPr/>
          <p:nvPr/>
        </p:nvSpPr>
        <p:spPr>
          <a:xfrm flipV="1">
            <a:off x="6583680" y="3383280"/>
            <a:ext cx="731520" cy="91440"/>
          </a:xfrm>
          <a:prstGeom prst="line">
            <a:avLst/>
          </a:prstGeom>
          <a:noFill/>
          <a:ln w="15875">
            <a:solidFill>
              <a:srgbClr val="94A3B8"/>
            </a:solidFill>
            <a:prstDash val="solid"/>
            <a:tailEnd type="triangle"/>
          </a:ln>
        </p:spPr>
      </p:sp>
      <p:sp>
        <p:nvSpPr>
          <p:cNvPr id="17" name="Shape 15"/>
          <p:cNvSpPr/>
          <p:nvPr/>
        </p:nvSpPr>
        <p:spPr>
          <a:xfrm>
            <a:off x="7360920" y="2926080"/>
            <a:ext cx="4251960" cy="914400"/>
          </a:xfrm>
          <a:prstGeom prst="rect">
            <a:avLst/>
          </a:prstGeom>
          <a:solidFill>
            <a:srgbClr val="FAF5FF"/>
          </a:solidFill>
          <a:ln w="15875">
            <a:solidFill>
              <a:srgbClr val="7E22CE"/>
            </a:solidFill>
            <a:prstDash val="solid"/>
          </a:ln>
        </p:spPr>
      </p:sp>
      <p:sp>
        <p:nvSpPr>
          <p:cNvPr id="18" name="Text 16"/>
          <p:cNvSpPr/>
          <p:nvPr/>
        </p:nvSpPr>
        <p:spPr>
          <a:xfrm>
            <a:off x="7543800" y="2926080"/>
            <a:ext cx="4023360" cy="914400"/>
          </a:xfrm>
          <a:prstGeom prst="rect">
            <a:avLst/>
          </a:prstGeom>
          <a:noFill/>
          <a:ln/>
        </p:spPr>
        <p:txBody>
          <a:bodyPr wrap="square" rtlCol="0" anchor="ctr"/>
          <a:lstStyle/>
          <a:p>
            <a:pPr indent="0" marL="0">
              <a:buNone/>
            </a:pPr>
            <a:r>
              <a:rPr lang="en-US" sz="1600" b="1" dirty="0">
                <a:solidFill>
                  <a:srgbClr val="7E22CE"/>
                </a:solidFill>
                <a:latin typeface="Calibri" pitchFamily="34" charset="0"/>
                <a:ea typeface="Calibri" pitchFamily="34" charset="-122"/>
                <a:cs typeface="Calibri" pitchFamily="34" charset="-120"/>
              </a:rPr>
              <a:t>Parcel 2 · Jets</a:t>
            </a:r>
            <a:endParaRPr lang="en-US" sz="1600" dirty="0"/>
          </a:p>
          <a:p>
            <a:pPr indent="0" marL="0">
              <a:buNone/>
            </a:pPr>
            <a:r>
              <a:rPr lang="en-US" sz="1250" dirty="0">
                <a:solidFill>
                  <a:srgbClr val="475569"/>
                </a:solidFill>
                <a:latin typeface="Calibri" pitchFamily="34" charset="0"/>
                <a:ea typeface="Calibri" pitchFamily="34" charset="-122"/>
                <a:cs typeface="Calibri" pitchFamily="34" charset="-120"/>
              </a:rPr>
              <a:t>from Kitwe · own fee · own courier · own status</a:t>
            </a:r>
            <a:endParaRPr lang="en-US" sz="1600" dirty="0"/>
          </a:p>
        </p:txBody>
      </p:sp>
      <p:sp>
        <p:nvSpPr>
          <p:cNvPr id="19" name="Shape 17"/>
          <p:cNvSpPr/>
          <p:nvPr/>
        </p:nvSpPr>
        <p:spPr>
          <a:xfrm>
            <a:off x="6583680" y="3474720"/>
            <a:ext cx="731520" cy="1143000"/>
          </a:xfrm>
          <a:prstGeom prst="line">
            <a:avLst/>
          </a:prstGeom>
          <a:noFill/>
          <a:ln w="15875">
            <a:solidFill>
              <a:srgbClr val="94A3B8"/>
            </a:solidFill>
            <a:prstDash val="solid"/>
            <a:tailEnd type="triangle"/>
          </a:ln>
        </p:spPr>
      </p:sp>
      <p:sp>
        <p:nvSpPr>
          <p:cNvPr id="20" name="Shape 18"/>
          <p:cNvSpPr/>
          <p:nvPr/>
        </p:nvSpPr>
        <p:spPr>
          <a:xfrm>
            <a:off x="7360920" y="4160520"/>
            <a:ext cx="4251960" cy="914400"/>
          </a:xfrm>
          <a:prstGeom prst="rect">
            <a:avLst/>
          </a:prstGeom>
          <a:solidFill>
            <a:srgbClr val="FAF5FF"/>
          </a:solidFill>
          <a:ln w="15875">
            <a:solidFill>
              <a:srgbClr val="7E22CE"/>
            </a:solidFill>
            <a:prstDash val="solid"/>
          </a:ln>
        </p:spPr>
      </p:sp>
      <p:sp>
        <p:nvSpPr>
          <p:cNvPr id="21" name="Text 19"/>
          <p:cNvSpPr/>
          <p:nvPr/>
        </p:nvSpPr>
        <p:spPr>
          <a:xfrm>
            <a:off x="7543800" y="4160520"/>
            <a:ext cx="4023360" cy="914400"/>
          </a:xfrm>
          <a:prstGeom prst="rect">
            <a:avLst/>
          </a:prstGeom>
          <a:noFill/>
          <a:ln/>
        </p:spPr>
        <p:txBody>
          <a:bodyPr wrap="square" rtlCol="0" anchor="ctr"/>
          <a:lstStyle/>
          <a:p>
            <a:pPr indent="0" marL="0">
              <a:buNone/>
            </a:pPr>
            <a:r>
              <a:rPr lang="en-US" sz="1600" b="1" dirty="0">
                <a:solidFill>
                  <a:srgbClr val="7E22CE"/>
                </a:solidFill>
                <a:latin typeface="Calibri" pitchFamily="34" charset="0"/>
                <a:ea typeface="Calibri" pitchFamily="34" charset="-122"/>
                <a:cs typeface="Calibri" pitchFamily="34" charset="-120"/>
              </a:rPr>
              <a:t>Parcel 3 · Bata</a:t>
            </a:r>
            <a:endParaRPr lang="en-US" sz="1600" dirty="0"/>
          </a:p>
          <a:p>
            <a:pPr indent="0" marL="0">
              <a:buNone/>
            </a:pPr>
            <a:r>
              <a:rPr lang="en-US" sz="1250" dirty="0">
                <a:solidFill>
                  <a:srgbClr val="475569"/>
                </a:solidFill>
                <a:latin typeface="Calibri" pitchFamily="34" charset="0"/>
                <a:ea typeface="Calibri" pitchFamily="34" charset="-122"/>
                <a:cs typeface="Calibri" pitchFamily="34" charset="-120"/>
              </a:rPr>
              <a:t>from Ndola · own fee · own courier · own status</a:t>
            </a:r>
            <a:endParaRPr lang="en-US" sz="1600" dirty="0"/>
          </a:p>
        </p:txBody>
      </p:sp>
      <p:sp>
        <p:nvSpPr>
          <p:cNvPr id="22" name="Text 20"/>
          <p:cNvSpPr/>
          <p:nvPr/>
        </p:nvSpPr>
        <p:spPr>
          <a:xfrm>
            <a:off x="548640" y="5349240"/>
            <a:ext cx="11064240" cy="1005840"/>
          </a:xfrm>
          <a:prstGeom prst="rect">
            <a:avLst/>
          </a:prstGeom>
          <a:noFill/>
          <a:ln/>
        </p:spPr>
        <p:txBody>
          <a:bodyPr wrap="square" rtlCol="0" anchor="ctr"/>
          <a:lstStyle/>
          <a:p>
            <a:pPr marL="203200" indent="-203200">
              <a:spcAft>
                <a:spcPts val="400"/>
              </a:spcAft>
              <a:buSzPct val="100000"/>
              <a:buChar char="•"/>
            </a:pPr>
            <a:r>
              <a:rPr lang="en-US" sz="1350" dirty="0">
                <a:solidFill>
                  <a:srgbClr val="334155"/>
                </a:solidFill>
                <a:latin typeface="Calibri" pitchFamily="34" charset="0"/>
                <a:ea typeface="Calibri" pitchFamily="34" charset="-122"/>
                <a:cs typeface="Calibri" pitchFamily="34" charset="-120"/>
              </a:rPr>
              <a:t>Each parcel is collected from a different place, priced on its own distance and delivered separately.</a:t>
            </a:r>
            <a:endParaRPr lang="en-US" sz="1350" dirty="0"/>
          </a:p>
          <a:p>
            <a:pPr marL="203200" indent="-203200">
              <a:spcAft>
                <a:spcPts val="400"/>
              </a:spcAft>
              <a:buSzPct val="100000"/>
              <a:buChar char="•"/>
            </a:pPr>
            <a:r>
              <a:rPr lang="en-US" sz="1350" dirty="0">
                <a:solidFill>
                  <a:srgbClr val="334155"/>
                </a:solidFill>
                <a:latin typeface="Calibri" pitchFamily="34" charset="0"/>
                <a:ea typeface="Calibri" pitchFamily="34" charset="-122"/>
                <a:cs typeface="Calibri" pitchFamily="34" charset="-120"/>
              </a:rPr>
              <a:t>Prices are read from the database — never taken from the request — and everything is written in one transaction.</a:t>
            </a:r>
            <a:endParaRPr lang="en-US" sz="1350" dirty="0"/>
          </a:p>
          <a:p>
            <a:pPr marL="203200" indent="-203200">
              <a:spcAft>
                <a:spcPts val="400"/>
              </a:spcAft>
              <a:buSzPct val="100000"/>
              <a:buChar char="•"/>
            </a:pPr>
            <a:r>
              <a:rPr lang="en-US" sz="1350" dirty="0">
                <a:solidFill>
                  <a:srgbClr val="334155"/>
                </a:solidFill>
                <a:latin typeface="Calibri" pitchFamily="34" charset="0"/>
                <a:ea typeface="Calibri" pitchFamily="34" charset="-122"/>
                <a:cs typeface="Calibri" pitchFamily="34" charset="-120"/>
              </a:rPr>
              <a:t>The order shows the status of whichever parcel is furthest behind.</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4F46E5"/>
          </a:solidFill>
          <a:ln w="12700">
            <a:solidFill>
              <a:srgbClr val="4F46E5"/>
            </a:solidFill>
            <a:prstDash val="solid"/>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INTEGRATED COURIER DELIVERY</a:t>
            </a:r>
            <a:endParaRPr lang="en-US" sz="1200" dirty="0"/>
          </a:p>
        </p:txBody>
      </p:sp>
      <p:sp>
        <p:nvSpPr>
          <p:cNvPr id="4" name="Text 2"/>
          <p:cNvSpPr/>
          <p:nvPr/>
        </p:nvSpPr>
        <p:spPr>
          <a:xfrm>
            <a:off x="548640" y="621792"/>
            <a:ext cx="11155680" cy="73152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The handover takes both sides</a:t>
            </a:r>
            <a:endParaRPr lang="en-US" sz="3000" dirty="0"/>
          </a:p>
        </p:txBody>
      </p:sp>
      <p:sp>
        <p:nvSpPr>
          <p:cNvPr id="5" name="Text 3"/>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Zamglam  ·  multi-vendor e-commerce with integrated courier delivery</a:t>
            </a:r>
            <a:endParaRPr lang="en-US" sz="1000" dirty="0"/>
          </a:p>
        </p:txBody>
      </p:sp>
      <p:sp>
        <p:nvSpPr>
          <p:cNvPr id="6" name="Text 4"/>
          <p:cNvSpPr/>
          <p:nvPr/>
        </p:nvSpPr>
        <p:spPr>
          <a:xfrm>
            <a:off x="10698480" y="6400800"/>
            <a:ext cx="100584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7 / 12</a:t>
            </a:r>
            <a:endParaRPr lang="en-US" sz="1000" dirty="0"/>
          </a:p>
        </p:txBody>
      </p:sp>
      <p:sp>
        <p:nvSpPr>
          <p:cNvPr id="7" name="Shape 5"/>
          <p:cNvSpPr/>
          <p:nvPr/>
        </p:nvSpPr>
        <p:spPr>
          <a:xfrm>
            <a:off x="548640" y="1600200"/>
            <a:ext cx="2606040" cy="1783080"/>
          </a:xfrm>
          <a:prstGeom prst="rect">
            <a:avLst/>
          </a:prstGeom>
          <a:solidFill>
            <a:srgbClr val="FAF5FF"/>
          </a:solidFill>
          <a:ln w="19050">
            <a:solidFill>
              <a:srgbClr val="7E22CE"/>
            </a:solidFill>
            <a:prstDash val="solid"/>
          </a:ln>
        </p:spPr>
      </p:sp>
      <p:sp>
        <p:nvSpPr>
          <p:cNvPr id="8" name="Shape 6"/>
          <p:cNvSpPr/>
          <p:nvPr/>
        </p:nvSpPr>
        <p:spPr>
          <a:xfrm>
            <a:off x="731520" y="1783080"/>
            <a:ext cx="502920" cy="502920"/>
          </a:xfrm>
          <a:prstGeom prst="ellipse">
            <a:avLst/>
          </a:prstGeom>
          <a:solidFill>
            <a:srgbClr val="7E22CE"/>
          </a:solidFill>
          <a:ln w="12700">
            <a:solidFill>
              <a:srgbClr val="7E22CE"/>
            </a:solidFill>
            <a:prstDash val="solid"/>
          </a:ln>
        </p:spPr>
      </p:sp>
      <p:sp>
        <p:nvSpPr>
          <p:cNvPr id="9" name="Text 7"/>
          <p:cNvSpPr/>
          <p:nvPr/>
        </p:nvSpPr>
        <p:spPr>
          <a:xfrm>
            <a:off x="731520" y="178308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1325880" y="1783080"/>
            <a:ext cx="1783080" cy="502920"/>
          </a:xfrm>
          <a:prstGeom prst="rect">
            <a:avLst/>
          </a:prstGeom>
          <a:noFill/>
          <a:ln/>
        </p:spPr>
        <p:txBody>
          <a:bodyPr wrap="square" rtlCol="0" anchor="ctr"/>
          <a:lstStyle/>
          <a:p>
            <a:pPr indent="0" marL="0">
              <a:buNone/>
            </a:pPr>
            <a:r>
              <a:rPr lang="en-US" sz="1700" b="1" dirty="0">
                <a:solidFill>
                  <a:srgbClr val="7E22CE"/>
                </a:solidFill>
                <a:latin typeface="Calibri" pitchFamily="34" charset="0"/>
                <a:ea typeface="Calibri" pitchFamily="34" charset="-122"/>
                <a:cs typeface="Calibri" pitchFamily="34" charset="-120"/>
              </a:rPr>
              <a:t>Shop releases</a:t>
            </a:r>
            <a:endParaRPr lang="en-US" sz="1700" dirty="0"/>
          </a:p>
        </p:txBody>
      </p:sp>
      <p:sp>
        <p:nvSpPr>
          <p:cNvPr id="11" name="Text 9"/>
          <p:cNvSpPr/>
          <p:nvPr/>
        </p:nvSpPr>
        <p:spPr>
          <a:xfrm>
            <a:off x="731520" y="2395728"/>
            <a:ext cx="2286000" cy="914400"/>
          </a:xfrm>
          <a:prstGeom prst="rect">
            <a:avLst/>
          </a:prstGeom>
          <a:noFill/>
          <a:ln/>
        </p:spPr>
        <p:txBody>
          <a:bodyPr wrap="square" rtlCol="0" anchor="t"/>
          <a:lstStyle/>
          <a:p>
            <a:pPr indent="0" marL="0">
              <a:buNone/>
            </a:pPr>
            <a:r>
              <a:rPr lang="en-US" sz="1500" dirty="0">
                <a:solidFill>
                  <a:srgbClr val="334155"/>
                </a:solidFill>
                <a:latin typeface="Calibri" pitchFamily="34" charset="0"/>
                <a:ea typeface="Calibri" pitchFamily="34" charset="-122"/>
                <a:cs typeface="Calibri" pitchFamily="34" charset="-120"/>
              </a:rPr>
              <a:t>The parcel enters a pool every on-duty courier can see</a:t>
            </a:r>
            <a:endParaRPr lang="en-US" sz="1500" dirty="0"/>
          </a:p>
        </p:txBody>
      </p:sp>
      <p:sp>
        <p:nvSpPr>
          <p:cNvPr id="12" name="Shape 10"/>
          <p:cNvSpPr/>
          <p:nvPr/>
        </p:nvSpPr>
        <p:spPr>
          <a:xfrm>
            <a:off x="3172968" y="2331720"/>
            <a:ext cx="182880" cy="329184"/>
          </a:xfrm>
          <a:prstGeom prst="rightArrow">
            <a:avLst/>
          </a:prstGeom>
          <a:solidFill>
            <a:srgbClr val="94A3B8"/>
          </a:solidFill>
          <a:ln w="12700">
            <a:solidFill>
              <a:srgbClr val="94A3B8"/>
            </a:solidFill>
            <a:prstDash val="solid"/>
          </a:ln>
        </p:spPr>
      </p:sp>
      <p:sp>
        <p:nvSpPr>
          <p:cNvPr id="13" name="Shape 11"/>
          <p:cNvSpPr/>
          <p:nvPr/>
        </p:nvSpPr>
        <p:spPr>
          <a:xfrm>
            <a:off x="3364992" y="1600200"/>
            <a:ext cx="2606040" cy="1783080"/>
          </a:xfrm>
          <a:prstGeom prst="rect">
            <a:avLst/>
          </a:prstGeom>
          <a:solidFill>
            <a:srgbClr val="ECFDF5"/>
          </a:solidFill>
          <a:ln w="19050">
            <a:solidFill>
              <a:srgbClr val="047857"/>
            </a:solidFill>
            <a:prstDash val="solid"/>
          </a:ln>
        </p:spPr>
      </p:sp>
      <p:sp>
        <p:nvSpPr>
          <p:cNvPr id="14" name="Shape 12"/>
          <p:cNvSpPr/>
          <p:nvPr/>
        </p:nvSpPr>
        <p:spPr>
          <a:xfrm>
            <a:off x="3547872" y="1783080"/>
            <a:ext cx="502920" cy="502920"/>
          </a:xfrm>
          <a:prstGeom prst="ellipse">
            <a:avLst/>
          </a:prstGeom>
          <a:solidFill>
            <a:srgbClr val="047857"/>
          </a:solidFill>
          <a:ln w="12700">
            <a:solidFill>
              <a:srgbClr val="047857"/>
            </a:solidFill>
            <a:prstDash val="solid"/>
          </a:ln>
        </p:spPr>
      </p:sp>
      <p:sp>
        <p:nvSpPr>
          <p:cNvPr id="15" name="Text 13"/>
          <p:cNvSpPr/>
          <p:nvPr/>
        </p:nvSpPr>
        <p:spPr>
          <a:xfrm>
            <a:off x="3547872" y="178308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4"/>
          <p:cNvSpPr/>
          <p:nvPr/>
        </p:nvSpPr>
        <p:spPr>
          <a:xfrm>
            <a:off x="4142232" y="1783080"/>
            <a:ext cx="1783080" cy="502920"/>
          </a:xfrm>
          <a:prstGeom prst="rect">
            <a:avLst/>
          </a:prstGeom>
          <a:noFill/>
          <a:ln/>
        </p:spPr>
        <p:txBody>
          <a:bodyPr wrap="square" rtlCol="0" anchor="ctr"/>
          <a:lstStyle/>
          <a:p>
            <a:pPr indent="0" marL="0">
              <a:buNone/>
            </a:pPr>
            <a:r>
              <a:rPr lang="en-US" sz="1700" b="1" dirty="0">
                <a:solidFill>
                  <a:srgbClr val="047857"/>
                </a:solidFill>
                <a:latin typeface="Calibri" pitchFamily="34" charset="0"/>
                <a:ea typeface="Calibri" pitchFamily="34" charset="-122"/>
                <a:cs typeface="Calibri" pitchFamily="34" charset="-120"/>
              </a:rPr>
              <a:t>Courier claims</a:t>
            </a:r>
            <a:endParaRPr lang="en-US" sz="1700" dirty="0"/>
          </a:p>
        </p:txBody>
      </p:sp>
      <p:sp>
        <p:nvSpPr>
          <p:cNvPr id="17" name="Text 15"/>
          <p:cNvSpPr/>
          <p:nvPr/>
        </p:nvSpPr>
        <p:spPr>
          <a:xfrm>
            <a:off x="3547872" y="2395728"/>
            <a:ext cx="2286000" cy="914400"/>
          </a:xfrm>
          <a:prstGeom prst="rect">
            <a:avLst/>
          </a:prstGeom>
          <a:noFill/>
          <a:ln/>
        </p:spPr>
        <p:txBody>
          <a:bodyPr wrap="square" rtlCol="0" anchor="t"/>
          <a:lstStyle/>
          <a:p>
            <a:pPr indent="0" marL="0">
              <a:buNone/>
            </a:pPr>
            <a:r>
              <a:rPr lang="en-US" sz="1500" dirty="0">
                <a:solidFill>
                  <a:srgbClr val="334155"/>
                </a:solidFill>
                <a:latin typeface="Calibri" pitchFamily="34" charset="0"/>
                <a:ea typeface="Calibri" pitchFamily="34" charset="-122"/>
                <a:cs typeface="Calibri" pitchFamily="34" charset="-120"/>
              </a:rPr>
              <a:t>Requests the parcel — the first to ask wins</a:t>
            </a:r>
            <a:endParaRPr lang="en-US" sz="1500" dirty="0"/>
          </a:p>
        </p:txBody>
      </p:sp>
      <p:sp>
        <p:nvSpPr>
          <p:cNvPr id="18" name="Shape 16"/>
          <p:cNvSpPr/>
          <p:nvPr/>
        </p:nvSpPr>
        <p:spPr>
          <a:xfrm>
            <a:off x="5989320" y="2331720"/>
            <a:ext cx="182880" cy="329184"/>
          </a:xfrm>
          <a:prstGeom prst="rightArrow">
            <a:avLst/>
          </a:prstGeom>
          <a:solidFill>
            <a:srgbClr val="94A3B8"/>
          </a:solidFill>
          <a:ln w="12700">
            <a:solidFill>
              <a:srgbClr val="94A3B8"/>
            </a:solidFill>
            <a:prstDash val="solid"/>
          </a:ln>
        </p:spPr>
      </p:sp>
      <p:sp>
        <p:nvSpPr>
          <p:cNvPr id="19" name="Shape 17"/>
          <p:cNvSpPr/>
          <p:nvPr/>
        </p:nvSpPr>
        <p:spPr>
          <a:xfrm>
            <a:off x="6181344" y="1600200"/>
            <a:ext cx="2606040" cy="1783080"/>
          </a:xfrm>
          <a:prstGeom prst="rect">
            <a:avLst/>
          </a:prstGeom>
          <a:solidFill>
            <a:srgbClr val="FAF5FF"/>
          </a:solidFill>
          <a:ln w="19050">
            <a:solidFill>
              <a:srgbClr val="7E22CE"/>
            </a:solidFill>
            <a:prstDash val="solid"/>
          </a:ln>
        </p:spPr>
      </p:sp>
      <p:sp>
        <p:nvSpPr>
          <p:cNvPr id="20" name="Shape 18"/>
          <p:cNvSpPr/>
          <p:nvPr/>
        </p:nvSpPr>
        <p:spPr>
          <a:xfrm>
            <a:off x="6364224" y="1783080"/>
            <a:ext cx="502920" cy="502920"/>
          </a:xfrm>
          <a:prstGeom prst="ellipse">
            <a:avLst/>
          </a:prstGeom>
          <a:solidFill>
            <a:srgbClr val="7E22CE"/>
          </a:solidFill>
          <a:ln w="12700">
            <a:solidFill>
              <a:srgbClr val="7E22CE"/>
            </a:solidFill>
            <a:prstDash val="solid"/>
          </a:ln>
        </p:spPr>
      </p:sp>
      <p:sp>
        <p:nvSpPr>
          <p:cNvPr id="21" name="Text 19"/>
          <p:cNvSpPr/>
          <p:nvPr/>
        </p:nvSpPr>
        <p:spPr>
          <a:xfrm>
            <a:off x="6364224" y="178308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Text 20"/>
          <p:cNvSpPr/>
          <p:nvPr/>
        </p:nvSpPr>
        <p:spPr>
          <a:xfrm>
            <a:off x="6958584" y="1783080"/>
            <a:ext cx="1783080" cy="502920"/>
          </a:xfrm>
          <a:prstGeom prst="rect">
            <a:avLst/>
          </a:prstGeom>
          <a:noFill/>
          <a:ln/>
        </p:spPr>
        <p:txBody>
          <a:bodyPr wrap="square" rtlCol="0" anchor="ctr"/>
          <a:lstStyle/>
          <a:p>
            <a:pPr indent="0" marL="0">
              <a:buNone/>
            </a:pPr>
            <a:r>
              <a:rPr lang="en-US" sz="1700" b="1" dirty="0">
                <a:solidFill>
                  <a:srgbClr val="7E22CE"/>
                </a:solidFill>
                <a:latin typeface="Calibri" pitchFamily="34" charset="0"/>
                <a:ea typeface="Calibri" pitchFamily="34" charset="-122"/>
                <a:cs typeface="Calibri" pitchFamily="34" charset="-120"/>
              </a:rPr>
              <a:t>Shop confirms</a:t>
            </a:r>
            <a:endParaRPr lang="en-US" sz="1700" dirty="0"/>
          </a:p>
        </p:txBody>
      </p:sp>
      <p:sp>
        <p:nvSpPr>
          <p:cNvPr id="23" name="Text 21"/>
          <p:cNvSpPr/>
          <p:nvPr/>
        </p:nvSpPr>
        <p:spPr>
          <a:xfrm>
            <a:off x="6364224" y="2395728"/>
            <a:ext cx="2286000" cy="914400"/>
          </a:xfrm>
          <a:prstGeom prst="rect">
            <a:avLst/>
          </a:prstGeom>
          <a:noFill/>
          <a:ln/>
        </p:spPr>
        <p:txBody>
          <a:bodyPr wrap="square" rtlCol="0" anchor="t"/>
          <a:lstStyle/>
          <a:p>
            <a:pPr indent="0" marL="0">
              <a:buNone/>
            </a:pPr>
            <a:r>
              <a:rPr lang="en-US" sz="1500" dirty="0">
                <a:solidFill>
                  <a:srgbClr val="334155"/>
                </a:solidFill>
                <a:latin typeface="Calibri" pitchFamily="34" charset="0"/>
                <a:ea typeface="Calibri" pitchFamily="34" charset="-122"/>
                <a:cs typeface="Calibri" pitchFamily="34" charset="-120"/>
              </a:rPr>
              <a:t>Presses "Picked up" once the parcel is really in their hands</a:t>
            </a:r>
            <a:endParaRPr lang="en-US" sz="1500" dirty="0"/>
          </a:p>
        </p:txBody>
      </p:sp>
      <p:sp>
        <p:nvSpPr>
          <p:cNvPr id="24" name="Shape 22"/>
          <p:cNvSpPr/>
          <p:nvPr/>
        </p:nvSpPr>
        <p:spPr>
          <a:xfrm>
            <a:off x="8805672" y="2331720"/>
            <a:ext cx="182880" cy="329184"/>
          </a:xfrm>
          <a:prstGeom prst="rightArrow">
            <a:avLst/>
          </a:prstGeom>
          <a:solidFill>
            <a:srgbClr val="94A3B8"/>
          </a:solidFill>
          <a:ln w="12700">
            <a:solidFill>
              <a:srgbClr val="94A3B8"/>
            </a:solidFill>
            <a:prstDash val="solid"/>
          </a:ln>
        </p:spPr>
      </p:sp>
      <p:sp>
        <p:nvSpPr>
          <p:cNvPr id="25" name="Shape 23"/>
          <p:cNvSpPr/>
          <p:nvPr/>
        </p:nvSpPr>
        <p:spPr>
          <a:xfrm>
            <a:off x="8997696" y="1600200"/>
            <a:ext cx="2606040" cy="1783080"/>
          </a:xfrm>
          <a:prstGeom prst="rect">
            <a:avLst/>
          </a:prstGeom>
          <a:solidFill>
            <a:srgbClr val="ECFDF5"/>
          </a:solidFill>
          <a:ln w="19050">
            <a:solidFill>
              <a:srgbClr val="047857"/>
            </a:solidFill>
            <a:prstDash val="solid"/>
          </a:ln>
        </p:spPr>
      </p:sp>
      <p:sp>
        <p:nvSpPr>
          <p:cNvPr id="26" name="Shape 24"/>
          <p:cNvSpPr/>
          <p:nvPr/>
        </p:nvSpPr>
        <p:spPr>
          <a:xfrm>
            <a:off x="9180576" y="1783080"/>
            <a:ext cx="502920" cy="502920"/>
          </a:xfrm>
          <a:prstGeom prst="ellipse">
            <a:avLst/>
          </a:prstGeom>
          <a:solidFill>
            <a:srgbClr val="047857"/>
          </a:solidFill>
          <a:ln w="12700">
            <a:solidFill>
              <a:srgbClr val="047857"/>
            </a:solidFill>
            <a:prstDash val="solid"/>
          </a:ln>
        </p:spPr>
      </p:sp>
      <p:sp>
        <p:nvSpPr>
          <p:cNvPr id="27" name="Text 25"/>
          <p:cNvSpPr/>
          <p:nvPr/>
        </p:nvSpPr>
        <p:spPr>
          <a:xfrm>
            <a:off x="9180576" y="178308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8" name="Text 26"/>
          <p:cNvSpPr/>
          <p:nvPr/>
        </p:nvSpPr>
        <p:spPr>
          <a:xfrm>
            <a:off x="9774936" y="1783080"/>
            <a:ext cx="1783080" cy="502920"/>
          </a:xfrm>
          <a:prstGeom prst="rect">
            <a:avLst/>
          </a:prstGeom>
          <a:noFill/>
          <a:ln/>
        </p:spPr>
        <p:txBody>
          <a:bodyPr wrap="square" rtlCol="0" anchor="ctr"/>
          <a:lstStyle/>
          <a:p>
            <a:pPr indent="0" marL="0">
              <a:buNone/>
            </a:pPr>
            <a:r>
              <a:rPr lang="en-US" sz="1700" b="1" dirty="0">
                <a:solidFill>
                  <a:srgbClr val="047857"/>
                </a:solidFill>
                <a:latin typeface="Calibri" pitchFamily="34" charset="0"/>
                <a:ea typeface="Calibri" pitchFamily="34" charset="-122"/>
                <a:cs typeface="Calibri" pitchFamily="34" charset="-120"/>
              </a:rPr>
              <a:t>Courier delivers</a:t>
            </a:r>
            <a:endParaRPr lang="en-US" sz="1700" dirty="0"/>
          </a:p>
        </p:txBody>
      </p:sp>
      <p:sp>
        <p:nvSpPr>
          <p:cNvPr id="29" name="Text 27"/>
          <p:cNvSpPr/>
          <p:nvPr/>
        </p:nvSpPr>
        <p:spPr>
          <a:xfrm>
            <a:off x="9180576" y="2395728"/>
            <a:ext cx="2286000" cy="914400"/>
          </a:xfrm>
          <a:prstGeom prst="rect">
            <a:avLst/>
          </a:prstGeom>
          <a:noFill/>
          <a:ln/>
        </p:spPr>
        <p:txBody>
          <a:bodyPr wrap="square" rtlCol="0" anchor="t"/>
          <a:lstStyle/>
          <a:p>
            <a:pPr indent="0" marL="0">
              <a:buNone/>
            </a:pPr>
            <a:r>
              <a:rPr lang="en-US" sz="1500" dirty="0">
                <a:solidFill>
                  <a:srgbClr val="334155"/>
                </a:solidFill>
                <a:latin typeface="Calibri" pitchFamily="34" charset="0"/>
                <a:ea typeface="Calibri" pitchFamily="34" charset="-122"/>
                <a:cs typeface="Calibri" pitchFamily="34" charset="-120"/>
              </a:rPr>
              <a:t>Marks it delivered; the customer is asked to rate the shop</a:t>
            </a:r>
            <a:endParaRPr lang="en-US" sz="1500" dirty="0"/>
          </a:p>
        </p:txBody>
      </p:sp>
      <p:sp>
        <p:nvSpPr>
          <p:cNvPr id="30" name="Shape 28"/>
          <p:cNvSpPr/>
          <p:nvPr/>
        </p:nvSpPr>
        <p:spPr>
          <a:xfrm>
            <a:off x="6181344" y="3657600"/>
            <a:ext cx="5431536" cy="1234440"/>
          </a:xfrm>
          <a:prstGeom prst="rect">
            <a:avLst/>
          </a:prstGeom>
          <a:solidFill>
            <a:srgbClr val="FFF1F2"/>
          </a:solidFill>
          <a:ln w="19050">
            <a:solidFill>
              <a:srgbClr val="E11D48"/>
            </a:solidFill>
            <a:prstDash val="dash"/>
          </a:ln>
        </p:spPr>
      </p:sp>
      <p:sp>
        <p:nvSpPr>
          <p:cNvPr id="31" name="Text 29"/>
          <p:cNvSpPr/>
          <p:nvPr/>
        </p:nvSpPr>
        <p:spPr>
          <a:xfrm>
            <a:off x="6355080" y="3657600"/>
            <a:ext cx="5120640" cy="1234440"/>
          </a:xfrm>
          <a:prstGeom prst="rect">
            <a:avLst/>
          </a:prstGeom>
          <a:noFill/>
          <a:ln/>
        </p:spPr>
        <p:txBody>
          <a:bodyPr wrap="square" rtlCol="0" anchor="ctr"/>
          <a:lstStyle/>
          <a:p>
            <a:pPr indent="0" marL="0">
              <a:buNone/>
            </a:pPr>
            <a:r>
              <a:rPr lang="en-US" sz="1600" b="1" dirty="0">
                <a:solidFill>
                  <a:srgbClr val="9F1239"/>
                </a:solidFill>
                <a:latin typeface="Calibri" pitchFamily="34" charset="0"/>
                <a:ea typeface="Calibri" pitchFamily="34" charset="-122"/>
                <a:cs typeface="Calibri" pitchFamily="34" charset="-120"/>
              </a:rPr>
              <a:t>Or: "Not picked up"  </a:t>
            </a:r>
            <a:pPr indent="0" marL="0">
              <a:buNone/>
            </a:pPr>
            <a:r>
              <a:rPr lang="en-US" sz="1350" dirty="0">
                <a:solidFill>
                  <a:srgbClr val="334155"/>
                </a:solidFill>
                <a:latin typeface="Calibri" pitchFamily="34" charset="0"/>
                <a:ea typeface="Calibri" pitchFamily="34" charset="-122"/>
                <a:cs typeface="Calibri" pitchFamily="34" charset="-120"/>
              </a:rPr>
              <a:t>the courier never came. The parcel goes back into the pool for another courier, and the customer’s tracking says why.</a:t>
            </a:r>
            <a:endParaRPr lang="en-US" sz="1600" dirty="0"/>
          </a:p>
        </p:txBody>
      </p:sp>
      <p:sp>
        <p:nvSpPr>
          <p:cNvPr id="32" name="Shape 30"/>
          <p:cNvSpPr/>
          <p:nvPr/>
        </p:nvSpPr>
        <p:spPr>
          <a:xfrm>
            <a:off x="548640" y="3657600"/>
            <a:ext cx="5394960" cy="2377440"/>
          </a:xfrm>
          <a:prstGeom prst="rect">
            <a:avLst/>
          </a:prstGeom>
          <a:solidFill>
            <a:srgbClr val="EEF2FF"/>
          </a:solidFill>
          <a:ln w="15875">
            <a:solidFill>
              <a:srgbClr val="4F46E5"/>
            </a:solidFill>
            <a:prstDash val="solid"/>
          </a:ln>
        </p:spPr>
      </p:sp>
      <p:sp>
        <p:nvSpPr>
          <p:cNvPr id="33" name="Text 31"/>
          <p:cNvSpPr/>
          <p:nvPr/>
        </p:nvSpPr>
        <p:spPr>
          <a:xfrm>
            <a:off x="731520" y="3794760"/>
            <a:ext cx="5029200" cy="2148840"/>
          </a:xfrm>
          <a:prstGeom prst="rect">
            <a:avLst/>
          </a:prstGeom>
          <a:noFill/>
          <a:ln/>
        </p:spPr>
        <p:txBody>
          <a:bodyPr wrap="square" rtlCol="0" anchor="t"/>
          <a:lstStyle/>
          <a:p>
            <a:pPr indent="0" marL="0">
              <a:spcAft>
                <a:spcPts val="800"/>
              </a:spcAft>
              <a:buNone/>
            </a:pPr>
            <a:r>
              <a:rPr lang="en-US" sz="1900" b="1" dirty="0">
                <a:solidFill>
                  <a:srgbClr val="4338CA"/>
                </a:solidFill>
                <a:latin typeface="Calibri" pitchFamily="34" charset="0"/>
                <a:ea typeface="Calibri" pitchFamily="34" charset="-122"/>
                <a:cs typeface="Calibri" pitchFamily="34" charset="-120"/>
              </a:rPr>
              <a:t>Why two parties?</a:t>
            </a:r>
            <a:endParaRPr lang="en-US" sz="1900" dirty="0"/>
          </a:p>
          <a:p>
            <a:pPr indent="0" marL="0">
              <a:spcAft>
                <a:spcPts val="800"/>
              </a:spcAft>
              <a:buNone/>
            </a:pPr>
            <a:r>
              <a:rPr lang="en-US" sz="1600" dirty="0">
                <a:solidFill>
                  <a:srgbClr val="334155"/>
                </a:solidFill>
                <a:latin typeface="Calibri" pitchFamily="34" charset="0"/>
                <a:ea typeface="Calibri" pitchFamily="34" charset="-122"/>
                <a:cs typeface="Calibri" pitchFamily="34" charset="-120"/>
              </a:rPr>
              <a:t>A courier pressing "collected" is only their word for it. Nothing counts as collected until the shop confirms — and only then is the courier’s name and number shown to the customer.</a:t>
            </a:r>
            <a:endParaRPr lang="en-US" sz="1900" dirty="0"/>
          </a:p>
        </p:txBody>
      </p:sp>
      <p:sp>
        <p:nvSpPr>
          <p:cNvPr id="34" name="Text 32"/>
          <p:cNvSpPr/>
          <p:nvPr/>
        </p:nvSpPr>
        <p:spPr>
          <a:xfrm>
            <a:off x="6181344" y="5074920"/>
            <a:ext cx="5431536" cy="1005840"/>
          </a:xfrm>
          <a:prstGeom prst="rect">
            <a:avLst/>
          </a:prstGeom>
          <a:noFill/>
          <a:ln/>
        </p:spPr>
        <p:txBody>
          <a:bodyPr wrap="square" rtlCol="0" anchor="t"/>
          <a:lstStyle/>
          <a:p>
            <a:pPr marL="203200" indent="-203200">
              <a:spcAft>
                <a:spcPts val="600"/>
              </a:spcAft>
              <a:buSzPct val="100000"/>
              <a:buChar char="•"/>
            </a:pPr>
            <a:r>
              <a:rPr lang="en-US" sz="1450" dirty="0">
                <a:solidFill>
                  <a:srgbClr val="334155"/>
                </a:solidFill>
                <a:latin typeface="Calibri" pitchFamily="34" charset="0"/>
                <a:ea typeface="Calibri" pitchFamily="34" charset="-122"/>
                <a:cs typeface="Calibri" pitchFamily="34" charset="-120"/>
              </a:rPr>
              <a:t>A parcel left unclaimed for an hour is assigned to the least-busy courier on duty.</a:t>
            </a:r>
            <a:endParaRPr lang="en-US" sz="1450" dirty="0"/>
          </a:p>
          <a:p>
            <a:pPr marL="203200" indent="-203200">
              <a:spcAft>
                <a:spcPts val="600"/>
              </a:spcAft>
              <a:buSzPct val="100000"/>
              <a:buChar char="•"/>
            </a:pPr>
            <a:r>
              <a:rPr lang="en-US" sz="1450" dirty="0">
                <a:solidFill>
                  <a:srgbClr val="334155"/>
                </a:solidFill>
                <a:latin typeface="Calibri" pitchFamily="34" charset="0"/>
                <a:ea typeface="Calibri" pitchFamily="34" charset="-122"/>
                <a:cs typeface="Calibri" pitchFamily="34" charset="-120"/>
              </a:rPr>
              <a:t>A courier cannot go off duty while holding a parcel.</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4F46E5"/>
          </a:solidFill>
          <a:ln w="12700">
            <a:solidFill>
              <a:srgbClr val="4F46E5"/>
            </a:solidFill>
            <a:prstDash val="solid"/>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TRUST AND SECURITY</a:t>
            </a:r>
            <a:endParaRPr lang="en-US" sz="1200" dirty="0"/>
          </a:p>
        </p:txBody>
      </p:sp>
      <p:sp>
        <p:nvSpPr>
          <p:cNvPr id="4" name="Text 2"/>
          <p:cNvSpPr/>
          <p:nvPr/>
        </p:nvSpPr>
        <p:spPr>
          <a:xfrm>
            <a:off x="548640" y="621792"/>
            <a:ext cx="11155680" cy="73152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Knowing who you are dealing with</a:t>
            </a:r>
            <a:endParaRPr lang="en-US" sz="3000" dirty="0"/>
          </a:p>
        </p:txBody>
      </p:sp>
      <p:sp>
        <p:nvSpPr>
          <p:cNvPr id="5" name="Text 3"/>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Zamglam  ·  multi-vendor e-commerce with integrated courier delivery</a:t>
            </a:r>
            <a:endParaRPr lang="en-US" sz="1000" dirty="0"/>
          </a:p>
        </p:txBody>
      </p:sp>
      <p:sp>
        <p:nvSpPr>
          <p:cNvPr id="6" name="Text 4"/>
          <p:cNvSpPr/>
          <p:nvPr/>
        </p:nvSpPr>
        <p:spPr>
          <a:xfrm>
            <a:off x="10698480" y="6400800"/>
            <a:ext cx="100584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8 / 12</a:t>
            </a:r>
            <a:endParaRPr lang="en-US" sz="1000" dirty="0"/>
          </a:p>
        </p:txBody>
      </p:sp>
      <p:sp>
        <p:nvSpPr>
          <p:cNvPr id="7" name="Shape 5"/>
          <p:cNvSpPr/>
          <p:nvPr/>
        </p:nvSpPr>
        <p:spPr>
          <a:xfrm>
            <a:off x="548640" y="1554480"/>
            <a:ext cx="3566160" cy="2011680"/>
          </a:xfrm>
          <a:prstGeom prst="rect">
            <a:avLst/>
          </a:prstGeom>
          <a:solidFill>
            <a:srgbClr val="FAF5FF"/>
          </a:solidFill>
          <a:ln w="9525">
            <a:solidFill>
              <a:srgbClr val="E2E8F0"/>
            </a:solidFill>
            <a:prstDash val="solid"/>
          </a:ln>
        </p:spPr>
      </p:sp>
      <p:sp>
        <p:nvSpPr>
          <p:cNvPr id="8" name="Shape 6"/>
          <p:cNvSpPr/>
          <p:nvPr/>
        </p:nvSpPr>
        <p:spPr>
          <a:xfrm>
            <a:off x="548640" y="1554480"/>
            <a:ext cx="3566160" cy="73152"/>
          </a:xfrm>
          <a:prstGeom prst="rect">
            <a:avLst/>
          </a:prstGeom>
          <a:solidFill>
            <a:srgbClr val="7E22CE"/>
          </a:solidFill>
          <a:ln w="12700">
            <a:solidFill>
              <a:srgbClr val="7E22CE"/>
            </a:solidFill>
            <a:prstDash val="solid"/>
          </a:ln>
        </p:spPr>
      </p:sp>
      <p:sp>
        <p:nvSpPr>
          <p:cNvPr id="9" name="Text 7"/>
          <p:cNvSpPr/>
          <p:nvPr/>
        </p:nvSpPr>
        <p:spPr>
          <a:xfrm>
            <a:off x="749808" y="1737360"/>
            <a:ext cx="3163824" cy="457200"/>
          </a:xfrm>
          <a:prstGeom prst="rect">
            <a:avLst/>
          </a:prstGeom>
          <a:noFill/>
          <a:ln/>
        </p:spPr>
        <p:txBody>
          <a:bodyPr wrap="square" rtlCol="0" anchor="t"/>
          <a:lstStyle/>
          <a:p>
            <a:pPr indent="0" marL="0">
              <a:buNone/>
            </a:pPr>
            <a:r>
              <a:rPr lang="en-US" sz="1700" b="1" dirty="0">
                <a:solidFill>
                  <a:srgbClr val="7E22CE"/>
                </a:solidFill>
                <a:latin typeface="Calibri" pitchFamily="34" charset="0"/>
                <a:ea typeface="Calibri" pitchFamily="34" charset="-122"/>
                <a:cs typeface="Calibri" pitchFamily="34" charset="-120"/>
              </a:rPr>
              <a:t>Verified shops</a:t>
            </a:r>
            <a:endParaRPr lang="en-US" sz="1700" dirty="0"/>
          </a:p>
        </p:txBody>
      </p:sp>
      <p:sp>
        <p:nvSpPr>
          <p:cNvPr id="10" name="Text 8"/>
          <p:cNvSpPr/>
          <p:nvPr/>
        </p:nvSpPr>
        <p:spPr>
          <a:xfrm>
            <a:off x="749808" y="2212848"/>
            <a:ext cx="3163824" cy="1188720"/>
          </a:xfrm>
          <a:prstGeom prst="rect">
            <a:avLst/>
          </a:prstGeom>
          <a:noFill/>
          <a:ln/>
        </p:spPr>
        <p:txBody>
          <a:bodyPr wrap="square" rtlCol="0" anchor="t"/>
          <a:lstStyle/>
          <a:p>
            <a:pPr indent="0" marL="0">
              <a:spcAft>
                <a:spcPts val="400"/>
              </a:spcAft>
              <a:buNone/>
            </a:pPr>
            <a:r>
              <a:rPr lang="en-US" sz="1600" dirty="0">
                <a:solidFill>
                  <a:srgbClr val="334155"/>
                </a:solidFill>
                <a:latin typeface="Calibri" pitchFamily="34" charset="0"/>
                <a:ea typeface="Calibri" pitchFamily="34" charset="-122"/>
                <a:cs typeface="Calibri" pitchFamily="34" charset="-120"/>
              </a:rPr>
              <a:t>Shops upload registration documents; an administrator checks them. Verified shops carry a badge customers can see.</a:t>
            </a:r>
            <a:endParaRPr lang="en-US" sz="1600" dirty="0"/>
          </a:p>
        </p:txBody>
      </p:sp>
      <p:sp>
        <p:nvSpPr>
          <p:cNvPr id="11" name="Shape 9"/>
          <p:cNvSpPr/>
          <p:nvPr/>
        </p:nvSpPr>
        <p:spPr>
          <a:xfrm>
            <a:off x="4297680" y="1554480"/>
            <a:ext cx="3566160" cy="2011680"/>
          </a:xfrm>
          <a:prstGeom prst="rect">
            <a:avLst/>
          </a:prstGeom>
          <a:solidFill>
            <a:srgbClr val="ECFDF5"/>
          </a:solidFill>
          <a:ln w="9525">
            <a:solidFill>
              <a:srgbClr val="E2E8F0"/>
            </a:solidFill>
            <a:prstDash val="solid"/>
          </a:ln>
        </p:spPr>
      </p:sp>
      <p:sp>
        <p:nvSpPr>
          <p:cNvPr id="12" name="Shape 10"/>
          <p:cNvSpPr/>
          <p:nvPr/>
        </p:nvSpPr>
        <p:spPr>
          <a:xfrm>
            <a:off x="4297680" y="1554480"/>
            <a:ext cx="3566160" cy="73152"/>
          </a:xfrm>
          <a:prstGeom prst="rect">
            <a:avLst/>
          </a:prstGeom>
          <a:solidFill>
            <a:srgbClr val="047857"/>
          </a:solidFill>
          <a:ln w="12700">
            <a:solidFill>
              <a:srgbClr val="047857"/>
            </a:solidFill>
            <a:prstDash val="solid"/>
          </a:ln>
        </p:spPr>
      </p:sp>
      <p:sp>
        <p:nvSpPr>
          <p:cNvPr id="13" name="Text 11"/>
          <p:cNvSpPr/>
          <p:nvPr/>
        </p:nvSpPr>
        <p:spPr>
          <a:xfrm>
            <a:off x="4498848" y="1737360"/>
            <a:ext cx="3163824" cy="457200"/>
          </a:xfrm>
          <a:prstGeom prst="rect">
            <a:avLst/>
          </a:prstGeom>
          <a:noFill/>
          <a:ln/>
        </p:spPr>
        <p:txBody>
          <a:bodyPr wrap="square" rtlCol="0" anchor="t"/>
          <a:lstStyle/>
          <a:p>
            <a:pPr indent="0" marL="0">
              <a:buNone/>
            </a:pPr>
            <a:r>
              <a:rPr lang="en-US" sz="1700" b="1" dirty="0">
                <a:solidFill>
                  <a:srgbClr val="047857"/>
                </a:solidFill>
                <a:latin typeface="Calibri" pitchFamily="34" charset="0"/>
                <a:ea typeface="Calibri" pitchFamily="34" charset="-122"/>
                <a:cs typeface="Calibri" pitchFamily="34" charset="-120"/>
              </a:rPr>
              <a:t>Approved couriers</a:t>
            </a:r>
            <a:endParaRPr lang="en-US" sz="1700" dirty="0"/>
          </a:p>
        </p:txBody>
      </p:sp>
      <p:sp>
        <p:nvSpPr>
          <p:cNvPr id="14" name="Text 12"/>
          <p:cNvSpPr/>
          <p:nvPr/>
        </p:nvSpPr>
        <p:spPr>
          <a:xfrm>
            <a:off x="4498848" y="2212848"/>
            <a:ext cx="3163824" cy="1188720"/>
          </a:xfrm>
          <a:prstGeom prst="rect">
            <a:avLst/>
          </a:prstGeom>
          <a:noFill/>
          <a:ln/>
        </p:spPr>
        <p:txBody>
          <a:bodyPr wrap="square" rtlCol="0" anchor="t"/>
          <a:lstStyle/>
          <a:p>
            <a:pPr indent="0" marL="0">
              <a:spcAft>
                <a:spcPts val="400"/>
              </a:spcAft>
              <a:buNone/>
            </a:pPr>
            <a:r>
              <a:rPr lang="en-US" sz="1600" dirty="0">
                <a:solidFill>
                  <a:srgbClr val="334155"/>
                </a:solidFill>
                <a:latin typeface="Calibri" pitchFamily="34" charset="0"/>
                <a:ea typeface="Calibri" pitchFamily="34" charset="-122"/>
                <a:cs typeface="Calibri" pitchFamily="34" charset="-120"/>
              </a:rPr>
              <a:t>New couriers cannot take any work until an administrator approves them.</a:t>
            </a:r>
            <a:endParaRPr lang="en-US" sz="1600" dirty="0"/>
          </a:p>
        </p:txBody>
      </p:sp>
      <p:sp>
        <p:nvSpPr>
          <p:cNvPr id="15" name="Shape 13"/>
          <p:cNvSpPr/>
          <p:nvPr/>
        </p:nvSpPr>
        <p:spPr>
          <a:xfrm>
            <a:off x="8046720" y="1554480"/>
            <a:ext cx="3566160" cy="2011680"/>
          </a:xfrm>
          <a:prstGeom prst="rect">
            <a:avLst/>
          </a:prstGeom>
          <a:solidFill>
            <a:srgbClr val="FFF1F2"/>
          </a:solidFill>
          <a:ln w="9525">
            <a:solidFill>
              <a:srgbClr val="E2E8F0"/>
            </a:solidFill>
            <a:prstDash val="solid"/>
          </a:ln>
        </p:spPr>
      </p:sp>
      <p:sp>
        <p:nvSpPr>
          <p:cNvPr id="16" name="Shape 14"/>
          <p:cNvSpPr/>
          <p:nvPr/>
        </p:nvSpPr>
        <p:spPr>
          <a:xfrm>
            <a:off x="8046720" y="1554480"/>
            <a:ext cx="3566160" cy="73152"/>
          </a:xfrm>
          <a:prstGeom prst="rect">
            <a:avLst/>
          </a:prstGeom>
          <a:solidFill>
            <a:srgbClr val="E11D48"/>
          </a:solidFill>
          <a:ln w="12700">
            <a:solidFill>
              <a:srgbClr val="E11D48"/>
            </a:solidFill>
            <a:prstDash val="solid"/>
          </a:ln>
        </p:spPr>
      </p:sp>
      <p:sp>
        <p:nvSpPr>
          <p:cNvPr id="17" name="Text 15"/>
          <p:cNvSpPr/>
          <p:nvPr/>
        </p:nvSpPr>
        <p:spPr>
          <a:xfrm>
            <a:off x="8247888" y="1737360"/>
            <a:ext cx="3163824" cy="457200"/>
          </a:xfrm>
          <a:prstGeom prst="rect">
            <a:avLst/>
          </a:prstGeom>
          <a:noFill/>
          <a:ln/>
        </p:spPr>
        <p:txBody>
          <a:bodyPr wrap="square" rtlCol="0" anchor="t"/>
          <a:lstStyle/>
          <a:p>
            <a:pPr indent="0" marL="0">
              <a:buNone/>
            </a:pPr>
            <a:r>
              <a:rPr lang="en-US" sz="1700" b="1" dirty="0">
                <a:solidFill>
                  <a:srgbClr val="E11D48"/>
                </a:solidFill>
                <a:latin typeface="Calibri" pitchFamily="34" charset="0"/>
                <a:ea typeface="Calibri" pitchFamily="34" charset="-122"/>
                <a:cs typeface="Calibri" pitchFamily="34" charset="-120"/>
              </a:rPr>
              <a:t>Complaints with consequences</a:t>
            </a:r>
            <a:endParaRPr lang="en-US" sz="1700" dirty="0"/>
          </a:p>
        </p:txBody>
      </p:sp>
      <p:sp>
        <p:nvSpPr>
          <p:cNvPr id="18" name="Text 16"/>
          <p:cNvSpPr/>
          <p:nvPr/>
        </p:nvSpPr>
        <p:spPr>
          <a:xfrm>
            <a:off x="8247888" y="2212848"/>
            <a:ext cx="3163824" cy="1188720"/>
          </a:xfrm>
          <a:prstGeom prst="rect">
            <a:avLst/>
          </a:prstGeom>
          <a:noFill/>
          <a:ln/>
        </p:spPr>
        <p:txBody>
          <a:bodyPr wrap="square" rtlCol="0" anchor="t"/>
          <a:lstStyle/>
          <a:p>
            <a:pPr indent="0" marL="0">
              <a:spcAft>
                <a:spcPts val="400"/>
              </a:spcAft>
              <a:buNone/>
            </a:pPr>
            <a:r>
              <a:rPr lang="en-US" sz="1600" dirty="0">
                <a:solidFill>
                  <a:srgbClr val="334155"/>
                </a:solidFill>
                <a:latin typeface="Calibri" pitchFamily="34" charset="0"/>
                <a:ea typeface="Calibri" pitchFamily="34" charset="-122"/>
                <a:cs typeface="Calibri" pitchFamily="34" charset="-120"/>
              </a:rPr>
              <a:t>Anyone on an order can report another party on it. Three complaints flag them; suspended shops show as Unavailable.</a:t>
            </a:r>
            <a:endParaRPr lang="en-US" sz="1600" dirty="0"/>
          </a:p>
        </p:txBody>
      </p:sp>
      <p:sp>
        <p:nvSpPr>
          <p:cNvPr id="19" name="Text 17"/>
          <p:cNvSpPr/>
          <p:nvPr/>
        </p:nvSpPr>
        <p:spPr>
          <a:xfrm>
            <a:off x="548640" y="3840480"/>
            <a:ext cx="10972800" cy="411480"/>
          </a:xfrm>
          <a:prstGeom prst="rect">
            <a:avLst/>
          </a:prstGeom>
          <a:noFill/>
          <a:ln/>
        </p:spPr>
        <p:txBody>
          <a:bodyPr wrap="square"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Protecting accounts and data</a:t>
            </a:r>
            <a:endParaRPr lang="en-US" sz="1700" dirty="0"/>
          </a:p>
        </p:txBody>
      </p:sp>
      <p:sp>
        <p:nvSpPr>
          <p:cNvPr id="20" name="Text 18"/>
          <p:cNvSpPr/>
          <p:nvPr/>
        </p:nvSpPr>
        <p:spPr>
          <a:xfrm>
            <a:off x="548640" y="4297680"/>
            <a:ext cx="5486400" cy="1920240"/>
          </a:xfrm>
          <a:prstGeom prst="rect">
            <a:avLst/>
          </a:prstGeom>
          <a:noFill/>
          <a:ln/>
        </p:spPr>
        <p:txBody>
          <a:bodyPr wrap="square" rtlCol="0" anchor="t"/>
          <a:lstStyle/>
          <a:p>
            <a:pPr marL="203200" indent="-203200">
              <a:spcAft>
                <a:spcPts val="800"/>
              </a:spcAft>
              <a:buSzPct val="100000"/>
              <a:buChar char="•"/>
            </a:pPr>
            <a:r>
              <a:rPr lang="en-US" sz="1600" dirty="0">
                <a:solidFill>
                  <a:srgbClr val="334155"/>
                </a:solidFill>
                <a:latin typeface="Calibri" pitchFamily="34" charset="0"/>
                <a:ea typeface="Calibri" pitchFamily="34" charset="-122"/>
                <a:cs typeface="Calibri" pitchFamily="34" charset="-120"/>
              </a:rPr>
              <a:t>Passwords stored as bcrypt hashes, never as typed</a:t>
            </a:r>
            <a:endParaRPr lang="en-US" sz="1600" dirty="0"/>
          </a:p>
          <a:p>
            <a:pPr marL="203200" indent="-203200">
              <a:spcAft>
                <a:spcPts val="800"/>
              </a:spcAft>
              <a:buSzPct val="100000"/>
              <a:buChar char="•"/>
            </a:pPr>
            <a:r>
              <a:rPr lang="en-US" sz="1600" dirty="0">
                <a:solidFill>
                  <a:srgbClr val="334155"/>
                </a:solidFill>
                <a:latin typeface="Calibri" pitchFamily="34" charset="0"/>
                <a:ea typeface="Calibri" pitchFamily="34" charset="-122"/>
                <a:cs typeface="Calibri" pitchFamily="34" charset="-120"/>
              </a:rPr>
              <a:t>Signed session tokens that expire after 7 days</a:t>
            </a:r>
            <a:endParaRPr lang="en-US" sz="1600" dirty="0"/>
          </a:p>
          <a:p>
            <a:pPr marL="203200" indent="-203200">
              <a:spcAft>
                <a:spcPts val="800"/>
              </a:spcAft>
              <a:buSzPct val="100000"/>
              <a:buChar char="•"/>
            </a:pPr>
            <a:r>
              <a:rPr lang="en-US" sz="1600" dirty="0">
                <a:solidFill>
                  <a:srgbClr val="334155"/>
                </a:solidFill>
                <a:latin typeface="Calibri" pitchFamily="34" charset="0"/>
                <a:ea typeface="Calibri" pitchFamily="34" charset="-122"/>
                <a:cs typeface="Calibri" pitchFamily="34" charset="-120"/>
              </a:rPr>
              <a:t>Repeated wrong passwords are blocked; sign-ups are capped</a:t>
            </a:r>
            <a:endParaRPr lang="en-US" sz="1600" dirty="0"/>
          </a:p>
        </p:txBody>
      </p:sp>
      <p:sp>
        <p:nvSpPr>
          <p:cNvPr id="21" name="Text 19"/>
          <p:cNvSpPr/>
          <p:nvPr/>
        </p:nvSpPr>
        <p:spPr>
          <a:xfrm>
            <a:off x="6126480" y="4297680"/>
            <a:ext cx="5486400" cy="1920240"/>
          </a:xfrm>
          <a:prstGeom prst="rect">
            <a:avLst/>
          </a:prstGeom>
          <a:noFill/>
          <a:ln/>
        </p:spPr>
        <p:txBody>
          <a:bodyPr wrap="square" rtlCol="0" anchor="t"/>
          <a:lstStyle/>
          <a:p>
            <a:pPr marL="203200" indent="-203200">
              <a:spcAft>
                <a:spcPts val="800"/>
              </a:spcAft>
              <a:buSzPct val="100000"/>
              <a:buChar char="•"/>
            </a:pPr>
            <a:r>
              <a:rPr lang="en-US" sz="1600" dirty="0">
                <a:solidFill>
                  <a:srgbClr val="334155"/>
                </a:solidFill>
                <a:latin typeface="Calibri" pitchFamily="34" charset="0"/>
                <a:ea typeface="Calibri" pitchFamily="34" charset="-122"/>
                <a:cs typeface="Calibri" pitchFamily="34" charset="-120"/>
              </a:rPr>
              <a:t>Every rule checked on the server — shops can only change their own products</a:t>
            </a:r>
            <a:endParaRPr lang="en-US" sz="1600" dirty="0"/>
          </a:p>
          <a:p>
            <a:pPr marL="203200" indent="-203200">
              <a:spcAft>
                <a:spcPts val="800"/>
              </a:spcAft>
              <a:buSzPct val="100000"/>
              <a:buChar char="•"/>
            </a:pPr>
            <a:r>
              <a:rPr lang="en-US" sz="1600" dirty="0">
                <a:solidFill>
                  <a:srgbClr val="334155"/>
                </a:solidFill>
                <a:latin typeface="Calibri" pitchFamily="34" charset="0"/>
                <a:ea typeface="Calibri" pitchFamily="34" charset="-122"/>
                <a:cs typeface="Calibri" pitchFamily="34" charset="-120"/>
              </a:rPr>
              <a:t>All database queries parameterised against injection</a:t>
            </a:r>
            <a:endParaRPr lang="en-US" sz="1600" dirty="0"/>
          </a:p>
          <a:p>
            <a:pPr marL="203200" indent="-203200">
              <a:spcAft>
                <a:spcPts val="800"/>
              </a:spcAft>
              <a:buSzPct val="100000"/>
              <a:buChar char="•"/>
            </a:pPr>
            <a:r>
              <a:rPr lang="en-US" sz="1600" dirty="0">
                <a:solidFill>
                  <a:srgbClr val="334155"/>
                </a:solidFill>
                <a:latin typeface="Calibri" pitchFamily="34" charset="0"/>
                <a:ea typeface="Calibri" pitchFamily="34" charset="-122"/>
                <a:cs typeface="Calibri" pitchFamily="34" charset="-120"/>
              </a:rPr>
              <a:t>Deleted accounts are recoverable for 30 days before removal</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4F46E5"/>
          </a:solidFill>
          <a:ln w="12700">
            <a:solidFill>
              <a:srgbClr val="4F46E5"/>
            </a:solidFill>
            <a:prstDash val="solid"/>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TESTING</a:t>
            </a:r>
            <a:endParaRPr lang="en-US" sz="1200" dirty="0"/>
          </a:p>
        </p:txBody>
      </p:sp>
      <p:sp>
        <p:nvSpPr>
          <p:cNvPr id="4" name="Text 2"/>
          <p:cNvSpPr/>
          <p:nvPr/>
        </p:nvSpPr>
        <p:spPr>
          <a:xfrm>
            <a:off x="548640" y="621792"/>
            <a:ext cx="11155680" cy="73152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How we know it works</a:t>
            </a:r>
            <a:endParaRPr lang="en-US" sz="3000" dirty="0"/>
          </a:p>
        </p:txBody>
      </p:sp>
      <p:sp>
        <p:nvSpPr>
          <p:cNvPr id="5" name="Text 3"/>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Zamglam  ·  multi-vendor e-commerce with integrated courier delivery</a:t>
            </a:r>
            <a:endParaRPr lang="en-US" sz="1000" dirty="0"/>
          </a:p>
        </p:txBody>
      </p:sp>
      <p:sp>
        <p:nvSpPr>
          <p:cNvPr id="6" name="Text 4"/>
          <p:cNvSpPr/>
          <p:nvPr/>
        </p:nvSpPr>
        <p:spPr>
          <a:xfrm>
            <a:off x="10698480" y="6400800"/>
            <a:ext cx="100584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9 / 12</a:t>
            </a:r>
            <a:endParaRPr lang="en-US" sz="1000" dirty="0"/>
          </a:p>
        </p:txBody>
      </p:sp>
      <p:sp>
        <p:nvSpPr>
          <p:cNvPr id="7" name="Shape 5"/>
          <p:cNvSpPr/>
          <p:nvPr/>
        </p:nvSpPr>
        <p:spPr>
          <a:xfrm>
            <a:off x="548640" y="1554480"/>
            <a:ext cx="3520440" cy="1600200"/>
          </a:xfrm>
          <a:prstGeom prst="rect">
            <a:avLst/>
          </a:prstGeom>
          <a:solidFill>
            <a:srgbClr val="F8FAFC"/>
          </a:solidFill>
          <a:ln w="9525">
            <a:solidFill>
              <a:srgbClr val="E2E8F0"/>
            </a:solidFill>
            <a:prstDash val="solid"/>
          </a:ln>
        </p:spPr>
      </p:sp>
      <p:sp>
        <p:nvSpPr>
          <p:cNvPr id="8" name="Text 6"/>
          <p:cNvSpPr/>
          <p:nvPr/>
        </p:nvSpPr>
        <p:spPr>
          <a:xfrm>
            <a:off x="548640" y="1600200"/>
            <a:ext cx="3520440" cy="914400"/>
          </a:xfrm>
          <a:prstGeom prst="rect">
            <a:avLst/>
          </a:prstGeom>
          <a:noFill/>
          <a:ln/>
        </p:spPr>
        <p:txBody>
          <a:bodyPr wrap="square" rtlCol="0" anchor="ctr"/>
          <a:lstStyle/>
          <a:p>
            <a:pPr algn="ctr" indent="0" marL="0">
              <a:buNone/>
            </a:pPr>
            <a:r>
              <a:rPr lang="en-US" sz="4800" b="1" dirty="0">
                <a:solidFill>
                  <a:srgbClr val="4F46E5"/>
                </a:solidFill>
                <a:latin typeface="Calibri" pitchFamily="34" charset="0"/>
                <a:ea typeface="Calibri" pitchFamily="34" charset="-122"/>
                <a:cs typeface="Calibri" pitchFamily="34" charset="-120"/>
              </a:rPr>
              <a:t>192</a:t>
            </a:r>
            <a:endParaRPr lang="en-US" sz="4800" dirty="0"/>
          </a:p>
        </p:txBody>
      </p:sp>
      <p:sp>
        <p:nvSpPr>
          <p:cNvPr id="9" name="Text 7"/>
          <p:cNvSpPr/>
          <p:nvPr/>
        </p:nvSpPr>
        <p:spPr>
          <a:xfrm>
            <a:off x="548640" y="2514600"/>
            <a:ext cx="3520440" cy="502920"/>
          </a:xfrm>
          <a:prstGeom prst="rect">
            <a:avLst/>
          </a:prstGeom>
          <a:noFill/>
          <a:ln/>
        </p:spPr>
        <p:txBody>
          <a:bodyPr wrap="square" rtlCol="0" anchor="ctr"/>
          <a:lstStyle/>
          <a:p>
            <a:pPr algn="ctr" indent="0" marL="0">
              <a:buNone/>
            </a:pPr>
            <a:r>
              <a:rPr lang="en-US" sz="1500" dirty="0">
                <a:solidFill>
                  <a:srgbClr val="475569"/>
                </a:solidFill>
                <a:latin typeface="Calibri" pitchFamily="34" charset="0"/>
                <a:ea typeface="Calibri" pitchFamily="34" charset="-122"/>
                <a:cs typeface="Calibri" pitchFamily="34" charset="-120"/>
              </a:rPr>
              <a:t>backend tests</a:t>
            </a:r>
            <a:endParaRPr lang="en-US" sz="1500" dirty="0"/>
          </a:p>
        </p:txBody>
      </p:sp>
      <p:sp>
        <p:nvSpPr>
          <p:cNvPr id="10" name="Shape 8"/>
          <p:cNvSpPr/>
          <p:nvPr/>
        </p:nvSpPr>
        <p:spPr>
          <a:xfrm>
            <a:off x="4297680" y="1554480"/>
            <a:ext cx="3520440" cy="1600200"/>
          </a:xfrm>
          <a:prstGeom prst="rect">
            <a:avLst/>
          </a:prstGeom>
          <a:solidFill>
            <a:srgbClr val="F8FAFC"/>
          </a:solidFill>
          <a:ln w="9525">
            <a:solidFill>
              <a:srgbClr val="E2E8F0"/>
            </a:solidFill>
            <a:prstDash val="solid"/>
          </a:ln>
        </p:spPr>
      </p:sp>
      <p:sp>
        <p:nvSpPr>
          <p:cNvPr id="11" name="Text 9"/>
          <p:cNvSpPr/>
          <p:nvPr/>
        </p:nvSpPr>
        <p:spPr>
          <a:xfrm>
            <a:off x="4297680" y="1600200"/>
            <a:ext cx="3520440" cy="914400"/>
          </a:xfrm>
          <a:prstGeom prst="rect">
            <a:avLst/>
          </a:prstGeom>
          <a:noFill/>
          <a:ln/>
        </p:spPr>
        <p:txBody>
          <a:bodyPr wrap="square" rtlCol="0" anchor="ctr"/>
          <a:lstStyle/>
          <a:p>
            <a:pPr algn="ctr" indent="0" marL="0">
              <a:buNone/>
            </a:pPr>
            <a:r>
              <a:rPr lang="en-US" sz="4800" b="1" dirty="0">
                <a:solidFill>
                  <a:srgbClr val="7E22CE"/>
                </a:solidFill>
                <a:latin typeface="Calibri" pitchFamily="34" charset="0"/>
                <a:ea typeface="Calibri" pitchFamily="34" charset="-122"/>
                <a:cs typeface="Calibri" pitchFamily="34" charset="-120"/>
              </a:rPr>
              <a:t>18</a:t>
            </a:r>
            <a:endParaRPr lang="en-US" sz="4800" dirty="0"/>
          </a:p>
        </p:txBody>
      </p:sp>
      <p:sp>
        <p:nvSpPr>
          <p:cNvPr id="12" name="Text 10"/>
          <p:cNvSpPr/>
          <p:nvPr/>
        </p:nvSpPr>
        <p:spPr>
          <a:xfrm>
            <a:off x="4297680" y="2514600"/>
            <a:ext cx="3520440" cy="502920"/>
          </a:xfrm>
          <a:prstGeom prst="rect">
            <a:avLst/>
          </a:prstGeom>
          <a:noFill/>
          <a:ln/>
        </p:spPr>
        <p:txBody>
          <a:bodyPr wrap="square" rtlCol="0" anchor="ctr"/>
          <a:lstStyle/>
          <a:p>
            <a:pPr algn="ctr" indent="0" marL="0">
              <a:buNone/>
            </a:pPr>
            <a:r>
              <a:rPr lang="en-US" sz="1500" dirty="0">
                <a:solidFill>
                  <a:srgbClr val="475569"/>
                </a:solidFill>
                <a:latin typeface="Calibri" pitchFamily="34" charset="0"/>
                <a:ea typeface="Calibri" pitchFamily="34" charset="-122"/>
                <a:cs typeface="Calibri" pitchFamily="34" charset="-120"/>
              </a:rPr>
              <a:t>frontend tests</a:t>
            </a:r>
            <a:endParaRPr lang="en-US" sz="1500" dirty="0"/>
          </a:p>
        </p:txBody>
      </p:sp>
      <p:sp>
        <p:nvSpPr>
          <p:cNvPr id="13" name="Shape 11"/>
          <p:cNvSpPr/>
          <p:nvPr/>
        </p:nvSpPr>
        <p:spPr>
          <a:xfrm>
            <a:off x="8046720" y="1554480"/>
            <a:ext cx="3520440" cy="1600200"/>
          </a:xfrm>
          <a:prstGeom prst="rect">
            <a:avLst/>
          </a:prstGeom>
          <a:solidFill>
            <a:srgbClr val="F8FAFC"/>
          </a:solidFill>
          <a:ln w="9525">
            <a:solidFill>
              <a:srgbClr val="E2E8F0"/>
            </a:solidFill>
            <a:prstDash val="solid"/>
          </a:ln>
        </p:spPr>
      </p:sp>
      <p:sp>
        <p:nvSpPr>
          <p:cNvPr id="14" name="Text 12"/>
          <p:cNvSpPr/>
          <p:nvPr/>
        </p:nvSpPr>
        <p:spPr>
          <a:xfrm>
            <a:off x="8046720" y="1600200"/>
            <a:ext cx="3520440" cy="914400"/>
          </a:xfrm>
          <a:prstGeom prst="rect">
            <a:avLst/>
          </a:prstGeom>
          <a:noFill/>
          <a:ln/>
        </p:spPr>
        <p:txBody>
          <a:bodyPr wrap="square" rtlCol="0" anchor="ctr"/>
          <a:lstStyle/>
          <a:p>
            <a:pPr algn="ctr" indent="0" marL="0">
              <a:buNone/>
            </a:pPr>
            <a:r>
              <a:rPr lang="en-US" sz="4800" b="1" dirty="0">
                <a:solidFill>
                  <a:srgbClr val="E11D48"/>
                </a:solidFill>
                <a:latin typeface="Calibri" pitchFamily="34" charset="0"/>
                <a:ea typeface="Calibri" pitchFamily="34" charset="-122"/>
                <a:cs typeface="Calibri" pitchFamily="34" charset="-120"/>
              </a:rPr>
              <a:t>5</a:t>
            </a:r>
            <a:endParaRPr lang="en-US" sz="4800" dirty="0"/>
          </a:p>
        </p:txBody>
      </p:sp>
      <p:sp>
        <p:nvSpPr>
          <p:cNvPr id="15" name="Text 13"/>
          <p:cNvSpPr/>
          <p:nvPr/>
        </p:nvSpPr>
        <p:spPr>
          <a:xfrm>
            <a:off x="8046720" y="2514600"/>
            <a:ext cx="3520440" cy="502920"/>
          </a:xfrm>
          <a:prstGeom prst="rect">
            <a:avLst/>
          </a:prstGeom>
          <a:noFill/>
          <a:ln/>
        </p:spPr>
        <p:txBody>
          <a:bodyPr wrap="square" rtlCol="0" anchor="ctr"/>
          <a:lstStyle/>
          <a:p>
            <a:pPr algn="ctr" indent="0" marL="0">
              <a:buNone/>
            </a:pPr>
            <a:r>
              <a:rPr lang="en-US" sz="1500" dirty="0">
                <a:solidFill>
                  <a:srgbClr val="475569"/>
                </a:solidFill>
                <a:latin typeface="Calibri" pitchFamily="34" charset="0"/>
                <a:ea typeface="Calibri" pitchFamily="34" charset="-122"/>
                <a:cs typeface="Calibri" pitchFamily="34" charset="-120"/>
              </a:rPr>
              <a:t>bugs found on a fresh install</a:t>
            </a:r>
            <a:endParaRPr lang="en-US" sz="1500" dirty="0"/>
          </a:p>
        </p:txBody>
      </p:sp>
      <p:sp>
        <p:nvSpPr>
          <p:cNvPr id="16" name="Text 14"/>
          <p:cNvSpPr/>
          <p:nvPr/>
        </p:nvSpPr>
        <p:spPr>
          <a:xfrm>
            <a:off x="548640" y="3429000"/>
            <a:ext cx="6675120" cy="2743200"/>
          </a:xfrm>
          <a:prstGeom prst="rect">
            <a:avLst/>
          </a:prstGeom>
          <a:noFill/>
          <a:ln/>
        </p:spPr>
        <p:txBody>
          <a:bodyPr wrap="square" rtlCol="0" anchor="t"/>
          <a:lstStyle/>
          <a:p>
            <a:pPr marL="203200" indent="-203200">
              <a:spcAft>
                <a:spcPts val="1200"/>
              </a:spcAft>
              <a:buSzPct val="100000"/>
              <a:buChar char="•"/>
            </a:pPr>
            <a:r>
              <a:rPr lang="en-US" sz="1650" dirty="0">
                <a:solidFill>
                  <a:srgbClr val="334155"/>
                </a:solidFill>
                <a:latin typeface="Calibri" pitchFamily="34" charset="0"/>
                <a:ea typeface="Calibri" pitchFamily="34" charset="-122"/>
                <a:cs typeface="Calibri" pitchFamily="34" charset="-120"/>
              </a:rPr>
              <a:t>Tests drive the real application through its API, against a real test database — not a copy of its rules.</a:t>
            </a:r>
            <a:endParaRPr lang="en-US" sz="1650" dirty="0"/>
          </a:p>
          <a:p>
            <a:pPr marL="203200" indent="-203200">
              <a:spcAft>
                <a:spcPts val="1200"/>
              </a:spcAft>
              <a:buSzPct val="100000"/>
              <a:buChar char="•"/>
            </a:pPr>
            <a:r>
              <a:rPr lang="en-US" sz="1650" dirty="0">
                <a:solidFill>
                  <a:srgbClr val="334155"/>
                </a:solidFill>
                <a:latin typeface="Calibri" pitchFamily="34" charset="0"/>
                <a:ea typeface="Calibri" pitchFamily="34" charset="-122"/>
                <a:cs typeface="Calibri" pitchFamily="34" charset="-120"/>
              </a:rPr>
              <a:t>They cover sign-in, the catalogue, orders splitting into parcels, the full handover including denial, complaints and suspension, and the admin console.</a:t>
            </a:r>
            <a:endParaRPr lang="en-US" sz="1650" dirty="0"/>
          </a:p>
          <a:p>
            <a:pPr marL="203200" indent="-203200">
              <a:spcAft>
                <a:spcPts val="1200"/>
              </a:spcAft>
              <a:buSzPct val="100000"/>
              <a:buChar char="•"/>
            </a:pPr>
            <a:r>
              <a:rPr lang="en-US" sz="1650" dirty="0">
                <a:solidFill>
                  <a:srgbClr val="334155"/>
                </a:solidFill>
                <a:latin typeface="Calibri" pitchFamily="34" charset="0"/>
                <a:ea typeface="Calibri" pitchFamily="34" charset="-122"/>
                <a:cs typeface="Calibri" pitchFamily="34" charset="-120"/>
              </a:rPr>
              <a:t>Every test is named for a behaviour, so a failure says what broke.</a:t>
            </a:r>
            <a:endParaRPr lang="en-US" sz="1650" dirty="0"/>
          </a:p>
        </p:txBody>
      </p:sp>
      <p:sp>
        <p:nvSpPr>
          <p:cNvPr id="17" name="Shape 15"/>
          <p:cNvSpPr/>
          <p:nvPr/>
        </p:nvSpPr>
        <p:spPr>
          <a:xfrm>
            <a:off x="7498080" y="3429000"/>
            <a:ext cx="4114800" cy="2743200"/>
          </a:xfrm>
          <a:prstGeom prst="rect">
            <a:avLst/>
          </a:prstGeom>
          <a:solidFill>
            <a:srgbClr val="0F172A"/>
          </a:solidFill>
          <a:ln w="12700">
            <a:solidFill>
              <a:srgbClr val="0F172A"/>
            </a:solidFill>
            <a:prstDash val="solid"/>
          </a:ln>
        </p:spPr>
      </p:sp>
      <p:sp>
        <p:nvSpPr>
          <p:cNvPr id="18" name="Text 16"/>
          <p:cNvSpPr/>
          <p:nvPr/>
        </p:nvSpPr>
        <p:spPr>
          <a:xfrm>
            <a:off x="7680960" y="3566160"/>
            <a:ext cx="3840480" cy="2514600"/>
          </a:xfrm>
          <a:prstGeom prst="rect">
            <a:avLst/>
          </a:prstGeom>
          <a:noFill/>
          <a:ln/>
        </p:spPr>
        <p:txBody>
          <a:bodyPr wrap="square" rtlCol="0" anchor="t"/>
          <a:lstStyle/>
          <a:p>
            <a:pPr indent="0" marL="0">
              <a:lnSpc>
                <a:spcPct val="90000"/>
              </a:lnSpc>
              <a:spcAft>
                <a:spcPts val="1000"/>
              </a:spcAft>
              <a:buNone/>
            </a:pPr>
            <a:r>
              <a:rPr lang="en-US" sz="1300" dirty="0">
                <a:solidFill>
                  <a:srgbClr val="86EFAC"/>
                </a:solidFill>
                <a:latin typeface="Consolas" pitchFamily="34" charset="0"/>
                <a:ea typeface="Consolas" pitchFamily="34" charset="-122"/>
                <a:cs typeface="Consolas" pitchFamily="34" charset="-120"/>
              </a:rPr>
              <a:t>✓ a courier asks for the parcel rather</a:t>
            </a:r>
            <a:endParaRPr lang="en-US" sz="1300" dirty="0"/>
          </a:p>
          <a:p>
            <a:pPr indent="0" marL="0">
              <a:lnSpc>
                <a:spcPct val="90000"/>
              </a:lnSpc>
              <a:spcAft>
                <a:spcPts val="1000"/>
              </a:spcAft>
              <a:buNone/>
            </a:pPr>
            <a:r>
              <a:rPr lang="en-US" sz="1300" dirty="0">
                <a:solidFill>
                  <a:srgbClr val="86EFAC"/>
                </a:solidFill>
                <a:latin typeface="Consolas" pitchFamily="34" charset="0"/>
                <a:ea typeface="Consolas" pitchFamily="34" charset="-122"/>
                <a:cs typeface="Consolas" pitchFamily="34" charset="-120"/>
              </a:rPr>
              <a:t>   than simply taking it</a:t>
            </a:r>
            <a:endParaRPr lang="en-US" sz="1300" dirty="0"/>
          </a:p>
          <a:p>
            <a:pPr indent="0" marL="0">
              <a:lnSpc>
                <a:spcPct val="90000"/>
              </a:lnSpc>
              <a:spcAft>
                <a:spcPts val="1000"/>
              </a:spcAft>
              <a:buNone/>
            </a:pPr>
            <a:r>
              <a:rPr lang="en-US" sz="1300" dirty="0">
                <a:solidFill>
                  <a:srgbClr val="86EFAC"/>
                </a:solidFill>
                <a:latin typeface="Consolas" pitchFamily="34" charset="0"/>
                <a:ea typeface="Consolas" pitchFamily="34" charset="-122"/>
                <a:cs typeface="Consolas" pitchFamily="34" charset="-120"/>
              </a:rPr>
              <a:t>✓ a second courier cannot ask for a</a:t>
            </a:r>
            <a:endParaRPr lang="en-US" sz="1300" dirty="0"/>
          </a:p>
          <a:p>
            <a:pPr indent="0" marL="0">
              <a:lnSpc>
                <a:spcPct val="90000"/>
              </a:lnSpc>
              <a:spcAft>
                <a:spcPts val="1000"/>
              </a:spcAft>
              <a:buNone/>
            </a:pPr>
            <a:r>
              <a:rPr lang="en-US" sz="1300" dirty="0">
                <a:solidFill>
                  <a:srgbClr val="86EFAC"/>
                </a:solidFill>
                <a:latin typeface="Consolas" pitchFamily="34" charset="0"/>
                <a:ea typeface="Consolas" pitchFamily="34" charset="-122"/>
                <a:cs typeface="Consolas" pitchFamily="34" charset="-120"/>
              </a:rPr>
              <a:t>   parcel already spoken for</a:t>
            </a:r>
            <a:endParaRPr lang="en-US" sz="1300" dirty="0"/>
          </a:p>
          <a:p>
            <a:pPr indent="0" marL="0">
              <a:lnSpc>
                <a:spcPct val="90000"/>
              </a:lnSpc>
              <a:spcAft>
                <a:spcPts val="1000"/>
              </a:spcAft>
              <a:buNone/>
            </a:pPr>
            <a:r>
              <a:rPr lang="en-US" sz="1300" dirty="0">
                <a:solidFill>
                  <a:srgbClr val="86EFAC"/>
                </a:solidFill>
                <a:latin typeface="Consolas" pitchFamily="34" charset="0"/>
                <a:ea typeface="Consolas" pitchFamily="34" charset="-122"/>
                <a:cs typeface="Consolas" pitchFamily="34" charset="-120"/>
              </a:rPr>
              <a:t>✓ "not picked up" puts the parcel</a:t>
            </a:r>
            <a:endParaRPr lang="en-US" sz="1300" dirty="0"/>
          </a:p>
          <a:p>
            <a:pPr indent="0" marL="0">
              <a:lnSpc>
                <a:spcPct val="90000"/>
              </a:lnSpc>
              <a:spcAft>
                <a:spcPts val="1000"/>
              </a:spcAft>
              <a:buNone/>
            </a:pPr>
            <a:r>
              <a:rPr lang="en-US" sz="1300" dirty="0">
                <a:solidFill>
                  <a:srgbClr val="86EFAC"/>
                </a:solidFill>
                <a:latin typeface="Consolas" pitchFamily="34" charset="0"/>
                <a:ea typeface="Consolas" pitchFamily="34" charset="-122"/>
                <a:cs typeface="Consolas" pitchFamily="34" charset="-120"/>
              </a:rPr>
              <a:t>   back in the pool</a:t>
            </a:r>
            <a:endParaRPr lang="en-US" sz="1300" dirty="0"/>
          </a:p>
          <a:p>
            <a:pPr indent="0" marL="0">
              <a:lnSpc>
                <a:spcPct val="90000"/>
              </a:lnSpc>
              <a:spcAft>
                <a:spcPts val="1000"/>
              </a:spcAft>
              <a:buNone/>
            </a:pPr>
            <a:r>
              <a:rPr lang="en-US" sz="1300" dirty="0">
                <a:solidFill>
                  <a:srgbClr val="86EFAC"/>
                </a:solidFill>
                <a:latin typeface="Consolas" pitchFamily="34" charset="0"/>
                <a:ea typeface="Consolas" pitchFamily="34" charset="-122"/>
                <a:cs typeface="Consolas" pitchFamily="34" charset="-120"/>
              </a:rPr>
              <a:t>✓ a deleted shop’s products leave</a:t>
            </a:r>
            <a:endParaRPr lang="en-US" sz="1300" dirty="0"/>
          </a:p>
          <a:p>
            <a:pPr indent="0" marL="0">
              <a:lnSpc>
                <a:spcPct val="90000"/>
              </a:lnSpc>
              <a:spcAft>
                <a:spcPts val="1000"/>
              </a:spcAft>
              <a:buNone/>
            </a:pPr>
            <a:r>
              <a:rPr lang="en-US" sz="1300" dirty="0">
                <a:solidFill>
                  <a:srgbClr val="86EFAC"/>
                </a:solidFill>
                <a:latin typeface="Consolas" pitchFamily="34" charset="0"/>
                <a:ea typeface="Consolas" pitchFamily="34" charset="-122"/>
                <a:cs typeface="Consolas" pitchFamily="34" charset="-120"/>
              </a:rPr>
              <a:t>   the catalogue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4F46E5"/>
          </a:solidFill>
          <a:ln w="12700">
            <a:solidFill>
              <a:srgbClr val="4F46E5"/>
            </a:solidFill>
            <a:prstDash val="solid"/>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OUTCOMES</a:t>
            </a:r>
            <a:endParaRPr lang="en-US" sz="1200" dirty="0"/>
          </a:p>
        </p:txBody>
      </p:sp>
      <p:sp>
        <p:nvSpPr>
          <p:cNvPr id="4" name="Text 2"/>
          <p:cNvSpPr/>
          <p:nvPr/>
        </p:nvSpPr>
        <p:spPr>
          <a:xfrm>
            <a:off x="548640" y="621792"/>
            <a:ext cx="11155680" cy="73152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Measured against the four objectives</a:t>
            </a:r>
            <a:endParaRPr lang="en-US" sz="3000" dirty="0"/>
          </a:p>
        </p:txBody>
      </p:sp>
      <p:sp>
        <p:nvSpPr>
          <p:cNvPr id="5" name="Text 3"/>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Zamglam  ·  multi-vendor e-commerce with integrated courier delivery</a:t>
            </a:r>
            <a:endParaRPr lang="en-US" sz="1000" dirty="0"/>
          </a:p>
        </p:txBody>
      </p:sp>
      <p:sp>
        <p:nvSpPr>
          <p:cNvPr id="6" name="Text 4"/>
          <p:cNvSpPr/>
          <p:nvPr/>
        </p:nvSpPr>
        <p:spPr>
          <a:xfrm>
            <a:off x="10698480" y="6400800"/>
            <a:ext cx="100584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10 / 12</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457200"/>
                <a:gridCol w="3291840"/>
                <a:gridCol w="1280160"/>
                <a:gridCol w="603504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Objective</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Outcome</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Evidence</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777240">
                <a:tc>
                  <a:txBody>
                    <a:bodyPr/>
                    <a:lstStyle/>
                    <a:p>
                      <a:pPr indent="0" marL="0">
                        <a:buNone/>
                      </a:pPr>
                      <a:r>
                        <a:rPr lang="en-US" sz="1350" b="1" dirty="0">
                          <a:solidFill>
                            <a:srgbClr val="334155"/>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Secure multi-vendor e-commerce system</a:t>
                      </a:r>
                      <a:endParaRPr lang="en-US" sz="13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350" b="1" dirty="0">
                          <a:solidFill>
                            <a:srgbClr val="047857"/>
                          </a:solidFill>
                          <a:latin typeface="Calibri" pitchFamily="34" charset="0"/>
                          <a:ea typeface="Calibri" pitchFamily="34" charset="-122"/>
                          <a:cs typeface="Calibri" pitchFamily="34" charset="-120"/>
                        </a:rPr>
                        <a:t>Met</a:t>
                      </a:r>
                      <a:endParaRPr lang="en-US" sz="13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Many shops in one catalogue; baskets split into one parcel per shop</a:t>
                      </a:r>
                      <a:endParaRPr lang="en-US" sz="13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777240">
                <a:tc>
                  <a:txBody>
                    <a:bodyPr/>
                    <a:lstStyle/>
                    <a:p>
                      <a:pPr indent="0" marL="0">
                        <a:buNone/>
                      </a:pPr>
                      <a:r>
                        <a:rPr lang="en-US" sz="1350" b="1" dirty="0">
                          <a:solidFill>
                            <a:srgbClr val="334155"/>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Courier module with scheduling and tracking</a:t>
                      </a:r>
                      <a:endParaRPr lang="en-US" sz="13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350" b="1" dirty="0">
                          <a:solidFill>
                            <a:srgbClr val="047857"/>
                          </a:solidFill>
                          <a:latin typeface="Calibri" pitchFamily="34" charset="0"/>
                          <a:ea typeface="Calibri" pitchFamily="34" charset="-122"/>
                          <a:cs typeface="Calibri" pitchFamily="34" charset="-120"/>
                        </a:rPr>
                        <a:t>Met*</a:t>
                      </a:r>
                      <a:endParaRPr lang="en-US" sz="13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Parcel tracking, collection pool, two-party handover, automatic assignment after an hour.  *Scheduling is built as dispatch, not customer time slots</a:t>
                      </a:r>
                      <a:endParaRPr lang="en-US" sz="13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777240">
                <a:tc>
                  <a:txBody>
                    <a:bodyPr/>
                    <a:lstStyle/>
                    <a:p>
                      <a:pPr indent="0" marL="0">
                        <a:buNone/>
                      </a:pPr>
                      <a:r>
                        <a:rPr lang="en-US" sz="1350" b="1" dirty="0">
                          <a:solidFill>
                            <a:srgbClr val="334155"/>
                          </a:solidFill>
                          <a:latin typeface="Calibri" pitchFamily="34" charset="0"/>
                          <a:ea typeface="Calibri" pitchFamily="34" charset="-122"/>
                          <a:cs typeface="Calibri" pitchFamily="34" charset="-120"/>
                        </a:rPr>
                        <a:t>3</a:t>
                      </a:r>
                      <a:endParaRPr lang="en-US" sz="13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User-friendly interfaces for customers and store owners</a:t>
                      </a:r>
                      <a:endParaRPr lang="en-US" sz="13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350" b="1" dirty="0">
                          <a:solidFill>
                            <a:srgbClr val="4F46E5"/>
                          </a:solidFill>
                          <a:latin typeface="Calibri" pitchFamily="34" charset="0"/>
                          <a:ea typeface="Calibri" pitchFamily="34" charset="-122"/>
                          <a:cs typeface="Calibri" pitchFamily="34" charset="-120"/>
                        </a:rPr>
                        <a:t>Exceeded</a:t>
                      </a:r>
                      <a:endParaRPr lang="en-US" sz="13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Four dashboards instead of two; works on a phone</a:t>
                      </a:r>
                      <a:endParaRPr lang="en-US" sz="13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777240">
                <a:tc>
                  <a:txBody>
                    <a:bodyPr/>
                    <a:lstStyle/>
                    <a:p>
                      <a:pPr indent="0" marL="0">
                        <a:buNone/>
                      </a:pPr>
                      <a:r>
                        <a:rPr lang="en-US" sz="1350" b="1" dirty="0">
                          <a:solidFill>
                            <a:srgbClr val="334155"/>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Secure authentication and data protection</a:t>
                      </a:r>
                      <a:endParaRPr lang="en-US" sz="13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350" b="1" dirty="0">
                          <a:solidFill>
                            <a:srgbClr val="047857"/>
                          </a:solidFill>
                          <a:latin typeface="Calibri" pitchFamily="34" charset="0"/>
                          <a:ea typeface="Calibri" pitchFamily="34" charset="-122"/>
                          <a:cs typeface="Calibri" pitchFamily="34" charset="-120"/>
                        </a:rPr>
                        <a:t>Met</a:t>
                      </a:r>
                      <a:endParaRPr lang="en-US" sz="13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Hashed passwords, expiring sessions, rate limiting, server-side checks</a:t>
                      </a:r>
                      <a:endParaRPr lang="en-US" sz="135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bl>
          </a:graphicData>
        </a:graphic>
      </p:graphicFrame>
      <p:sp>
        <p:nvSpPr>
          <p:cNvPr id="8" name="Shape 5"/>
          <p:cNvSpPr/>
          <p:nvPr/>
        </p:nvSpPr>
        <p:spPr>
          <a:xfrm>
            <a:off x="548640" y="5532120"/>
            <a:ext cx="11064240" cy="685800"/>
          </a:xfrm>
          <a:prstGeom prst="rect">
            <a:avLst/>
          </a:prstGeom>
          <a:solidFill>
            <a:srgbClr val="ECFDF5"/>
          </a:solidFill>
          <a:ln w="12700">
            <a:solidFill>
              <a:srgbClr val="047857"/>
            </a:solidFill>
            <a:prstDash val="solid"/>
          </a:ln>
        </p:spPr>
      </p:sp>
      <p:sp>
        <p:nvSpPr>
          <p:cNvPr id="9" name="Text 6"/>
          <p:cNvSpPr/>
          <p:nvPr/>
        </p:nvSpPr>
        <p:spPr>
          <a:xfrm>
            <a:off x="731520" y="5532120"/>
            <a:ext cx="10789920" cy="685800"/>
          </a:xfrm>
          <a:prstGeom prst="rect">
            <a:avLst/>
          </a:prstGeom>
          <a:noFill/>
          <a:ln/>
        </p:spPr>
        <p:txBody>
          <a:bodyPr wrap="square" rtlCol="0" anchor="ctr"/>
          <a:lstStyle/>
          <a:p>
            <a:pPr indent="0" marL="0">
              <a:buNone/>
            </a:pPr>
            <a:r>
              <a:rPr lang="en-US" sz="1400" b="1" dirty="0">
                <a:solidFill>
                  <a:srgbClr val="047857"/>
                </a:solidFill>
                <a:latin typeface="Calibri" pitchFamily="34" charset="0"/>
                <a:ea typeface="Calibri" pitchFamily="34" charset="-122"/>
                <a:cs typeface="Calibri" pitchFamily="34" charset="-120"/>
              </a:rPr>
              <a:t>All four expected outcomes delivered:  </a:t>
            </a:r>
            <a:pPr indent="0" marL="0">
              <a:buNone/>
            </a:pPr>
            <a:r>
              <a:rPr lang="en-US" sz="1400" dirty="0">
                <a:solidFill>
                  <a:srgbClr val="334155"/>
                </a:solidFill>
                <a:latin typeface="Calibri" pitchFamily="34" charset="0"/>
                <a:ea typeface="Calibri" pitchFamily="34" charset="-122"/>
                <a:cs typeface="Calibri" pitchFamily="34" charset="-120"/>
              </a:rPr>
              <a:t>the platform, courier management and tracking, vendor and customer dashboards, and system documentation with a user manual.</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4F46E5"/>
          </a:solidFill>
          <a:ln w="12700">
            <a:solidFill>
              <a:srgbClr val="4F46E5"/>
            </a:solidFill>
            <a:prstDash val="solid"/>
          </a:ln>
        </p:spPr>
      </p:sp>
      <p:sp>
        <p:nvSpPr>
          <p:cNvPr id="3" name="Text 1"/>
          <p:cNvSpPr/>
          <p:nvPr/>
        </p:nvSpPr>
        <p:spPr>
          <a:xfrm>
            <a:off x="548640" y="320040"/>
            <a:ext cx="10972800" cy="320040"/>
          </a:xfrm>
          <a:prstGeom prst="rect">
            <a:avLst/>
          </a:prstGeom>
          <a:noFill/>
          <a:ln/>
        </p:spPr>
        <p:txBody>
          <a:bodyPr wrap="square"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WHERE WE DEPARTED FROM THE PROPOSAL</a:t>
            </a:r>
            <a:endParaRPr lang="en-US" sz="1200" dirty="0"/>
          </a:p>
        </p:txBody>
      </p:sp>
      <p:sp>
        <p:nvSpPr>
          <p:cNvPr id="4" name="Text 2"/>
          <p:cNvSpPr/>
          <p:nvPr/>
        </p:nvSpPr>
        <p:spPr>
          <a:xfrm>
            <a:off x="548640" y="621792"/>
            <a:ext cx="11155680" cy="731520"/>
          </a:xfrm>
          <a:prstGeom prst="rect">
            <a:avLst/>
          </a:prstGeom>
          <a:noFill/>
          <a:ln/>
        </p:spPr>
        <p:txBody>
          <a:bodyPr wrap="square"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What changed, and why</a:t>
            </a:r>
            <a:endParaRPr lang="en-US" sz="3000" dirty="0"/>
          </a:p>
        </p:txBody>
      </p:sp>
      <p:sp>
        <p:nvSpPr>
          <p:cNvPr id="5" name="Text 3"/>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Zamglam  ·  multi-vendor e-commerce with integrated courier delivery</a:t>
            </a:r>
            <a:endParaRPr lang="en-US" sz="1000" dirty="0"/>
          </a:p>
        </p:txBody>
      </p:sp>
      <p:sp>
        <p:nvSpPr>
          <p:cNvPr id="6" name="Text 4"/>
          <p:cNvSpPr/>
          <p:nvPr/>
        </p:nvSpPr>
        <p:spPr>
          <a:xfrm>
            <a:off x="10698480" y="6400800"/>
            <a:ext cx="100584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11 / 12</a:t>
            </a:r>
            <a:endParaRPr lang="en-US" sz="1000" dirty="0"/>
          </a:p>
        </p:txBody>
      </p:sp>
      <p:sp>
        <p:nvSpPr>
          <p:cNvPr id="7" name="Shape 5"/>
          <p:cNvSpPr/>
          <p:nvPr/>
        </p:nvSpPr>
        <p:spPr>
          <a:xfrm>
            <a:off x="548640" y="1554480"/>
            <a:ext cx="3566160" cy="2697480"/>
          </a:xfrm>
          <a:prstGeom prst="rect">
            <a:avLst/>
          </a:prstGeom>
          <a:solidFill>
            <a:srgbClr val="EEF2FF"/>
          </a:solidFill>
          <a:ln w="9525">
            <a:solidFill>
              <a:srgbClr val="E2E8F0"/>
            </a:solidFill>
            <a:prstDash val="solid"/>
          </a:ln>
        </p:spPr>
      </p:sp>
      <p:sp>
        <p:nvSpPr>
          <p:cNvPr id="8" name="Shape 6"/>
          <p:cNvSpPr/>
          <p:nvPr/>
        </p:nvSpPr>
        <p:spPr>
          <a:xfrm>
            <a:off x="548640" y="1554480"/>
            <a:ext cx="3566160" cy="73152"/>
          </a:xfrm>
          <a:prstGeom prst="rect">
            <a:avLst/>
          </a:prstGeom>
          <a:solidFill>
            <a:srgbClr val="4F46E5"/>
          </a:solidFill>
          <a:ln w="12700">
            <a:solidFill>
              <a:srgbClr val="4F46E5"/>
            </a:solidFill>
            <a:prstDash val="solid"/>
          </a:ln>
        </p:spPr>
      </p:sp>
      <p:sp>
        <p:nvSpPr>
          <p:cNvPr id="9" name="Text 7"/>
          <p:cNvSpPr/>
          <p:nvPr/>
        </p:nvSpPr>
        <p:spPr>
          <a:xfrm>
            <a:off x="749808" y="1737360"/>
            <a:ext cx="3163824" cy="457200"/>
          </a:xfrm>
          <a:prstGeom prst="rect">
            <a:avLst/>
          </a:prstGeom>
          <a:noFill/>
          <a:ln/>
        </p:spPr>
        <p:txBody>
          <a:bodyPr wrap="square" rtlCol="0" anchor="t"/>
          <a:lstStyle/>
          <a:p>
            <a:pPr indent="0" marL="0">
              <a:buNone/>
            </a:pPr>
            <a:r>
              <a:rPr lang="en-US" sz="1700" b="1" dirty="0">
                <a:solidFill>
                  <a:srgbClr val="4F46E5"/>
                </a:solidFill>
                <a:latin typeface="Calibri" pitchFamily="34" charset="0"/>
                <a:ea typeface="Calibri" pitchFamily="34" charset="-122"/>
                <a:cs typeface="Calibri" pitchFamily="34" charset="-120"/>
              </a:rPr>
              <a:t>Express.js, not Django</a:t>
            </a:r>
            <a:endParaRPr lang="en-US" sz="1700" dirty="0"/>
          </a:p>
        </p:txBody>
      </p:sp>
      <p:sp>
        <p:nvSpPr>
          <p:cNvPr id="10" name="Text 8"/>
          <p:cNvSpPr/>
          <p:nvPr/>
        </p:nvSpPr>
        <p:spPr>
          <a:xfrm>
            <a:off x="749808" y="2212848"/>
            <a:ext cx="3163824" cy="1874520"/>
          </a:xfrm>
          <a:prstGeom prst="rect">
            <a:avLst/>
          </a:prstGeom>
          <a:noFill/>
          <a:ln/>
        </p:spPr>
        <p:txBody>
          <a:bodyPr wrap="square" rtlCol="0" anchor="t"/>
          <a:lstStyle/>
          <a:p>
            <a:pPr indent="0" marL="0">
              <a:spcAft>
                <a:spcPts val="400"/>
              </a:spcAft>
              <a:buNone/>
            </a:pPr>
            <a:r>
              <a:rPr lang="en-US" sz="1550" dirty="0">
                <a:solidFill>
                  <a:srgbClr val="334155"/>
                </a:solidFill>
                <a:latin typeface="Calibri" pitchFamily="34" charset="0"/>
                <a:ea typeface="Calibri" pitchFamily="34" charset="-122"/>
                <a:cs typeface="Calibri" pitchFamily="34" charset="-120"/>
              </a:rPr>
              <a:t>The proposal named both. Running two server frameworks meant two stacks and two languages for no gain, so we used the one already named. MySQL and Tailwind are exactly as proposed.</a:t>
            </a:r>
            <a:endParaRPr lang="en-US" sz="1550" dirty="0"/>
          </a:p>
        </p:txBody>
      </p:sp>
      <p:sp>
        <p:nvSpPr>
          <p:cNvPr id="11" name="Shape 9"/>
          <p:cNvSpPr/>
          <p:nvPr/>
        </p:nvSpPr>
        <p:spPr>
          <a:xfrm>
            <a:off x="4297680" y="1554480"/>
            <a:ext cx="3566160" cy="2697480"/>
          </a:xfrm>
          <a:prstGeom prst="rect">
            <a:avLst/>
          </a:prstGeom>
          <a:solidFill>
            <a:srgbClr val="FFFBEB"/>
          </a:solidFill>
          <a:ln w="9525">
            <a:solidFill>
              <a:srgbClr val="E2E8F0"/>
            </a:solidFill>
            <a:prstDash val="solid"/>
          </a:ln>
        </p:spPr>
      </p:sp>
      <p:sp>
        <p:nvSpPr>
          <p:cNvPr id="12" name="Shape 10"/>
          <p:cNvSpPr/>
          <p:nvPr/>
        </p:nvSpPr>
        <p:spPr>
          <a:xfrm>
            <a:off x="4297680" y="1554480"/>
            <a:ext cx="3566160" cy="73152"/>
          </a:xfrm>
          <a:prstGeom prst="rect">
            <a:avLst/>
          </a:prstGeom>
          <a:solidFill>
            <a:srgbClr val="B45309"/>
          </a:solidFill>
          <a:ln w="12700">
            <a:solidFill>
              <a:srgbClr val="B45309"/>
            </a:solidFill>
            <a:prstDash val="solid"/>
          </a:ln>
        </p:spPr>
      </p:sp>
      <p:sp>
        <p:nvSpPr>
          <p:cNvPr id="13" name="Text 11"/>
          <p:cNvSpPr/>
          <p:nvPr/>
        </p:nvSpPr>
        <p:spPr>
          <a:xfrm>
            <a:off x="4498848" y="1737360"/>
            <a:ext cx="3163824" cy="457200"/>
          </a:xfrm>
          <a:prstGeom prst="rect">
            <a:avLst/>
          </a:prstGeom>
          <a:noFill/>
          <a:ln/>
        </p:spPr>
        <p:txBody>
          <a:bodyPr wrap="square" rtlCol="0" anchor="t"/>
          <a:lstStyle/>
          <a:p>
            <a:pPr indent="0" marL="0">
              <a:buNone/>
            </a:pPr>
            <a:r>
              <a:rPr lang="en-US" sz="1700" b="1" dirty="0">
                <a:solidFill>
                  <a:srgbClr val="B45309"/>
                </a:solidFill>
                <a:latin typeface="Calibri" pitchFamily="34" charset="0"/>
                <a:ea typeface="Calibri" pitchFamily="34" charset="-122"/>
                <a:cs typeface="Calibri" pitchFamily="34" charset="-120"/>
              </a:rPr>
              <a:t>Payment is simulated</a:t>
            </a:r>
            <a:endParaRPr lang="en-US" sz="1700" dirty="0"/>
          </a:p>
        </p:txBody>
      </p:sp>
      <p:sp>
        <p:nvSpPr>
          <p:cNvPr id="14" name="Text 12"/>
          <p:cNvSpPr/>
          <p:nvPr/>
        </p:nvSpPr>
        <p:spPr>
          <a:xfrm>
            <a:off x="4498848" y="2212848"/>
            <a:ext cx="3163824" cy="1874520"/>
          </a:xfrm>
          <a:prstGeom prst="rect">
            <a:avLst/>
          </a:prstGeom>
          <a:noFill/>
          <a:ln/>
        </p:spPr>
        <p:txBody>
          <a:bodyPr wrap="square" rtlCol="0" anchor="t"/>
          <a:lstStyle/>
          <a:p>
            <a:pPr indent="0" marL="0">
              <a:spcAft>
                <a:spcPts val="400"/>
              </a:spcAft>
              <a:buNone/>
            </a:pPr>
            <a:r>
              <a:rPr lang="en-US" sz="1550" dirty="0">
                <a:solidFill>
                  <a:srgbClr val="334155"/>
                </a:solidFill>
                <a:latin typeface="Calibri" pitchFamily="34" charset="0"/>
                <a:ea typeface="Calibri" pitchFamily="34" charset="-122"/>
                <a:cs typeface="Calibri" pitchFamily="34" charset="-120"/>
              </a:rPr>
              <a:t>Our risk register predicted this. Airtel Money and MTN MoMo require a registered business and issued credentials, so the payment method is recorded but no money moves.</a:t>
            </a:r>
            <a:endParaRPr lang="en-US" sz="1550" dirty="0"/>
          </a:p>
        </p:txBody>
      </p:sp>
      <p:sp>
        <p:nvSpPr>
          <p:cNvPr id="15" name="Shape 13"/>
          <p:cNvSpPr/>
          <p:nvPr/>
        </p:nvSpPr>
        <p:spPr>
          <a:xfrm>
            <a:off x="8046720" y="1554480"/>
            <a:ext cx="3566160" cy="2697480"/>
          </a:xfrm>
          <a:prstGeom prst="rect">
            <a:avLst/>
          </a:prstGeom>
          <a:solidFill>
            <a:srgbClr val="ECFDF5"/>
          </a:solidFill>
          <a:ln w="9525">
            <a:solidFill>
              <a:srgbClr val="E2E8F0"/>
            </a:solidFill>
            <a:prstDash val="solid"/>
          </a:ln>
        </p:spPr>
      </p:sp>
      <p:sp>
        <p:nvSpPr>
          <p:cNvPr id="16" name="Shape 14"/>
          <p:cNvSpPr/>
          <p:nvPr/>
        </p:nvSpPr>
        <p:spPr>
          <a:xfrm>
            <a:off x="8046720" y="1554480"/>
            <a:ext cx="3566160" cy="73152"/>
          </a:xfrm>
          <a:prstGeom prst="rect">
            <a:avLst/>
          </a:prstGeom>
          <a:solidFill>
            <a:srgbClr val="047857"/>
          </a:solidFill>
          <a:ln w="12700">
            <a:solidFill>
              <a:srgbClr val="047857"/>
            </a:solidFill>
            <a:prstDash val="solid"/>
          </a:ln>
        </p:spPr>
      </p:sp>
      <p:sp>
        <p:nvSpPr>
          <p:cNvPr id="17" name="Text 15"/>
          <p:cNvSpPr/>
          <p:nvPr/>
        </p:nvSpPr>
        <p:spPr>
          <a:xfrm>
            <a:off x="8247888" y="1737360"/>
            <a:ext cx="3163824" cy="457200"/>
          </a:xfrm>
          <a:prstGeom prst="rect">
            <a:avLst/>
          </a:prstGeom>
          <a:noFill/>
          <a:ln/>
        </p:spPr>
        <p:txBody>
          <a:bodyPr wrap="square" rtlCol="0" anchor="t"/>
          <a:lstStyle/>
          <a:p>
            <a:pPr indent="0" marL="0">
              <a:buNone/>
            </a:pPr>
            <a:r>
              <a:rPr lang="en-US" sz="1700" b="1" dirty="0">
                <a:solidFill>
                  <a:srgbClr val="047857"/>
                </a:solidFill>
                <a:latin typeface="Calibri" pitchFamily="34" charset="0"/>
                <a:ea typeface="Calibri" pitchFamily="34" charset="-122"/>
                <a:cs typeface="Calibri" pitchFamily="34" charset="-120"/>
              </a:rPr>
              <a:t>Beyond the proposal</a:t>
            </a:r>
            <a:endParaRPr lang="en-US" sz="1700" dirty="0"/>
          </a:p>
        </p:txBody>
      </p:sp>
      <p:sp>
        <p:nvSpPr>
          <p:cNvPr id="18" name="Text 16"/>
          <p:cNvSpPr/>
          <p:nvPr/>
        </p:nvSpPr>
        <p:spPr>
          <a:xfrm>
            <a:off x="8247888" y="2212848"/>
            <a:ext cx="3163824" cy="1874520"/>
          </a:xfrm>
          <a:prstGeom prst="rect">
            <a:avLst/>
          </a:prstGeom>
          <a:noFill/>
          <a:ln/>
        </p:spPr>
        <p:txBody>
          <a:bodyPr wrap="square" rtlCol="0" anchor="t"/>
          <a:lstStyle/>
          <a:p>
            <a:pPr indent="0" marL="0">
              <a:spcAft>
                <a:spcPts val="400"/>
              </a:spcAft>
              <a:buNone/>
            </a:pPr>
            <a:r>
              <a:rPr lang="en-US" sz="1550" dirty="0">
                <a:solidFill>
                  <a:srgbClr val="334155"/>
                </a:solidFill>
                <a:latin typeface="Calibri" pitchFamily="34" charset="0"/>
                <a:ea typeface="Calibri" pitchFamily="34" charset="-122"/>
                <a:cs typeface="Calibri" pitchFamily="34" charset="-120"/>
              </a:rPr>
              <a:t>Parcels per shop, the two-party handover, complaints and suspension, and courier and admin roles were not in the proposal. Building the system showed they were needed.</a:t>
            </a:r>
            <a:endParaRPr lang="en-US" sz="1550" dirty="0"/>
          </a:p>
        </p:txBody>
      </p:sp>
      <p:sp>
        <p:nvSpPr>
          <p:cNvPr id="19" name="Text 17"/>
          <p:cNvSpPr/>
          <p:nvPr/>
        </p:nvSpPr>
        <p:spPr>
          <a:xfrm>
            <a:off x="548640" y="4572000"/>
            <a:ext cx="10972800" cy="411480"/>
          </a:xfrm>
          <a:prstGeom prst="rect">
            <a:avLst/>
          </a:prstGeom>
          <a:noFill/>
          <a:ln/>
        </p:spPr>
        <p:txBody>
          <a:bodyPr wrap="square"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Future work</a:t>
            </a:r>
            <a:endParaRPr lang="en-US" sz="1700" dirty="0"/>
          </a:p>
        </p:txBody>
      </p:sp>
      <p:sp>
        <p:nvSpPr>
          <p:cNvPr id="20" name="Text 18"/>
          <p:cNvSpPr/>
          <p:nvPr/>
        </p:nvSpPr>
        <p:spPr>
          <a:xfrm>
            <a:off x="548640" y="4983480"/>
            <a:ext cx="5486400" cy="1280160"/>
          </a:xfrm>
          <a:prstGeom prst="rect">
            <a:avLst/>
          </a:prstGeom>
          <a:noFill/>
          <a:ln/>
        </p:spPr>
        <p:txBody>
          <a:bodyPr wrap="square" rtlCol="0" anchor="t"/>
          <a:lstStyle/>
          <a:p>
            <a:pPr marL="203200" indent="-2032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Real mobile money payments</a:t>
            </a:r>
            <a:endParaRPr lang="en-US" sz="1400" dirty="0"/>
          </a:p>
          <a:p>
            <a:pPr marL="203200" indent="-2032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A geocoding service instead of a town lookup</a:t>
            </a:r>
            <a:endParaRPr lang="en-US" sz="1400" dirty="0"/>
          </a:p>
          <a:p>
            <a:pPr marL="203200" indent="-2032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Customers choosing delivery time slots</a:t>
            </a:r>
            <a:endParaRPr lang="en-US" sz="1400" dirty="0"/>
          </a:p>
        </p:txBody>
      </p:sp>
      <p:sp>
        <p:nvSpPr>
          <p:cNvPr id="21" name="Text 19"/>
          <p:cNvSpPr/>
          <p:nvPr/>
        </p:nvSpPr>
        <p:spPr>
          <a:xfrm>
            <a:off x="6126480" y="4983480"/>
            <a:ext cx="5486400" cy="1280160"/>
          </a:xfrm>
          <a:prstGeom prst="rect">
            <a:avLst/>
          </a:prstGeom>
          <a:noFill/>
          <a:ln/>
        </p:spPr>
        <p:txBody>
          <a:bodyPr wrap="square" rtlCol="0" anchor="t"/>
          <a:lstStyle/>
          <a:p>
            <a:pPr marL="203200" indent="-2032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Terms and conditions agreed at registration</a:t>
            </a:r>
            <a:endParaRPr lang="en-US" sz="1400" dirty="0"/>
          </a:p>
          <a:p>
            <a:pPr marL="203200" indent="-2032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Testing with real shops and shoppers</a:t>
            </a:r>
            <a:endParaRPr lang="en-US" sz="1400" dirty="0"/>
          </a:p>
          <a:p>
            <a:pPr marL="203200" indent="-2032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End-to-end browser tests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4F46E5"/>
          </a:solidFill>
          <a:ln w="12700">
            <a:solidFill>
              <a:srgbClr val="4F46E5"/>
            </a:solidFill>
            <a:prstDash val="solid"/>
          </a:ln>
        </p:spPr>
      </p:sp>
      <p:sp>
        <p:nvSpPr>
          <p:cNvPr id="3" name="Text 1"/>
          <p:cNvSpPr/>
          <p:nvPr/>
        </p:nvSpPr>
        <p:spPr>
          <a:xfrm>
            <a:off x="822960" y="2011680"/>
            <a:ext cx="10515600" cy="109728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4" name="Text 2"/>
          <p:cNvSpPr/>
          <p:nvPr/>
        </p:nvSpPr>
        <p:spPr>
          <a:xfrm>
            <a:off x="822960" y="3154680"/>
            <a:ext cx="10515600" cy="640080"/>
          </a:xfrm>
          <a:prstGeom prst="rect">
            <a:avLst/>
          </a:prstGeom>
          <a:noFill/>
          <a:ln/>
        </p:spPr>
        <p:txBody>
          <a:bodyPr wrap="square" rtlCol="0" anchor="ctr"/>
          <a:lstStyle/>
          <a:p>
            <a:pPr indent="0" marL="0">
              <a:buNone/>
            </a:pPr>
            <a:r>
              <a:rPr lang="en-US" sz="2400" dirty="0">
                <a:solidFill>
                  <a:srgbClr val="A5B4FC"/>
                </a:solidFill>
                <a:latin typeface="Calibri" pitchFamily="34" charset="0"/>
                <a:ea typeface="Calibri" pitchFamily="34" charset="-122"/>
                <a:cs typeface="Calibri" pitchFamily="34" charset="-120"/>
              </a:rPr>
              <a:t>Questions, and a live demonstration</a:t>
            </a:r>
            <a:endParaRPr lang="en-US" sz="2400" dirty="0"/>
          </a:p>
        </p:txBody>
      </p:sp>
      <p:sp>
        <p:nvSpPr>
          <p:cNvPr id="5" name="Shape 3"/>
          <p:cNvSpPr/>
          <p:nvPr/>
        </p:nvSpPr>
        <p:spPr>
          <a:xfrm>
            <a:off x="822960" y="4754880"/>
            <a:ext cx="201168" cy="201168"/>
          </a:xfrm>
          <a:prstGeom prst="ellipse">
            <a:avLst/>
          </a:prstGeom>
          <a:solidFill>
            <a:srgbClr val="4F46E5"/>
          </a:solidFill>
          <a:ln w="12700">
            <a:solidFill>
              <a:srgbClr val="4F46E5"/>
            </a:solidFill>
            <a:prstDash val="solid"/>
          </a:ln>
        </p:spPr>
      </p:sp>
      <p:sp>
        <p:nvSpPr>
          <p:cNvPr id="6" name="Text 4"/>
          <p:cNvSpPr/>
          <p:nvPr/>
        </p:nvSpPr>
        <p:spPr>
          <a:xfrm>
            <a:off x="1115568" y="4663440"/>
            <a:ext cx="2011680" cy="384048"/>
          </a:xfrm>
          <a:prstGeom prst="rect">
            <a:avLst/>
          </a:prstGeom>
          <a:noFill/>
          <a:ln/>
        </p:spPr>
        <p:txBody>
          <a:bodyPr wrap="square" rtlCol="0" anchor="ctr"/>
          <a:lstStyle/>
          <a:p>
            <a:pPr indent="0" marL="0">
              <a:buNone/>
            </a:pPr>
            <a:r>
              <a:rPr lang="en-US" sz="1500" dirty="0">
                <a:solidFill>
                  <a:srgbClr val="E2E8F0"/>
                </a:solidFill>
                <a:latin typeface="Calibri" pitchFamily="34" charset="0"/>
                <a:ea typeface="Calibri" pitchFamily="34" charset="-122"/>
                <a:cs typeface="Calibri" pitchFamily="34" charset="-120"/>
              </a:rPr>
              <a:t>Customers</a:t>
            </a:r>
            <a:endParaRPr lang="en-US" sz="1500" dirty="0"/>
          </a:p>
        </p:txBody>
      </p:sp>
      <p:sp>
        <p:nvSpPr>
          <p:cNvPr id="7" name="Shape 5"/>
          <p:cNvSpPr/>
          <p:nvPr/>
        </p:nvSpPr>
        <p:spPr>
          <a:xfrm>
            <a:off x="3200400" y="4754880"/>
            <a:ext cx="201168" cy="201168"/>
          </a:xfrm>
          <a:prstGeom prst="ellipse">
            <a:avLst/>
          </a:prstGeom>
          <a:solidFill>
            <a:srgbClr val="7E22CE"/>
          </a:solidFill>
          <a:ln w="12700">
            <a:solidFill>
              <a:srgbClr val="7E22CE"/>
            </a:solidFill>
            <a:prstDash val="solid"/>
          </a:ln>
        </p:spPr>
      </p:sp>
      <p:sp>
        <p:nvSpPr>
          <p:cNvPr id="8" name="Text 6"/>
          <p:cNvSpPr/>
          <p:nvPr/>
        </p:nvSpPr>
        <p:spPr>
          <a:xfrm>
            <a:off x="3493008" y="4663440"/>
            <a:ext cx="2011680" cy="384048"/>
          </a:xfrm>
          <a:prstGeom prst="rect">
            <a:avLst/>
          </a:prstGeom>
          <a:noFill/>
          <a:ln/>
        </p:spPr>
        <p:txBody>
          <a:bodyPr wrap="square" rtlCol="0" anchor="ctr"/>
          <a:lstStyle/>
          <a:p>
            <a:pPr indent="0" marL="0">
              <a:buNone/>
            </a:pPr>
            <a:r>
              <a:rPr lang="en-US" sz="1500" dirty="0">
                <a:solidFill>
                  <a:srgbClr val="E2E8F0"/>
                </a:solidFill>
                <a:latin typeface="Calibri" pitchFamily="34" charset="0"/>
                <a:ea typeface="Calibri" pitchFamily="34" charset="-122"/>
                <a:cs typeface="Calibri" pitchFamily="34" charset="-120"/>
              </a:rPr>
              <a:t>Shops</a:t>
            </a:r>
            <a:endParaRPr lang="en-US" sz="1500" dirty="0"/>
          </a:p>
        </p:txBody>
      </p:sp>
      <p:sp>
        <p:nvSpPr>
          <p:cNvPr id="9" name="Shape 7"/>
          <p:cNvSpPr/>
          <p:nvPr/>
        </p:nvSpPr>
        <p:spPr>
          <a:xfrm>
            <a:off x="5577840" y="4754880"/>
            <a:ext cx="201168" cy="201168"/>
          </a:xfrm>
          <a:prstGeom prst="ellipse">
            <a:avLst/>
          </a:prstGeom>
          <a:solidFill>
            <a:srgbClr val="047857"/>
          </a:solidFill>
          <a:ln w="12700">
            <a:solidFill>
              <a:srgbClr val="047857"/>
            </a:solidFill>
            <a:prstDash val="solid"/>
          </a:ln>
        </p:spPr>
      </p:sp>
      <p:sp>
        <p:nvSpPr>
          <p:cNvPr id="10" name="Text 8"/>
          <p:cNvSpPr/>
          <p:nvPr/>
        </p:nvSpPr>
        <p:spPr>
          <a:xfrm>
            <a:off x="5870448" y="4663440"/>
            <a:ext cx="2011680" cy="384048"/>
          </a:xfrm>
          <a:prstGeom prst="rect">
            <a:avLst/>
          </a:prstGeom>
          <a:noFill/>
          <a:ln/>
        </p:spPr>
        <p:txBody>
          <a:bodyPr wrap="square" rtlCol="0" anchor="ctr"/>
          <a:lstStyle/>
          <a:p>
            <a:pPr indent="0" marL="0">
              <a:buNone/>
            </a:pPr>
            <a:r>
              <a:rPr lang="en-US" sz="1500" dirty="0">
                <a:solidFill>
                  <a:srgbClr val="E2E8F0"/>
                </a:solidFill>
                <a:latin typeface="Calibri" pitchFamily="34" charset="0"/>
                <a:ea typeface="Calibri" pitchFamily="34" charset="-122"/>
                <a:cs typeface="Calibri" pitchFamily="34" charset="-120"/>
              </a:rPr>
              <a:t>Couriers</a:t>
            </a:r>
            <a:endParaRPr lang="en-US" sz="1500" dirty="0"/>
          </a:p>
        </p:txBody>
      </p:sp>
      <p:sp>
        <p:nvSpPr>
          <p:cNvPr id="11" name="Shape 9"/>
          <p:cNvSpPr/>
          <p:nvPr/>
        </p:nvSpPr>
        <p:spPr>
          <a:xfrm>
            <a:off x="7955280" y="4754880"/>
            <a:ext cx="201168" cy="201168"/>
          </a:xfrm>
          <a:prstGeom prst="ellipse">
            <a:avLst/>
          </a:prstGeom>
          <a:solidFill>
            <a:srgbClr val="64748B"/>
          </a:solidFill>
          <a:ln w="12700">
            <a:solidFill>
              <a:srgbClr val="64748B"/>
            </a:solidFill>
            <a:prstDash val="solid"/>
          </a:ln>
        </p:spPr>
      </p:sp>
      <p:sp>
        <p:nvSpPr>
          <p:cNvPr id="12" name="Text 10"/>
          <p:cNvSpPr/>
          <p:nvPr/>
        </p:nvSpPr>
        <p:spPr>
          <a:xfrm>
            <a:off x="8247888" y="4663440"/>
            <a:ext cx="2011680" cy="384048"/>
          </a:xfrm>
          <a:prstGeom prst="rect">
            <a:avLst/>
          </a:prstGeom>
          <a:noFill/>
          <a:ln/>
        </p:spPr>
        <p:txBody>
          <a:bodyPr wrap="square" rtlCol="0" anchor="ctr"/>
          <a:lstStyle/>
          <a:p>
            <a:pPr indent="0" marL="0">
              <a:buNone/>
            </a:pPr>
            <a:r>
              <a:rPr lang="en-US" sz="1500" dirty="0">
                <a:solidFill>
                  <a:srgbClr val="E2E8F0"/>
                </a:solidFill>
                <a:latin typeface="Calibri" pitchFamily="34" charset="0"/>
                <a:ea typeface="Calibri" pitchFamily="34" charset="-122"/>
                <a:cs typeface="Calibri" pitchFamily="34" charset="-120"/>
              </a:rPr>
              <a:t>Administrators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Zamglam — Multi-vendor e-commerce with integrated courier delivery</dc:title>
  <dc:subject>PptxGenJS Presentation</dc:subject>
  <dc:creator>PptxGenJS</dc:creator>
  <cp:lastModifiedBy>PptxGenJS</cp:lastModifiedBy>
  <cp:revision>1</cp:revision>
  <dcterms:created xsi:type="dcterms:W3CDTF">2026-09-17T06:44:17Z</dcterms:created>
  <dcterms:modified xsi:type="dcterms:W3CDTF">2026-09-17T06:44:17Z</dcterms:modified>
</cp:coreProperties>
</file>
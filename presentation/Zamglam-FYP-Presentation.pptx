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ff0fd7-0407-10a8-520e-81411d0f55fc}">
          <p14:sldIdLst>
            <p14:sldId id="256"/>
            <p14:sldId id="257"/>
            <p14:sldId id="258"/>
          </p14:sldIdLst>
        </p14:section>
        <p14:section name="Background and Context" id="{3d53f6b6-b1bc-ec28-718e-72cd47c60f37}">
          <p14:sldIdLst>
            <p14:sldId id="259"/>
            <p14:sldId id="260"/>
            <p14:sldId id="261"/>
          </p14:sldIdLst>
        </p14:section>
        <p14:section name="System Analysis and Design" id="{6bcb360b-9696-c54c-0603-ba9c6367d6b7}">
          <p14:sldIdLst>
            <p14:sldId id="262"/>
            <p14:sldId id="263"/>
            <p14:sldId id="264"/>
            <p14:sldId id="265"/>
            <p14:sldId id="266"/>
            <p14:sldId id="267"/>
          </p14:sldIdLst>
        </p14:section>
        <p14:section name="Implementation / Development" id="{5dc0b3f9-c77c-3d19-1c34-13bd443dbcb0}">
          <p14:sldIdLst>
            <p14:sldId id="268"/>
            <p14:sldId id="269"/>
            <p14:sldId id="270"/>
            <p14:sldId id="271"/>
            <p14:sldId id="272"/>
            <p14:sldId id="273"/>
          </p14:sldIdLst>
        </p14:section>
        <p14:section name="Testing, Results and Evaluation" id="{642f1673-4f9e-af11-5d73-6e738ce74f08}">
          <p14:sldIdLst>
            <p14:sldId id="274"/>
            <p14:sldId id="275"/>
            <p14:sldId id="276"/>
          </p14:sldIdLst>
        </p14:section>
        <p14:section name="Discussion" id="{0da4eddd-f843-90e1-c504-6193abf158e4}">
          <p14:sldIdLst>
            <p14:sldId id="277"/>
            <p14:sldId id="278"/>
          </p14:sldIdLst>
        </p14:section>
        <p14:section name="Conclusion" id="{cb52cd49-2003-f4c4-0de2-d44af7e7540d}">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 multi-vendor e-commerce platform for clothing and footwear in Zambia, with the courier delivery built into the platform rather than arranged separately. Supervisor: Mr Alinani Simukonga.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us. The computer numbers still need filling in before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ending with a live demonstration of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in the proposal: customers cannot tell a checked seller from an unchecked one, and logistics are organised manually between sellers and courier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objectives exactly as the proposal states them. The second is the one we qualify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requirements, grouped by who needs them. The diagram is the use-case view of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pass through helmet, CORS, body parsing, rate limiting, then the route, authentication, role check and suspension check before any handler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"how do you know a seller cannot touch another shop's parcel" — the checks are in that order on every protected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tables. The parcel table is what makes a multi-vendor order work: without it, two shops share one status and neither can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"multi-vendor". Without the shipment table, two shops share one status and neither can act on their own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conditional update is the important one: it is what stops two couriers claiming the same parcel, without locking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Google Maps: a geocoder needs a billed API key. The town table is accurate for the towns it knows and says so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named Django and Express; we consolidated on Express alone rather than splitting the system across two languages. That is a departure we state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methodology: incremental and iterative, with a working vertical slice at each step, and the test suite as the safety net rather than a formal sprint ceremony.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modules. The fourth is the one the proposal cared most about — the courier service inside the platform rather than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the handover: courier asks, shop confirms, contact details unlock, delivery is marked. A denial puts the parcel back in the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of the backend tests exist only to prove these: forged tokens, expired tokens, a deleted account, the limiter counting failures rather than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payment one was a risk we identified in the proposal; the mitigation we planned turned out not to be available to a student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if the panel asks how you know it works. The bugs on the right are the argument for testing, found by these tests rather than by a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 backend, 82 frontend, 8 in a browser. They run on their own database and are run by GitHub Actions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slide answers "did you meet your objectives", it is this one. Offer to run the suite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the scheduling question: if "scheduling" meant time slots, that is not built; if it meant organising and assigning deliveries, it is, and more thoroughly than a manual 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panel finds them. Each one has a reason and a route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things that matter: it works end to end, and it is checked by tests that drive the real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demonstration: sign in as a shopper, order from two shops, release a parcel as the shop, collect it as the courier, deliver it, then show the admin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1C355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10725912" cy="137160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463040" y="3246120"/>
            <a:ext cx="9262872" cy="2926080"/>
          </a:xfrm>
          <a:prstGeom prst="rect">
            <a:avLst/>
          </a:prstGeom>
          <a:noFill/>
          <a:ln/>
        </p:spPr>
        <p:txBody>
          <a:bodyPr wrap="square" rtlCol="0"/>
          <a:lstStyle>
            <a:lvl1pPr algn="ctr" indent="0" marL="0">
              <a:lnSpc>
                <a:spcPct val="110000"/>
              </a:lnSpc>
              <a:buNone/>
              <a:defRPr lang="en-US" sz="1600" dirty="0">
                <a:solidFill>
                  <a:srgbClr val="DCE6F5"/>
                </a:solidFill>
              </a:defRPr>
            </a:lvl1pPr>
          </a:lstStyle>
          <a:p>
            <a:pPr algn="ctr" indent="0" marL="0">
              <a:lnSpc>
                <a:spcPct val="110000"/>
              </a:lnSpc>
              <a:buNone/>
            </a:pPr>
            <a:endParaRPr lang="en-US" sz="1600" dirty="0"/>
          </a:p>
        </p:txBody>
      </p:sp>
      <p:sp>
        <p:nvSpPr>
          <p:cNvPr id="4" name="Text 0"/>
          <p:cNvSpPr txBox="1"/>
          <p:nvPr/>
        </p:nvSpPr>
        <p:spPr>
          <a:xfrm>
            <a:off x="411480" y="6419088"/>
            <a:ext cx="4572000" cy="292608"/>
          </a:xfrm>
          <a:prstGeom prst="rect">
            <a:avLst/>
          </a:prstGeom>
          <a:noFill/>
          <a:ln/>
        </p:spPr>
        <p:txBody>
          <a:bodyPr wrap="square" lIns="0" tIns="0" rIns="0" bIns="0" rtlCol="0" anchor="ctr"/>
          <a:lstStyle/>
          <a:p>
            <a:pPr indent="0" marL="0">
              <a:buNone/>
            </a:pPr>
            <a:r>
              <a:rPr lang="en-US" sz="1000" dirty="0">
                <a:solidFill>
                  <a:srgbClr val="AFC2DD"/>
                </a:solidFill>
              </a:rPr>
              <a:t>Final Year Project • Academic Year 2026</a:t>
            </a:r>
            <a:endParaRPr lang="en-US" sz="1000" dirty="0"/>
          </a:p>
        </p:txBody>
      </p:sp>
      <p:sp>
        <p:nvSpPr>
          <p:cNvPr id="25" name="Slide Number Placeholder 0"/>
          <p:cNvSpPr>
            <a:spLocks noGrp="1"/>
          </p:cNvSpPr>
          <p:nvPr>
            <p:ph type="sldNum" sz="quarter" idx="4294967295"/>
          </p:nvPr>
        </p:nvSpPr>
        <p:spPr>
          <a:xfrm>
            <a:off x="5120640" y="641908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AFC2DD"/>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rtlCol="0"/>
          <a:lstStyle>
            <a:lvl1pPr algn="l" indent="0" marL="0">
              <a:buNone/>
              <a:defRPr lang="en-US" sz="3200" b="1" dirty="0">
                <a:solidFill>
                  <a:srgbClr val="1C3557"/>
                </a:solidFill>
              </a:defRPr>
            </a:lvl1pPr>
          </a:lstStyle>
          <a:p>
            <a:pPr algn="l" indent="0" marL="0">
              <a:buNone/>
            </a:pPr>
            <a:endParaRPr lang="en-US" sz="3200" dirty="0"/>
          </a:p>
        </p:txBody>
      </p:sp>
      <p:sp>
        <p:nvSpPr>
          <p:cNvPr id="3" name="Text 0"/>
          <p:cNvSpPr/>
          <p:nvPr>
            <p:ph idx="101" type="body" hasCustomPrompt="1"/>
          </p:nvPr>
        </p:nvSpPr>
        <p:spPr>
          <a:xfrm>
            <a:off x="566928" y="1234440"/>
            <a:ext cx="11064240" cy="4846320"/>
          </a:xfrm>
          <a:prstGeom prst="rect">
            <a:avLst/>
          </a:prstGeom>
          <a:noFill/>
          <a:ln/>
        </p:spPr>
        <p:txBody>
          <a:bodyPr wrap="square" rtlCol="0"/>
          <a:lstStyle>
            <a:lvl1pPr algn="l" indent="0" marL="0">
              <a:buNone/>
              <a:defRPr lang="en-US" sz="1600" dirty="0">
                <a:solidFill>
                  <a:srgbClr val="0F172A"/>
                </a:solidFill>
              </a:defRPr>
            </a:lvl1pPr>
          </a:lstStyle>
          <a:p>
            <a:pPr algn="l" indent="0" marL="0">
              <a:buNone/>
            </a:pPr>
            <a:endParaRPr lang="en-US" sz="1600" dirty="0"/>
          </a:p>
        </p:txBody>
      </p:sp>
      <p:sp>
        <p:nvSpPr>
          <p:cNvPr id="4" name="Shape 0"/>
          <p:cNvSpPr/>
          <p:nvPr/>
        </p:nvSpPr>
        <p:spPr>
          <a:xfrm>
            <a:off x="0" y="6355080"/>
            <a:ext cx="12188952" cy="502920"/>
          </a:xfrm>
          <a:prstGeom prst="rect">
            <a:avLst/>
          </a:prstGeom>
          <a:solidFill>
            <a:srgbClr val="1C3557"/>
          </a:solidFill>
          <a:ln/>
        </p:spPr>
      </p:sp>
      <p:sp>
        <p:nvSpPr>
          <p:cNvPr id="5" name="Text 1"/>
          <p:cNvSpPr txBox="1"/>
          <p:nvPr/>
        </p:nvSpPr>
        <p:spPr>
          <a:xfrm>
            <a:off x="411480" y="6437376"/>
            <a:ext cx="4572000" cy="310896"/>
          </a:xfrm>
          <a:prstGeom prst="rect">
            <a:avLst/>
          </a:prstGeom>
          <a:noFill/>
          <a:ln/>
        </p:spPr>
        <p:txBody>
          <a:bodyPr wrap="square" lIns="0" tIns="0" rIns="0" bIns="0" rtlCol="0" anchor="ctr"/>
          <a:lstStyle/>
          <a:p>
            <a:pPr indent="0" marL="0">
              <a:buNone/>
            </a:pPr>
            <a:r>
              <a:rPr lang="en-US" sz="1000" dirty="0">
                <a:solidFill>
                  <a:srgbClr val="FFFFFF"/>
                </a:solidFill>
              </a:rPr>
              <a:t>Final Year Project • Academic Year 2026</a:t>
            </a:r>
            <a:endParaRPr lang="en-US" sz="10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120640" y="641908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AFC2DD"/>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10725912" cy="1371600"/>
          </a:xfrm>
          <a:prstGeom prst="rect">
            <a:avLst/>
          </a:prstGeom>
          <a:noFill/>
          <a:ln/>
        </p:spPr>
        <p:txBody>
          <a:bodyPr wrap="square" rtlCol="0" anchor="b"/>
          <a:lstStyle/>
          <a:p>
            <a:pPr algn="ctr" indent="0" marL="0">
              <a:buNone/>
            </a:pPr>
            <a:r>
              <a:rPr lang="en-US" sz="4000" b="1" dirty="0">
                <a:solidFill>
                  <a:srgbClr val="FFFFFF"/>
                </a:solidFill>
              </a:rPr>
              <a:t>Design and Implementation of a Multi-Vendor E-Commerce Platform with Integrated Courier Delivery Service</a:t>
            </a:r>
            <a:endParaRPr lang="en-US" sz="4000" dirty="0"/>
          </a:p>
        </p:txBody>
      </p:sp>
      <p:sp>
        <p:nvSpPr>
          <p:cNvPr id="3" name="Text 0"/>
          <p:cNvSpPr/>
          <p:nvPr>
            <p:ph idx="101" type="body" hasCustomPrompt="1"/>
          </p:nvPr>
        </p:nvSpPr>
        <p:spPr>
          <a:xfrm>
            <a:off x="1463040" y="3246120"/>
            <a:ext cx="9262872" cy="2926080"/>
          </a:xfrm>
          <a:prstGeom prst="rect">
            <a:avLst/>
          </a:prstGeom>
          <a:noFill/>
          <a:ln/>
        </p:spPr>
        <p:txBody>
          <a:bodyPr wrap="square" rtlCol="0" anchor="t"/>
          <a:lstStyle/>
          <a:p>
            <a:pPr algn="ctr" indent="0" marL="0">
              <a:lnSpc>
                <a:spcPct val="110000"/>
              </a:lnSpc>
              <a:buNone/>
            </a:pPr>
            <a:r>
              <a:rPr lang="en-US" sz="1600" dirty="0">
                <a:solidFill>
                  <a:srgbClr val="DCE6F5"/>
                </a:solidFill>
              </a:rPr>
              <a:t>Kelly Mbuyu · Kapembwa Phiri · Suzi Matambose Kazonga</a:t>
            </a:r>
            <a:endParaRPr lang="en-US" sz="1600" dirty="0"/>
          </a:p>
          <a:p>
            <a:pPr algn="ctr" indent="0" marL="0">
              <a:lnSpc>
                <a:spcPct val="110000"/>
              </a:lnSpc>
              <a:spcAft>
                <a:spcPts val="1000"/>
              </a:spcAft>
              <a:buNone/>
            </a:pPr>
            <a:r>
              <a:rPr lang="en-US" sz="1600" dirty="0">
                <a:solidFill>
                  <a:srgbClr val="DCE6F5"/>
                </a:solidFill>
              </a:rPr>
              <a:t>Grace Chisomo Mkandawire · Mwamba Chinyimba</a:t>
            </a:r>
            <a:endParaRPr lang="en-US" sz="1600" dirty="0"/>
          </a:p>
          <a:p>
            <a:pPr algn="ctr" indent="0" marL="0">
              <a:lnSpc>
                <a:spcPct val="110000"/>
              </a:lnSpc>
              <a:buNone/>
            </a:pPr>
            <a:r>
              <a:rPr lang="en-US" sz="1600" dirty="0">
                <a:solidFill>
                  <a:srgbClr val="AFC2DD"/>
                </a:solidFill>
              </a:rPr>
              <a:t>[Computer Numbers]</a:t>
            </a:r>
            <a:endParaRPr lang="en-US" sz="1600" dirty="0"/>
          </a:p>
          <a:p>
            <a:pPr algn="ctr" indent="0" marL="0">
              <a:lnSpc>
                <a:spcPct val="110000"/>
              </a:lnSpc>
              <a:buNone/>
            </a:pPr>
            <a:r>
              <a:rPr lang="en-US" sz="1600" dirty="0">
                <a:solidFill>
                  <a:srgbClr val="DCE6F5"/>
                </a:solidFill>
              </a:rPr>
              <a:t>Final Year Project Presentation</a:t>
            </a:r>
            <a:endParaRPr lang="en-US" sz="1600" dirty="0"/>
          </a:p>
          <a:p>
            <a:pPr algn="ctr" indent="0" marL="0">
              <a:lnSpc>
                <a:spcPct val="110000"/>
              </a:lnSpc>
              <a:buNone/>
            </a:pPr>
            <a:r>
              <a:rPr lang="en-US" sz="1600" dirty="0">
                <a:solidFill>
                  <a:srgbClr val="DCE6F5"/>
                </a:solidFill>
              </a:rPr>
              <a:t>University of Zambia</a:t>
            </a:r>
            <a:endParaRPr lang="en-US" sz="1600" dirty="0"/>
          </a:p>
          <a:p>
            <a:pPr algn="ctr" indent="0" marL="0">
              <a:lnSpc>
                <a:spcPct val="110000"/>
              </a:lnSpc>
              <a:buNone/>
            </a:pPr>
            <a:r>
              <a:rPr lang="en-US" sz="1600" dirty="0">
                <a:solidFill>
                  <a:srgbClr val="DCE6F5"/>
                </a:solidFill>
              </a:rPr>
              <a:t>School of Natural and Applied Sciences</a:t>
            </a:r>
            <a:endParaRPr lang="en-US" sz="1600" dirty="0"/>
          </a:p>
          <a:p>
            <a:pPr algn="ctr" indent="0" marL="0">
              <a:lnSpc>
                <a:spcPct val="110000"/>
              </a:lnSpc>
              <a:buNone/>
            </a:pPr>
            <a:r>
              <a:rPr lang="en-US" sz="1600" dirty="0">
                <a:solidFill>
                  <a:srgbClr val="DCE6F5"/>
                </a:solidFill>
              </a:rPr>
              <a:t>Department of Computing and Informatics</a:t>
            </a:r>
            <a:endParaRPr lang="en-US" sz="1600" dirty="0"/>
          </a:p>
          <a:p>
            <a:pPr algn="ctr" indent="0" marL="0">
              <a:lnSpc>
                <a:spcPct val="110000"/>
              </a:lnSpc>
              <a:buNone/>
            </a:pPr>
            <a:r>
              <a:rPr lang="en-US" sz="1600" dirty="0">
                <a:solidFill>
                  <a:srgbClr val="DCE6F5"/>
                </a:solidFill>
              </a:rPr>
              <a:t>2026</a:t>
            </a:r>
            <a:endParaRPr lang="en-US" sz="1600" dirty="0"/>
          </a:p>
        </p:txBody>
      </p:sp>
      <p:sp>
        <p:nvSpPr>
          <p:cNvPr id="25" name="Slide Number Placeholder 0"/>
          <p:cNvSpPr>
            <a:spLocks noGrp="1"/>
          </p:cNvSpPr>
          <p:nvPr>
            <p:ph type="sldNum" sz="quarter" idx="4294967295"/>
          </p:nvPr>
        </p:nvSpPr>
        <p:spPr>
          <a:xfrm>
            <a:off x="5120640" y="641908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AFC2DD"/>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Team Roles and Responsibilities</a:t>
            </a:r>
            <a:endParaRPr lang="en-US" sz="3200" dirty="0"/>
          </a:p>
        </p:txBody>
      </p:sp>
      <p:graphicFrame>
        <p:nvGraphicFramePr>
          <p:cNvPr id="3" name="team-table"/>
          <p:cNvGraphicFramePr>
            <a:graphicFrameLocks noGrp="1"/>
          </p:cNvGraphicFramePr>
          <p:nvPr>
            <p:extLst>
              <p:ext uri="{D42A27DB-BD31-4B8C-83A1-F6EECF244321}">
                <p14:modId xmlns:p14="http://schemas.microsoft.com/office/powerpoint/2010/main" val="1579011935"/>
              </p:ext>
            </p:extLst>
          </p:nvPr>
        </p:nvGraphicFramePr>
        <p:xfrm>
          <a:off x="566928" y="1280160"/>
          <a:ext cx="11064240" cy="914400"/>
        </p:xfrm>
        <a:graphic>
          <a:graphicData uri="http://schemas.openxmlformats.org/drawingml/2006/table">
            <a:tbl>
              <a:tblPr/>
              <a:tblGrid>
                <a:gridCol w="2651760"/>
                <a:gridCol w="1737360"/>
                <a:gridCol w="6675120"/>
              </a:tblGrid>
              <a:tr h="475488">
                <a:tc>
                  <a:txBody>
                    <a:bodyPr/>
                    <a:lstStyle/>
                    <a:p>
                      <a:pPr indent="0" marL="0">
                        <a:buNone/>
                      </a:pPr>
                      <a:r>
                        <a:rPr lang="en-US" sz="1400" b="1" dirty="0">
                          <a:solidFill>
                            <a:srgbClr val="FFFFFF"/>
                          </a:solidFill>
                        </a:rPr>
                        <a:t>Member</a:t>
                      </a:r>
                      <a:endParaRPr lang="en-US" sz="14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indent="0" marL="0">
                        <a:buNone/>
                      </a:pPr>
                      <a:r>
                        <a:rPr lang="en-US" sz="1400" b="1" dirty="0">
                          <a:solidFill>
                            <a:srgbClr val="FFFFFF"/>
                          </a:solidFill>
                        </a:rPr>
                        <a:t>Computer No.</a:t>
                      </a:r>
                      <a:endParaRPr lang="en-US" sz="14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indent="0" marL="0">
                        <a:buNone/>
                      </a:pPr>
                      <a:r>
                        <a:rPr lang="en-US" sz="1400" b="1" dirty="0">
                          <a:solidFill>
                            <a:srgbClr val="FFFFFF"/>
                          </a:solidFill>
                        </a:rPr>
                        <a:t>Primary Role / Responsibilities</a:t>
                      </a:r>
                      <a:endParaRPr lang="en-US" sz="14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r>
              <a:tr h="475488">
                <a:tc>
                  <a:txBody>
                    <a:bodyPr/>
                    <a:lstStyle/>
                    <a:p>
                      <a:pPr indent="0" marL="0">
                        <a:buNone/>
                      </a:pPr>
                      <a:r>
                        <a:rPr lang="en-US" sz="1300" dirty="0">
                          <a:solidFill>
                            <a:srgbClr val="0F172A"/>
                          </a:solidFill>
                        </a:rPr>
                        <a:t>Kelly Mbuyu</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[Computer No.]</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Team lead · orders, parcels and the courier handover · admin console · testing and documentation</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0F172A"/>
                          </a:solidFill>
                        </a:rPr>
                        <a:t>Kapembwa Phiri</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[Computer No.]</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Authentication and authorisation · automated test setup, Docker and continuous integration</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0F172A"/>
                          </a:solidFill>
                        </a:rPr>
                        <a:t>Suzi Matambose Kazonga</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[Computer No.]</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Database design and the relational schema · data modelling</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0F172A"/>
                          </a:solidFill>
                        </a:rPr>
                        <a:t>Grace Chisomo Mkandawire</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[Computer No.]</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Frontend components and page layout · catalogue, cart and dashboard screens</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0F172A"/>
                          </a:solidFill>
                        </a:rPr>
                        <a:t>Mwamba Chinyimba</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[Computer No.]</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Product data and media · seeded catalogue content</a:t>
                      </a:r>
                      <a:endParaRPr lang="en-US" sz="13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bl>
          </a:graphicData>
        </a:graphic>
      </p:graphicFrame>
      <p:sp>
        <p:nvSpPr>
          <p:cNvPr id="4" name="Text 1"/>
          <p:cNvSpPr txBox="1"/>
          <p:nvPr/>
        </p:nvSpPr>
        <p:spPr>
          <a:xfrm>
            <a:off x="566928" y="4572000"/>
            <a:ext cx="11064240" cy="365760"/>
          </a:xfrm>
          <a:prstGeom prst="rect">
            <a:avLst/>
          </a:prstGeom>
          <a:noFill/>
          <a:ln/>
        </p:spPr>
        <p:txBody>
          <a:bodyPr wrap="square" lIns="0" tIns="0" rIns="0" bIns="0" rtlCol="0" anchor="ctr"/>
          <a:lstStyle/>
          <a:p>
            <a:pPr indent="0" marL="0">
              <a:buNone/>
            </a:pPr>
            <a:r>
              <a:rPr lang="en-US" sz="1500" b="1" dirty="0">
                <a:solidFill>
                  <a:srgbClr val="1C3557"/>
                </a:solidFill>
              </a:rPr>
              <a:t>Supervisor: Mr Alinani Simukonga</a:t>
            </a:r>
            <a:endParaRPr lang="en-US" sz="1500" dirty="0"/>
          </a:p>
        </p:txBody>
      </p:sp>
      <p:sp>
        <p:nvSpPr>
          <p:cNvPr id="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Presentation Overview</a:t>
            </a:r>
            <a:endParaRPr lang="en-US" sz="3200" dirty="0"/>
          </a:p>
        </p:txBody>
      </p:sp>
      <p:sp>
        <p:nvSpPr>
          <p:cNvPr id="3" name="disc-1"/>
          <p:cNvSpPr/>
          <p:nvPr/>
        </p:nvSpPr>
        <p:spPr>
          <a:xfrm>
            <a:off x="566928" y="1371600"/>
            <a:ext cx="384048" cy="384048"/>
          </a:xfrm>
          <a:prstGeom prst="ellipse">
            <a:avLst/>
          </a:prstGeom>
          <a:solidFill>
            <a:srgbClr val="1C3557"/>
          </a:solidFill>
          <a:ln/>
        </p:spPr>
      </p:sp>
      <p:sp>
        <p:nvSpPr>
          <p:cNvPr id="4" name="disc-label-1"/>
          <p:cNvSpPr txBox="1"/>
          <p:nvPr/>
        </p:nvSpPr>
        <p:spPr>
          <a:xfrm>
            <a:off x="566928"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row-1"/>
          <p:cNvSpPr txBox="1"/>
          <p:nvPr/>
        </p:nvSpPr>
        <p:spPr>
          <a:xfrm>
            <a:off x="1097280" y="1335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Background and Context</a:t>
            </a:r>
            <a:endParaRPr lang="en-US" sz="1600" dirty="0"/>
          </a:p>
          <a:p>
            <a:pPr indent="0" marL="0">
              <a:lnSpc>
                <a:spcPct val="105000"/>
              </a:lnSpc>
              <a:buNone/>
            </a:pPr>
            <a:r>
              <a:rPr lang="en-US" sz="1350" dirty="0">
                <a:solidFill>
                  <a:srgbClr val="475569"/>
                </a:solidFill>
              </a:rPr>
              <a:t>the problem, and who it is for</a:t>
            </a:r>
            <a:endParaRPr lang="en-US" sz="1600" dirty="0"/>
          </a:p>
        </p:txBody>
      </p:sp>
      <p:sp>
        <p:nvSpPr>
          <p:cNvPr id="6" name="disc-2"/>
          <p:cNvSpPr/>
          <p:nvPr/>
        </p:nvSpPr>
        <p:spPr>
          <a:xfrm>
            <a:off x="566928" y="2514600"/>
            <a:ext cx="384048" cy="384048"/>
          </a:xfrm>
          <a:prstGeom prst="ellipse">
            <a:avLst/>
          </a:prstGeom>
          <a:solidFill>
            <a:srgbClr val="1C3557"/>
          </a:solidFill>
          <a:ln/>
        </p:spPr>
      </p:sp>
      <p:sp>
        <p:nvSpPr>
          <p:cNvPr id="7" name="disc-label-2"/>
          <p:cNvSpPr txBox="1"/>
          <p:nvPr/>
        </p:nvSpPr>
        <p:spPr>
          <a:xfrm>
            <a:off x="566928"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row-2"/>
          <p:cNvSpPr txBox="1"/>
          <p:nvPr/>
        </p:nvSpPr>
        <p:spPr>
          <a:xfrm>
            <a:off x="1097280" y="2478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System Analysis and Design</a:t>
            </a:r>
            <a:endParaRPr lang="en-US" sz="1600" dirty="0"/>
          </a:p>
          <a:p>
            <a:pPr indent="0" marL="0">
              <a:lnSpc>
                <a:spcPct val="105000"/>
              </a:lnSpc>
              <a:buNone/>
            </a:pPr>
            <a:r>
              <a:rPr lang="en-US" sz="1350" dirty="0">
                <a:solidFill>
                  <a:srgbClr val="475569"/>
                </a:solidFill>
              </a:rPr>
              <a:t>architecture, data model, technical decisions</a:t>
            </a:r>
            <a:endParaRPr lang="en-US" sz="1600" dirty="0"/>
          </a:p>
        </p:txBody>
      </p:sp>
      <p:sp>
        <p:nvSpPr>
          <p:cNvPr id="9" name="disc-3"/>
          <p:cNvSpPr/>
          <p:nvPr/>
        </p:nvSpPr>
        <p:spPr>
          <a:xfrm>
            <a:off x="566928" y="3657600"/>
            <a:ext cx="384048" cy="384048"/>
          </a:xfrm>
          <a:prstGeom prst="ellipse">
            <a:avLst/>
          </a:prstGeom>
          <a:solidFill>
            <a:srgbClr val="1C3557"/>
          </a:solidFill>
          <a:ln/>
        </p:spPr>
      </p:sp>
      <p:sp>
        <p:nvSpPr>
          <p:cNvPr id="10" name="disc-label-3"/>
          <p:cNvSpPr txBox="1"/>
          <p:nvPr/>
        </p:nvSpPr>
        <p:spPr>
          <a:xfrm>
            <a:off x="566928" y="3657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row-3"/>
          <p:cNvSpPr txBox="1"/>
          <p:nvPr/>
        </p:nvSpPr>
        <p:spPr>
          <a:xfrm>
            <a:off x="1097280" y="3621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Implementation / Development</a:t>
            </a:r>
            <a:endParaRPr lang="en-US" sz="1600" dirty="0"/>
          </a:p>
          <a:p>
            <a:pPr indent="0" marL="0">
              <a:lnSpc>
                <a:spcPct val="105000"/>
              </a:lnSpc>
              <a:buNone/>
            </a:pPr>
            <a:r>
              <a:rPr lang="en-US" sz="1350" dirty="0">
                <a:solidFill>
                  <a:srgbClr val="475569"/>
                </a:solidFill>
              </a:rPr>
              <a:t>what was built, and how</a:t>
            </a:r>
            <a:endParaRPr lang="en-US" sz="1600" dirty="0"/>
          </a:p>
        </p:txBody>
      </p:sp>
      <p:sp>
        <p:nvSpPr>
          <p:cNvPr id="12" name="disc-4"/>
          <p:cNvSpPr/>
          <p:nvPr/>
        </p:nvSpPr>
        <p:spPr>
          <a:xfrm>
            <a:off x="566928" y="4800600"/>
            <a:ext cx="384048" cy="384048"/>
          </a:xfrm>
          <a:prstGeom prst="ellipse">
            <a:avLst/>
          </a:prstGeom>
          <a:solidFill>
            <a:srgbClr val="1C3557"/>
          </a:solidFill>
          <a:ln/>
        </p:spPr>
      </p:sp>
      <p:sp>
        <p:nvSpPr>
          <p:cNvPr id="13" name="disc-label-4"/>
          <p:cNvSpPr txBox="1"/>
          <p:nvPr/>
        </p:nvSpPr>
        <p:spPr>
          <a:xfrm>
            <a:off x="566928" y="4800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row-4"/>
          <p:cNvSpPr txBox="1"/>
          <p:nvPr/>
        </p:nvSpPr>
        <p:spPr>
          <a:xfrm>
            <a:off x="1097280" y="4764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Testing, Results and Evaluation</a:t>
            </a:r>
            <a:endParaRPr lang="en-US" sz="1600" dirty="0"/>
          </a:p>
          <a:p>
            <a:pPr indent="0" marL="0">
              <a:lnSpc>
                <a:spcPct val="105000"/>
              </a:lnSpc>
              <a:buNone/>
            </a:pPr>
            <a:r>
              <a:rPr lang="en-US" sz="1350" dirty="0">
                <a:solidFill>
                  <a:srgbClr val="475569"/>
                </a:solidFill>
              </a:rPr>
              <a:t>349 automated checks</a:t>
            </a:r>
            <a:endParaRPr lang="en-US" sz="1600" dirty="0"/>
          </a:p>
        </p:txBody>
      </p:sp>
      <p:sp>
        <p:nvSpPr>
          <p:cNvPr id="15" name="disc-5"/>
          <p:cNvSpPr/>
          <p:nvPr/>
        </p:nvSpPr>
        <p:spPr>
          <a:xfrm>
            <a:off x="6327648" y="1371600"/>
            <a:ext cx="384048" cy="384048"/>
          </a:xfrm>
          <a:prstGeom prst="ellipse">
            <a:avLst/>
          </a:prstGeom>
          <a:solidFill>
            <a:srgbClr val="1C3557"/>
          </a:solidFill>
          <a:ln/>
        </p:spPr>
      </p:sp>
      <p:sp>
        <p:nvSpPr>
          <p:cNvPr id="16" name="disc-label-5"/>
          <p:cNvSpPr txBox="1"/>
          <p:nvPr/>
        </p:nvSpPr>
        <p:spPr>
          <a:xfrm>
            <a:off x="6327648"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7" name="row-5"/>
          <p:cNvSpPr txBox="1"/>
          <p:nvPr/>
        </p:nvSpPr>
        <p:spPr>
          <a:xfrm>
            <a:off x="6858000" y="1335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Discussion</a:t>
            </a:r>
            <a:endParaRPr lang="en-US" sz="1600" dirty="0"/>
          </a:p>
          <a:p>
            <a:pPr indent="0" marL="0">
              <a:lnSpc>
                <a:spcPct val="105000"/>
              </a:lnSpc>
              <a:buNone/>
            </a:pPr>
            <a:r>
              <a:rPr lang="en-US" sz="1350" dirty="0">
                <a:solidFill>
                  <a:srgbClr val="475569"/>
                </a:solidFill>
              </a:rPr>
              <a:t>what the results mean against the objectives</a:t>
            </a:r>
            <a:endParaRPr lang="en-US" sz="1600" dirty="0"/>
          </a:p>
        </p:txBody>
      </p:sp>
      <p:sp>
        <p:nvSpPr>
          <p:cNvPr id="18" name="disc-6"/>
          <p:cNvSpPr/>
          <p:nvPr/>
        </p:nvSpPr>
        <p:spPr>
          <a:xfrm>
            <a:off x="6327648" y="2514600"/>
            <a:ext cx="384048" cy="384048"/>
          </a:xfrm>
          <a:prstGeom prst="ellipse">
            <a:avLst/>
          </a:prstGeom>
          <a:solidFill>
            <a:srgbClr val="1C3557"/>
          </a:solidFill>
          <a:ln/>
        </p:spPr>
      </p:sp>
      <p:sp>
        <p:nvSpPr>
          <p:cNvPr id="19" name="disc-label-6"/>
          <p:cNvSpPr txBox="1"/>
          <p:nvPr/>
        </p:nvSpPr>
        <p:spPr>
          <a:xfrm>
            <a:off x="6327648"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0" name="row-6"/>
          <p:cNvSpPr txBox="1"/>
          <p:nvPr/>
        </p:nvSpPr>
        <p:spPr>
          <a:xfrm>
            <a:off x="6858000" y="2478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Conclusion</a:t>
            </a:r>
            <a:endParaRPr lang="en-US" sz="1600" dirty="0"/>
          </a:p>
          <a:p>
            <a:pPr indent="0" marL="0">
              <a:lnSpc>
                <a:spcPct val="105000"/>
              </a:lnSpc>
              <a:buNone/>
            </a:pPr>
            <a:r>
              <a:rPr lang="en-US" sz="1350" dirty="0">
                <a:solidFill>
                  <a:srgbClr val="475569"/>
                </a:solidFill>
              </a:rPr>
              <a:t>what was achieved, and what comes next</a:t>
            </a:r>
            <a:endParaRPr lang="en-US" sz="1600" dirty="0"/>
          </a:p>
        </p:txBody>
      </p:sp>
      <p:sp>
        <p:nvSpPr>
          <p:cNvPr id="21" name="disc-7"/>
          <p:cNvSpPr/>
          <p:nvPr/>
        </p:nvSpPr>
        <p:spPr>
          <a:xfrm>
            <a:off x="6327648" y="3657600"/>
            <a:ext cx="384048" cy="384048"/>
          </a:xfrm>
          <a:prstGeom prst="ellipse">
            <a:avLst/>
          </a:prstGeom>
          <a:solidFill>
            <a:srgbClr val="1C3557"/>
          </a:solidFill>
          <a:ln/>
        </p:spPr>
      </p:sp>
      <p:sp>
        <p:nvSpPr>
          <p:cNvPr id="22" name="disc-label-7"/>
          <p:cNvSpPr txBox="1"/>
          <p:nvPr/>
        </p:nvSpPr>
        <p:spPr>
          <a:xfrm>
            <a:off x="6327648" y="3657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3" name="row-7"/>
          <p:cNvSpPr txBox="1"/>
          <p:nvPr/>
        </p:nvSpPr>
        <p:spPr>
          <a:xfrm>
            <a:off x="6858000" y="3621024"/>
            <a:ext cx="49377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System Demonstration</a:t>
            </a:r>
            <a:endParaRPr lang="en-US" sz="1600" dirty="0"/>
          </a:p>
          <a:p>
            <a:pPr indent="0" marL="0">
              <a:lnSpc>
                <a:spcPct val="105000"/>
              </a:lnSpc>
              <a:buNone/>
            </a:pPr>
            <a:r>
              <a:rPr lang="en-US" sz="1350" dirty="0">
                <a:solidFill>
                  <a:srgbClr val="475569"/>
                </a:solidFill>
              </a:rPr>
              <a:t>the running platform</a:t>
            </a:r>
            <a:endParaRPr lang="en-US" sz="1600" dirty="0"/>
          </a:p>
        </p:txBody>
      </p:sp>
      <p:sp>
        <p:nvSpPr>
          <p:cNvPr id="25"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Background and Context</a:t>
            </a:r>
            <a:endParaRPr lang="en-US" sz="3200" dirty="0"/>
          </a:p>
        </p:txBody>
      </p:sp>
      <p:sp>
        <p:nvSpPr>
          <p:cNvPr id="3" name="Text 1"/>
          <p:cNvSpPr txBox="1"/>
          <p:nvPr/>
        </p:nvSpPr>
        <p:spPr>
          <a:xfrm>
            <a:off x="566928" y="1234440"/>
            <a:ext cx="6675120" cy="1920240"/>
          </a:xfrm>
          <a:prstGeom prst="rect">
            <a:avLst/>
          </a:prstGeom>
          <a:noFill/>
          <a:ln/>
        </p:spPr>
        <p:txBody>
          <a:bodyPr wrap="square" lIns="0" tIns="0" rIns="0" bIns="0" rtlCol="0" anchor="ctr"/>
          <a:lstStyle/>
          <a:p>
            <a:pPr indent="0" marL="0">
              <a:lnSpc>
                <a:spcPct val="120000"/>
              </a:lnSpc>
              <a:spcAft>
                <a:spcPts val="1000"/>
              </a:spcAft>
              <a:buNone/>
            </a:pPr>
            <a:r>
              <a:rPr lang="en-US" sz="1500" dirty="0">
                <a:solidFill>
                  <a:srgbClr val="0F172A"/>
                </a:solidFill>
              </a:rPr>
              <a:t>Zambian clothing and footwear retail is moving online through social media pages, where a shopper cannot tell a genuine seller from a fraudulent one, and delivery is arranged by hand over phone calls between the seller and a courier.</a:t>
            </a:r>
            <a:endParaRPr lang="en-US" sz="1500" dirty="0"/>
          </a:p>
          <a:p>
            <a:pPr indent="0" marL="0">
              <a:lnSpc>
                <a:spcPct val="120000"/>
              </a:lnSpc>
              <a:buNone/>
            </a:pPr>
            <a:r>
              <a:rPr lang="en-US" sz="1500" dirty="0">
                <a:solidFill>
                  <a:srgbClr val="0F172A"/>
                </a:solidFill>
              </a:rPr>
              <a:t>A marketplace that verifies its sellers and carries the delivery itself removes both problems at once: trust is visible, and the parcel is tracked from the shop counter to the door.</a:t>
            </a:r>
            <a:endParaRPr lang="en-US" sz="1500" dirty="0"/>
          </a:p>
        </p:txBody>
      </p:sp>
      <p:sp>
        <p:nvSpPr>
          <p:cNvPr id="4" name="user-dot-0"/>
          <p:cNvSpPr/>
          <p:nvPr/>
        </p:nvSpPr>
        <p:spPr>
          <a:xfrm>
            <a:off x="566928" y="3429000"/>
            <a:ext cx="310896" cy="310896"/>
          </a:xfrm>
          <a:prstGeom prst="ellipse">
            <a:avLst/>
          </a:prstGeom>
          <a:solidFill>
            <a:srgbClr val="4F46E5"/>
          </a:solidFill>
          <a:ln/>
        </p:spPr>
      </p:sp>
      <p:sp>
        <p:nvSpPr>
          <p:cNvPr id="5" name="user-row-0"/>
          <p:cNvSpPr txBox="1"/>
          <p:nvPr/>
        </p:nvSpPr>
        <p:spPr>
          <a:xfrm>
            <a:off x="1024128" y="3374136"/>
            <a:ext cx="6309360" cy="457200"/>
          </a:xfrm>
          <a:prstGeom prst="rect">
            <a:avLst/>
          </a:prstGeom>
          <a:noFill/>
          <a:ln/>
        </p:spPr>
        <p:txBody>
          <a:bodyPr wrap="square" lIns="0" tIns="0" rIns="0" bIns="0" rtlCol="0" anchor="ctr"/>
          <a:lstStyle/>
          <a:p>
            <a:pPr indent="0" marL="0">
              <a:buNone/>
            </a:pPr>
            <a:r>
              <a:rPr lang="en-US" sz="1350" b="1" dirty="0">
                <a:solidFill>
                  <a:srgbClr val="0F172A"/>
                </a:solidFill>
              </a:rPr>
              <a:t>Shoppers — </a:t>
            </a:r>
            <a:pPr indent="0" marL="0">
              <a:buNone/>
            </a:pPr>
            <a:r>
              <a:rPr lang="en-US" sz="1350" dirty="0">
                <a:solidFill>
                  <a:srgbClr val="475569"/>
                </a:solidFill>
              </a:rPr>
              <a:t>Browse verified shops, order from several at once, track each parcel</a:t>
            </a:r>
            <a:endParaRPr lang="en-US" sz="1350" dirty="0"/>
          </a:p>
        </p:txBody>
      </p:sp>
      <p:sp>
        <p:nvSpPr>
          <p:cNvPr id="6" name="user-dot-1"/>
          <p:cNvSpPr/>
          <p:nvPr/>
        </p:nvSpPr>
        <p:spPr>
          <a:xfrm>
            <a:off x="566928" y="4142232"/>
            <a:ext cx="310896" cy="310896"/>
          </a:xfrm>
          <a:prstGeom prst="ellipse">
            <a:avLst/>
          </a:prstGeom>
          <a:solidFill>
            <a:srgbClr val="7E22CE"/>
          </a:solidFill>
          <a:ln/>
        </p:spPr>
      </p:sp>
      <p:sp>
        <p:nvSpPr>
          <p:cNvPr id="7" name="user-row-1"/>
          <p:cNvSpPr txBox="1"/>
          <p:nvPr/>
        </p:nvSpPr>
        <p:spPr>
          <a:xfrm>
            <a:off x="1024128" y="4087368"/>
            <a:ext cx="6309360" cy="457200"/>
          </a:xfrm>
          <a:prstGeom prst="rect">
            <a:avLst/>
          </a:prstGeom>
          <a:noFill/>
          <a:ln/>
        </p:spPr>
        <p:txBody>
          <a:bodyPr wrap="square" lIns="0" tIns="0" rIns="0" bIns="0" rtlCol="0" anchor="ctr"/>
          <a:lstStyle/>
          <a:p>
            <a:pPr indent="0" marL="0">
              <a:buNone/>
            </a:pPr>
            <a:r>
              <a:rPr lang="en-US" sz="1350" b="1" dirty="0">
                <a:solidFill>
                  <a:srgbClr val="0F172A"/>
                </a:solidFill>
              </a:rPr>
              <a:t>Shops — </a:t>
            </a:r>
            <a:pPr indent="0" marL="0">
              <a:buNone/>
            </a:pPr>
            <a:r>
              <a:rPr lang="en-US" sz="1350" dirty="0">
                <a:solidFill>
                  <a:srgbClr val="475569"/>
                </a:solidFill>
              </a:rPr>
              <a:t>List stock, pack parcels, hand them over, answer ratings</a:t>
            </a:r>
            <a:endParaRPr lang="en-US" sz="1350" dirty="0"/>
          </a:p>
        </p:txBody>
      </p:sp>
      <p:sp>
        <p:nvSpPr>
          <p:cNvPr id="8" name="user-dot-2"/>
          <p:cNvSpPr/>
          <p:nvPr/>
        </p:nvSpPr>
        <p:spPr>
          <a:xfrm>
            <a:off x="566928" y="4855464"/>
            <a:ext cx="310896" cy="310896"/>
          </a:xfrm>
          <a:prstGeom prst="ellipse">
            <a:avLst/>
          </a:prstGeom>
          <a:solidFill>
            <a:srgbClr val="047857"/>
          </a:solidFill>
          <a:ln/>
        </p:spPr>
      </p:sp>
      <p:sp>
        <p:nvSpPr>
          <p:cNvPr id="9" name="user-row-2"/>
          <p:cNvSpPr txBox="1"/>
          <p:nvPr/>
        </p:nvSpPr>
        <p:spPr>
          <a:xfrm>
            <a:off x="1024128" y="4800600"/>
            <a:ext cx="6309360" cy="457200"/>
          </a:xfrm>
          <a:prstGeom prst="rect">
            <a:avLst/>
          </a:prstGeom>
          <a:noFill/>
          <a:ln/>
        </p:spPr>
        <p:txBody>
          <a:bodyPr wrap="square" lIns="0" tIns="0" rIns="0" bIns="0" rtlCol="0" anchor="ctr"/>
          <a:lstStyle/>
          <a:p>
            <a:pPr indent="0" marL="0">
              <a:buNone/>
            </a:pPr>
            <a:r>
              <a:rPr lang="en-US" sz="1350" b="1" dirty="0">
                <a:solidFill>
                  <a:srgbClr val="0F172A"/>
                </a:solidFill>
              </a:rPr>
              <a:t>Couriers — </a:t>
            </a:r>
            <a:pPr indent="0" marL="0">
              <a:buNone/>
            </a:pPr>
            <a:r>
              <a:rPr lang="en-US" sz="1350" dirty="0">
                <a:solidFill>
                  <a:srgbClr val="475569"/>
                </a:solidFill>
              </a:rPr>
              <a:t>Claim parcels from a shared pool, collect and deliver</a:t>
            </a:r>
            <a:endParaRPr lang="en-US" sz="1350" dirty="0"/>
          </a:p>
        </p:txBody>
      </p:sp>
      <p:sp>
        <p:nvSpPr>
          <p:cNvPr id="10" name="user-dot-3"/>
          <p:cNvSpPr/>
          <p:nvPr/>
        </p:nvSpPr>
        <p:spPr>
          <a:xfrm>
            <a:off x="566928" y="5568696"/>
            <a:ext cx="310896" cy="310896"/>
          </a:xfrm>
          <a:prstGeom prst="ellipse">
            <a:avLst/>
          </a:prstGeom>
          <a:solidFill>
            <a:srgbClr val="1C3557"/>
          </a:solidFill>
          <a:ln/>
        </p:spPr>
      </p:sp>
      <p:sp>
        <p:nvSpPr>
          <p:cNvPr id="11" name="user-row-3"/>
          <p:cNvSpPr txBox="1"/>
          <p:nvPr/>
        </p:nvSpPr>
        <p:spPr>
          <a:xfrm>
            <a:off x="1024128" y="5513832"/>
            <a:ext cx="6309360" cy="457200"/>
          </a:xfrm>
          <a:prstGeom prst="rect">
            <a:avLst/>
          </a:prstGeom>
          <a:noFill/>
          <a:ln/>
        </p:spPr>
        <p:txBody>
          <a:bodyPr wrap="square" lIns="0" tIns="0" rIns="0" bIns="0" rtlCol="0" anchor="ctr"/>
          <a:lstStyle/>
          <a:p>
            <a:pPr indent="0" marL="0">
              <a:buNone/>
            </a:pPr>
            <a:r>
              <a:rPr lang="en-US" sz="1350" b="1" dirty="0">
                <a:solidFill>
                  <a:srgbClr val="0F172A"/>
                </a:solidFill>
              </a:rPr>
              <a:t>Administrators — </a:t>
            </a:r>
            <a:pPr indent="0" marL="0">
              <a:buNone/>
            </a:pPr>
            <a:r>
              <a:rPr lang="en-US" sz="1350" dirty="0">
                <a:solidFill>
                  <a:srgbClr val="475569"/>
                </a:solidFill>
              </a:rPr>
              <a:t>Verify shops, approve riders, act on complaints</a:t>
            </a:r>
            <a:endParaRPr lang="en-US" sz="1350" dirty="0"/>
          </a:p>
        </p:txBody>
      </p:sp>
      <p:sp>
        <p:nvSpPr>
          <p:cNvPr id="12" name="card-why"/>
          <p:cNvSpPr/>
          <p:nvPr/>
        </p:nvSpPr>
        <p:spPr>
          <a:xfrm>
            <a:off x="7589520" y="1234440"/>
            <a:ext cx="4041648" cy="4846320"/>
          </a:xfrm>
          <a:prstGeom prst="roundRect">
            <a:avLst>
              <a:gd name="adj" fmla="val 1810"/>
            </a:avLst>
          </a:prstGeom>
          <a:solidFill>
            <a:srgbClr val="F1F5F9"/>
          </a:solidFill>
          <a:ln/>
        </p:spPr>
      </p:sp>
      <p:sp>
        <p:nvSpPr>
          <p:cNvPr id="13" name="card-head-why"/>
          <p:cNvSpPr txBox="1"/>
          <p:nvPr/>
        </p:nvSpPr>
        <p:spPr>
          <a:xfrm>
            <a:off x="7845552" y="1417320"/>
            <a:ext cx="3529584" cy="347472"/>
          </a:xfrm>
          <a:prstGeom prst="rect">
            <a:avLst/>
          </a:prstGeom>
          <a:noFill/>
          <a:ln/>
        </p:spPr>
        <p:txBody>
          <a:bodyPr wrap="square" lIns="0" tIns="0" rIns="0" bIns="0" rtlCol="0" anchor="ctr"/>
          <a:lstStyle/>
          <a:p>
            <a:pPr indent="0" marL="0">
              <a:buNone/>
            </a:pPr>
            <a:r>
              <a:rPr lang="en-US" sz="1500" b="1" dirty="0">
                <a:solidFill>
                  <a:srgbClr val="1C3557"/>
                </a:solidFill>
              </a:rPr>
              <a:t>Why it matters</a:t>
            </a:r>
            <a:endParaRPr lang="en-US" sz="1500" dirty="0"/>
          </a:p>
        </p:txBody>
      </p:sp>
      <p:sp>
        <p:nvSpPr>
          <p:cNvPr id="14" name="card-body-why"/>
          <p:cNvSpPr txBox="1"/>
          <p:nvPr/>
        </p:nvSpPr>
        <p:spPr>
          <a:xfrm>
            <a:off x="7845552" y="1801368"/>
            <a:ext cx="3529584" cy="409651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Buyers risk paying a seller nobody has checked.</a:t>
            </a:r>
            <a:endParaRPr lang="en-US" sz="1300" dirty="0"/>
          </a:p>
          <a:p>
            <a:pPr marL="342900" indent="-342900">
              <a:spcAft>
                <a:spcPts val="500"/>
              </a:spcAft>
              <a:buSzPct val="100000"/>
              <a:buChar char="•"/>
            </a:pPr>
            <a:r>
              <a:rPr lang="en-US" sz="1300" dirty="0">
                <a:solidFill>
                  <a:srgbClr val="475569"/>
                </a:solidFill>
              </a:rPr>
              <a:t>Sellers lose sales they cannot deliver reliably.</a:t>
            </a:r>
            <a:endParaRPr lang="en-US" sz="1300" dirty="0"/>
          </a:p>
          <a:p>
            <a:pPr marL="342900" indent="-342900">
              <a:spcAft>
                <a:spcPts val="500"/>
              </a:spcAft>
              <a:buSzPct val="100000"/>
              <a:buChar char="•"/>
            </a:pPr>
            <a:r>
              <a:rPr lang="en-US" sz="1300" dirty="0">
                <a:solidFill>
                  <a:srgbClr val="475569"/>
                </a:solidFill>
              </a:rPr>
              <a:t>Couriers are booked ad hoc, with no record of who holds a parcel.</a:t>
            </a:r>
            <a:endParaRPr lang="en-US" sz="1300" dirty="0"/>
          </a:p>
          <a:p>
            <a:pPr marL="342900" indent="-342900">
              <a:spcAft>
                <a:spcPts val="500"/>
              </a:spcAft>
              <a:buSzPct val="100000"/>
              <a:buChar char="•"/>
            </a:pPr>
            <a:r>
              <a:rPr lang="en-US" sz="1300" dirty="0">
                <a:solidFill>
                  <a:srgbClr val="475569"/>
                </a:solidFill>
              </a:rPr>
              <a:t>An order spanning two shops has no single place to be tracked.</a:t>
            </a:r>
            <a:endParaRPr lang="en-US" sz="1300" dirty="0"/>
          </a:p>
          <a:p>
            <a:pPr marL="342900" indent="-342900">
              <a:spcAft>
                <a:spcPts val="500"/>
              </a:spcAft>
              <a:buSzPct val="100000"/>
              <a:buChar char="•"/>
            </a:pPr>
            <a:r>
              <a:rPr lang="en-US" sz="1300" dirty="0">
                <a:solidFill>
                  <a:srgbClr val="475569"/>
                </a:solidFill>
              </a:rPr>
              <a:t>Most Zambians reach the internet by phone, so it has to work on a phone.</a:t>
            </a:r>
            <a:endParaRPr lang="en-US" sz="1300" dirty="0"/>
          </a:p>
        </p:txBody>
      </p:sp>
      <p:sp>
        <p:nvSpPr>
          <p:cNvPr id="1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Aim and Objectives</a:t>
            </a:r>
            <a:endParaRPr lang="en-US" sz="3200" dirty="0"/>
          </a:p>
        </p:txBody>
      </p:sp>
      <p:sp>
        <p:nvSpPr>
          <p:cNvPr id="3" name="aim"/>
          <p:cNvSpPr txBox="1"/>
          <p:nvPr/>
        </p:nvSpPr>
        <p:spPr>
          <a:xfrm>
            <a:off x="566928" y="1234440"/>
            <a:ext cx="11064240" cy="731520"/>
          </a:xfrm>
          <a:prstGeom prst="rect">
            <a:avLst/>
          </a:prstGeom>
          <a:noFill/>
          <a:ln/>
        </p:spPr>
        <p:txBody>
          <a:bodyPr wrap="square" lIns="0" tIns="0" rIns="0" bIns="0" rtlCol="0" anchor="t"/>
          <a:lstStyle/>
          <a:p>
            <a:pPr indent="0" marL="0">
              <a:lnSpc>
                <a:spcPct val="115000"/>
              </a:lnSpc>
              <a:buNone/>
            </a:pPr>
            <a:r>
              <a:rPr lang="en-US" sz="1600" b="1" dirty="0">
                <a:solidFill>
                  <a:srgbClr val="1C3557"/>
                </a:solidFill>
              </a:rPr>
              <a:t>Aim — </a:t>
            </a:r>
            <a:pPr indent="0" marL="0">
              <a:lnSpc>
                <a:spcPct val="115000"/>
              </a:lnSpc>
              <a:buNone/>
            </a:pPr>
            <a:r>
              <a:rPr lang="en-US" sz="1600" dirty="0">
                <a:solidFill>
                  <a:srgbClr val="0F172A"/>
                </a:solidFill>
              </a:rPr>
              <a:t>to design and implement a secure multi-vendor e-commerce platform for Zambian clothing and footwear businesses, with a courier delivery service integrated into the platform itself.</a:t>
            </a:r>
            <a:endParaRPr lang="en-US" sz="1600" dirty="0"/>
          </a:p>
        </p:txBody>
      </p:sp>
      <p:sp>
        <p:nvSpPr>
          <p:cNvPr id="4" name="disc-1"/>
          <p:cNvSpPr/>
          <p:nvPr/>
        </p:nvSpPr>
        <p:spPr>
          <a:xfrm>
            <a:off x="566928" y="2286000"/>
            <a:ext cx="384048" cy="384048"/>
          </a:xfrm>
          <a:prstGeom prst="ellipse">
            <a:avLst/>
          </a:prstGeom>
          <a:solidFill>
            <a:srgbClr val="1C3557"/>
          </a:solidFill>
          <a:ln/>
        </p:spPr>
      </p:sp>
      <p:sp>
        <p:nvSpPr>
          <p:cNvPr id="5" name="disc-label-1"/>
          <p:cNvSpPr txBox="1"/>
          <p:nvPr/>
        </p:nvSpPr>
        <p:spPr>
          <a:xfrm>
            <a:off x="566928"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row-1"/>
          <p:cNvSpPr txBox="1"/>
          <p:nvPr/>
        </p:nvSpPr>
        <p:spPr>
          <a:xfrm>
            <a:off x="1097280" y="2249424"/>
            <a:ext cx="104241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Build a secure multi-vendor e-commerce system</a:t>
            </a:r>
            <a:endParaRPr lang="en-US" sz="1600" dirty="0"/>
          </a:p>
          <a:p>
            <a:pPr indent="0" marL="0">
              <a:lnSpc>
                <a:spcPct val="105000"/>
              </a:lnSpc>
              <a:buNone/>
            </a:pPr>
            <a:r>
              <a:rPr lang="en-US" sz="1350" dirty="0">
                <a:solidFill>
                  <a:srgbClr val="475569"/>
                </a:solidFill>
              </a:rPr>
              <a:t>Several independent shops trading in one marketplace, with one basket across them</a:t>
            </a:r>
            <a:endParaRPr lang="en-US" sz="1600" dirty="0"/>
          </a:p>
        </p:txBody>
      </p:sp>
      <p:sp>
        <p:nvSpPr>
          <p:cNvPr id="7" name="disc-2"/>
          <p:cNvSpPr/>
          <p:nvPr/>
        </p:nvSpPr>
        <p:spPr>
          <a:xfrm>
            <a:off x="566928" y="3273552"/>
            <a:ext cx="384048" cy="384048"/>
          </a:xfrm>
          <a:prstGeom prst="ellipse">
            <a:avLst/>
          </a:prstGeom>
          <a:solidFill>
            <a:srgbClr val="1C3557"/>
          </a:solidFill>
          <a:ln/>
        </p:spPr>
      </p:sp>
      <p:sp>
        <p:nvSpPr>
          <p:cNvPr id="8" name="disc-label-2"/>
          <p:cNvSpPr txBox="1"/>
          <p:nvPr/>
        </p:nvSpPr>
        <p:spPr>
          <a:xfrm>
            <a:off x="566928" y="32735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row-2"/>
          <p:cNvSpPr txBox="1"/>
          <p:nvPr/>
        </p:nvSpPr>
        <p:spPr>
          <a:xfrm>
            <a:off x="1097280" y="3236976"/>
            <a:ext cx="104241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Integrate a courier module for delivery scheduling and tracking</a:t>
            </a:r>
            <a:endParaRPr lang="en-US" sz="1600" dirty="0"/>
          </a:p>
          <a:p>
            <a:pPr indent="0" marL="0">
              <a:lnSpc>
                <a:spcPct val="105000"/>
              </a:lnSpc>
              <a:buNone/>
            </a:pPr>
            <a:r>
              <a:rPr lang="en-US" sz="1350" dirty="0">
                <a:solidFill>
                  <a:srgbClr val="475569"/>
                </a:solidFill>
              </a:rPr>
              <a:t>Dispatch and tracking of every parcel, from release to delivery</a:t>
            </a:r>
            <a:endParaRPr lang="en-US" sz="1600" dirty="0"/>
          </a:p>
        </p:txBody>
      </p:sp>
      <p:sp>
        <p:nvSpPr>
          <p:cNvPr id="10" name="disc-3"/>
          <p:cNvSpPr/>
          <p:nvPr/>
        </p:nvSpPr>
        <p:spPr>
          <a:xfrm>
            <a:off x="566928" y="4261104"/>
            <a:ext cx="384048" cy="384048"/>
          </a:xfrm>
          <a:prstGeom prst="ellipse">
            <a:avLst/>
          </a:prstGeom>
          <a:solidFill>
            <a:srgbClr val="1C3557"/>
          </a:solidFill>
          <a:ln/>
        </p:spPr>
      </p:sp>
      <p:sp>
        <p:nvSpPr>
          <p:cNvPr id="11" name="disc-label-3"/>
          <p:cNvSpPr txBox="1"/>
          <p:nvPr/>
        </p:nvSpPr>
        <p:spPr>
          <a:xfrm>
            <a:off x="566928" y="4261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row-3"/>
          <p:cNvSpPr txBox="1"/>
          <p:nvPr/>
        </p:nvSpPr>
        <p:spPr>
          <a:xfrm>
            <a:off x="1097280" y="4224528"/>
            <a:ext cx="104241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Provide user-friendly interfaces for customers and store owners</a:t>
            </a:r>
            <a:endParaRPr lang="en-US" sz="1600" dirty="0"/>
          </a:p>
          <a:p>
            <a:pPr indent="0" marL="0">
              <a:lnSpc>
                <a:spcPct val="105000"/>
              </a:lnSpc>
              <a:buNone/>
            </a:pPr>
            <a:r>
              <a:rPr lang="en-US" sz="1350" dirty="0">
                <a:solidFill>
                  <a:srgbClr val="475569"/>
                </a:solidFill>
              </a:rPr>
              <a:t>Dashboards for each kind of user, usable on a phone</a:t>
            </a:r>
            <a:endParaRPr lang="en-US" sz="1600" dirty="0"/>
          </a:p>
        </p:txBody>
      </p:sp>
      <p:sp>
        <p:nvSpPr>
          <p:cNvPr id="13" name="disc-4"/>
          <p:cNvSpPr/>
          <p:nvPr/>
        </p:nvSpPr>
        <p:spPr>
          <a:xfrm>
            <a:off x="566928" y="5248656"/>
            <a:ext cx="384048" cy="384048"/>
          </a:xfrm>
          <a:prstGeom prst="ellipse">
            <a:avLst/>
          </a:prstGeom>
          <a:solidFill>
            <a:srgbClr val="1C3557"/>
          </a:solidFill>
          <a:ln/>
        </p:spPr>
      </p:sp>
      <p:sp>
        <p:nvSpPr>
          <p:cNvPr id="14" name="disc-label-4"/>
          <p:cNvSpPr txBox="1"/>
          <p:nvPr/>
        </p:nvSpPr>
        <p:spPr>
          <a:xfrm>
            <a:off x="566928" y="5248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row-4"/>
          <p:cNvSpPr txBox="1"/>
          <p:nvPr/>
        </p:nvSpPr>
        <p:spPr>
          <a:xfrm>
            <a:off x="1097280" y="5212080"/>
            <a:ext cx="1042416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Implement secure authentication and data protection</a:t>
            </a:r>
            <a:endParaRPr lang="en-US" sz="1600" dirty="0"/>
          </a:p>
          <a:p>
            <a:pPr indent="0" marL="0">
              <a:lnSpc>
                <a:spcPct val="105000"/>
              </a:lnSpc>
              <a:buNone/>
            </a:pPr>
            <a:r>
              <a:rPr lang="en-US" sz="1350" dirty="0">
                <a:solidFill>
                  <a:srgbClr val="475569"/>
                </a:solidFill>
              </a:rPr>
              <a:t>Hashed passwords, signed sessions, role and ownership checks on every route</a:t>
            </a:r>
            <a:endParaRPr lang="en-US" sz="1600" dirty="0"/>
          </a:p>
        </p:txBody>
      </p:sp>
      <p:sp>
        <p:nvSpPr>
          <p:cNvPr id="16" name="obj-note"/>
          <p:cNvSpPr txBox="1"/>
          <p:nvPr/>
        </p:nvSpPr>
        <p:spPr>
          <a:xfrm>
            <a:off x="566928" y="5806440"/>
            <a:ext cx="11064240" cy="365760"/>
          </a:xfrm>
          <a:prstGeom prst="rect">
            <a:avLst/>
          </a:prstGeom>
          <a:noFill/>
          <a:ln/>
        </p:spPr>
        <p:txBody>
          <a:bodyPr wrap="square" lIns="0" tIns="0" rIns="0" bIns="0" rtlCol="0" anchor="ctr"/>
          <a:lstStyle/>
          <a:p>
            <a:pPr indent="0" marL="0">
              <a:buNone/>
            </a:pPr>
            <a:r>
              <a:rPr lang="en-US" sz="1300" i="1" dirty="0">
                <a:solidFill>
                  <a:srgbClr val="475569"/>
                </a:solidFill>
              </a:rPr>
              <a:t>Each objective is traced to the feature that meets it and the tests that prove it — see "Evidence for each objective".</a:t>
            </a:r>
            <a:endParaRPr lang="en-US" sz="1300" dirty="0"/>
          </a:p>
        </p:txBody>
      </p:sp>
      <p:sp>
        <p:nvSpPr>
          <p:cNvPr id="18"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Requirements by User</a:t>
            </a:r>
            <a:endParaRPr lang="en-US" sz="3200" dirty="0"/>
          </a:p>
        </p:txBody>
      </p:sp>
      <p:pic>
        <p:nvPicPr>
          <p:cNvPr id="3" name="Image 0" descr="C:\Users\Kelly\AppData\Local\Temp\claude\c--Users-Kelly-Music-Suzi-Zam-glam\850fabc5-2493-49b4-a862-210ce7ea5cd5\scratchpad\img\01-use-case.png">    </p:cNvPr>
          <p:cNvPicPr>
            <a:picLocks noChangeAspect="1"/>
          </p:cNvPicPr>
          <p:nvPr/>
        </p:nvPicPr>
        <p:blipFill>
          <a:blip r:embed="rId1"/>
          <a:stretch>
            <a:fillRect/>
          </a:stretch>
        </p:blipFill>
        <p:spPr>
          <a:xfrm>
            <a:off x="6576484" y="1234440"/>
            <a:ext cx="4879000" cy="4754880"/>
          </a:xfrm>
          <a:prstGeom prst="rect">
            <a:avLst/>
          </a:prstGeom>
        </p:spPr>
      </p:pic>
      <p:sp>
        <p:nvSpPr>
          <p:cNvPr id="4" name="req-role-0"/>
          <p:cNvSpPr txBox="1"/>
          <p:nvPr/>
        </p:nvSpPr>
        <p:spPr>
          <a:xfrm>
            <a:off x="566928" y="1234440"/>
            <a:ext cx="1371600" cy="274320"/>
          </a:xfrm>
          <a:prstGeom prst="rect">
            <a:avLst/>
          </a:prstGeom>
          <a:noFill/>
          <a:ln/>
        </p:spPr>
        <p:txBody>
          <a:bodyPr wrap="square" lIns="0" tIns="0" rIns="0" bIns="0" rtlCol="0" anchor="ctr"/>
          <a:lstStyle/>
          <a:p>
            <a:pPr indent="0" marL="0">
              <a:buNone/>
            </a:pPr>
            <a:r>
              <a:rPr lang="en-US" sz="1400" b="1" dirty="0">
                <a:solidFill>
                  <a:srgbClr val="4F46E5"/>
                </a:solidFill>
              </a:rPr>
              <a:t>Shopper</a:t>
            </a:r>
            <a:endParaRPr lang="en-US" sz="1400" dirty="0"/>
          </a:p>
        </p:txBody>
      </p:sp>
      <p:sp>
        <p:nvSpPr>
          <p:cNvPr id="5" name="req-list-0"/>
          <p:cNvSpPr txBox="1"/>
          <p:nvPr/>
        </p:nvSpPr>
        <p:spPr>
          <a:xfrm>
            <a:off x="1828800" y="1197864"/>
            <a:ext cx="4343400" cy="1143000"/>
          </a:xfrm>
          <a:prstGeom prst="rect">
            <a:avLst/>
          </a:prstGeom>
          <a:noFill/>
          <a:ln/>
        </p:spPr>
        <p:txBody>
          <a:bodyPr wrap="square" lIns="0" tIns="0" rIns="0" bIns="0" rtlCol="0" anchor="t"/>
          <a:lstStyle/>
          <a:p>
            <a:pPr marL="342900" indent="-342900">
              <a:buSzPct val="100000"/>
              <a:buChar char="•"/>
            </a:pPr>
            <a:r>
              <a:rPr lang="en-US" sz="1150" dirty="0">
                <a:solidFill>
                  <a:srgbClr val="475569"/>
                </a:solidFill>
              </a:rPr>
              <a:t>Register, sign in, agree to the terms</a:t>
            </a:r>
            <a:endParaRPr lang="en-US" sz="1150" dirty="0"/>
          </a:p>
          <a:p>
            <a:pPr marL="342900" indent="-342900">
              <a:buSzPct val="100000"/>
              <a:buChar char="•"/>
            </a:pPr>
            <a:r>
              <a:rPr lang="en-US" sz="1150" dirty="0">
                <a:solidFill>
                  <a:srgbClr val="475569"/>
                </a:solidFill>
              </a:rPr>
              <a:t>Browse, search and filter the catalogue</a:t>
            </a:r>
            <a:endParaRPr lang="en-US" sz="1150" dirty="0"/>
          </a:p>
          <a:p>
            <a:pPr marL="342900" indent="-342900">
              <a:buSzPct val="100000"/>
              <a:buChar char="•"/>
            </a:pPr>
            <a:r>
              <a:rPr lang="en-US" sz="1150" dirty="0">
                <a:solidFill>
                  <a:srgbClr val="475569"/>
                </a:solidFill>
              </a:rPr>
              <a:t>Hold a basket across several shops</a:t>
            </a:r>
            <a:endParaRPr lang="en-US" sz="1150" dirty="0"/>
          </a:p>
          <a:p>
            <a:pPr marL="342900" indent="-342900">
              <a:buSzPct val="100000"/>
              <a:buChar char="•"/>
            </a:pPr>
            <a:r>
              <a:rPr lang="en-US" sz="1150" dirty="0">
                <a:solidFill>
                  <a:srgbClr val="475569"/>
                </a:solidFill>
              </a:rPr>
              <a:t>Check out with an address and a payment method</a:t>
            </a:r>
            <a:endParaRPr lang="en-US" sz="1150" dirty="0"/>
          </a:p>
          <a:p>
            <a:pPr marL="342900" indent="-342900">
              <a:buSzPct val="100000"/>
              <a:buChar char="•"/>
            </a:pPr>
            <a:r>
              <a:rPr lang="en-US" sz="1150" dirty="0">
                <a:solidFill>
                  <a:srgbClr val="475569"/>
                </a:solidFill>
              </a:rPr>
              <a:t>Track each parcel and rate the shop</a:t>
            </a:r>
            <a:endParaRPr lang="en-US" sz="1150" dirty="0"/>
          </a:p>
        </p:txBody>
      </p:sp>
      <p:sp>
        <p:nvSpPr>
          <p:cNvPr id="6" name="req-role-1"/>
          <p:cNvSpPr txBox="1"/>
          <p:nvPr/>
        </p:nvSpPr>
        <p:spPr>
          <a:xfrm>
            <a:off x="566928" y="2450592"/>
            <a:ext cx="1371600" cy="274320"/>
          </a:xfrm>
          <a:prstGeom prst="rect">
            <a:avLst/>
          </a:prstGeom>
          <a:noFill/>
          <a:ln/>
        </p:spPr>
        <p:txBody>
          <a:bodyPr wrap="square" lIns="0" tIns="0" rIns="0" bIns="0" rtlCol="0" anchor="ctr"/>
          <a:lstStyle/>
          <a:p>
            <a:pPr indent="0" marL="0">
              <a:buNone/>
            </a:pPr>
            <a:r>
              <a:rPr lang="en-US" sz="1400" b="1" dirty="0">
                <a:solidFill>
                  <a:srgbClr val="7E22CE"/>
                </a:solidFill>
              </a:rPr>
              <a:t>Shop</a:t>
            </a:r>
            <a:endParaRPr lang="en-US" sz="1400" dirty="0"/>
          </a:p>
        </p:txBody>
      </p:sp>
      <p:sp>
        <p:nvSpPr>
          <p:cNvPr id="7" name="req-list-1"/>
          <p:cNvSpPr txBox="1"/>
          <p:nvPr/>
        </p:nvSpPr>
        <p:spPr>
          <a:xfrm>
            <a:off x="1828800" y="2414016"/>
            <a:ext cx="4343400" cy="1143000"/>
          </a:xfrm>
          <a:prstGeom prst="rect">
            <a:avLst/>
          </a:prstGeom>
          <a:noFill/>
          <a:ln/>
        </p:spPr>
        <p:txBody>
          <a:bodyPr wrap="square" lIns="0" tIns="0" rIns="0" bIns="0" rtlCol="0" anchor="t"/>
          <a:lstStyle/>
          <a:p>
            <a:pPr marL="342900" indent="-342900">
              <a:buSzPct val="100000"/>
              <a:buChar char="•"/>
            </a:pPr>
            <a:r>
              <a:rPr lang="en-US" sz="1150" dirty="0">
                <a:solidFill>
                  <a:srgbClr val="475569"/>
                </a:solidFill>
              </a:rPr>
              <a:t>Register a storefront and upload documents</a:t>
            </a:r>
            <a:endParaRPr lang="en-US" sz="1150" dirty="0"/>
          </a:p>
          <a:p>
            <a:pPr marL="342900" indent="-342900">
              <a:buSzPct val="100000"/>
              <a:buChar char="•"/>
            </a:pPr>
            <a:r>
              <a:rPr lang="en-US" sz="1150" dirty="0">
                <a:solidFill>
                  <a:srgbClr val="475569"/>
                </a:solidFill>
              </a:rPr>
              <a:t>List, edit and withdraw products</a:t>
            </a:r>
            <a:endParaRPr lang="en-US" sz="1150" dirty="0"/>
          </a:p>
          <a:p>
            <a:pPr marL="342900" indent="-342900">
              <a:buSzPct val="100000"/>
              <a:buChar char="•"/>
            </a:pPr>
            <a:r>
              <a:rPr lang="en-US" sz="1150" dirty="0">
                <a:solidFill>
                  <a:srgbClr val="475569"/>
                </a:solidFill>
              </a:rPr>
              <a:t>Release a packed parcel, confirm or deny a pickup</a:t>
            </a:r>
            <a:endParaRPr lang="en-US" sz="1150" dirty="0"/>
          </a:p>
          <a:p>
            <a:pPr marL="342900" indent="-342900">
              <a:buSzPct val="100000"/>
              <a:buChar char="•"/>
            </a:pPr>
            <a:r>
              <a:rPr lang="en-US" sz="1150" dirty="0">
                <a:solidFill>
                  <a:srgbClr val="475569"/>
                </a:solidFill>
              </a:rPr>
              <a:t>Answer ratings, see its own orders only</a:t>
            </a:r>
            <a:endParaRPr lang="en-US" sz="1150" dirty="0"/>
          </a:p>
        </p:txBody>
      </p:sp>
      <p:sp>
        <p:nvSpPr>
          <p:cNvPr id="8" name="req-role-2"/>
          <p:cNvSpPr txBox="1"/>
          <p:nvPr/>
        </p:nvSpPr>
        <p:spPr>
          <a:xfrm>
            <a:off x="566928" y="3666744"/>
            <a:ext cx="1371600" cy="274320"/>
          </a:xfrm>
          <a:prstGeom prst="rect">
            <a:avLst/>
          </a:prstGeom>
          <a:noFill/>
          <a:ln/>
        </p:spPr>
        <p:txBody>
          <a:bodyPr wrap="square" lIns="0" tIns="0" rIns="0" bIns="0" rtlCol="0" anchor="ctr"/>
          <a:lstStyle/>
          <a:p>
            <a:pPr indent="0" marL="0">
              <a:buNone/>
            </a:pPr>
            <a:r>
              <a:rPr lang="en-US" sz="1400" b="1" dirty="0">
                <a:solidFill>
                  <a:srgbClr val="047857"/>
                </a:solidFill>
              </a:rPr>
              <a:t>Courier</a:t>
            </a:r>
            <a:endParaRPr lang="en-US" sz="1400" dirty="0"/>
          </a:p>
        </p:txBody>
      </p:sp>
      <p:sp>
        <p:nvSpPr>
          <p:cNvPr id="9" name="req-list-2"/>
          <p:cNvSpPr txBox="1"/>
          <p:nvPr/>
        </p:nvSpPr>
        <p:spPr>
          <a:xfrm>
            <a:off x="1828800" y="3630168"/>
            <a:ext cx="4343400" cy="1143000"/>
          </a:xfrm>
          <a:prstGeom prst="rect">
            <a:avLst/>
          </a:prstGeom>
          <a:noFill/>
          <a:ln/>
        </p:spPr>
        <p:txBody>
          <a:bodyPr wrap="square" lIns="0" tIns="0" rIns="0" bIns="0" rtlCol="0" anchor="t"/>
          <a:lstStyle/>
          <a:p>
            <a:pPr marL="342900" indent="-342900">
              <a:buSzPct val="100000"/>
              <a:buChar char="•"/>
            </a:pPr>
            <a:r>
              <a:rPr lang="en-US" sz="1150" dirty="0">
                <a:solidFill>
                  <a:srgbClr val="475569"/>
                </a:solidFill>
              </a:rPr>
              <a:t>Go on and off duty</a:t>
            </a:r>
            <a:endParaRPr lang="en-US" sz="1150" dirty="0"/>
          </a:p>
          <a:p>
            <a:pPr marL="342900" indent="-342900">
              <a:buSzPct val="100000"/>
              <a:buChar char="•"/>
            </a:pPr>
            <a:r>
              <a:rPr lang="en-US" sz="1150" dirty="0">
                <a:solidFill>
                  <a:srgbClr val="475569"/>
                </a:solidFill>
              </a:rPr>
              <a:t>See parcels waiting, ask for one</a:t>
            </a:r>
            <a:endParaRPr lang="en-US" sz="1150" dirty="0"/>
          </a:p>
          <a:p>
            <a:pPr marL="342900" indent="-342900">
              <a:buSzPct val="100000"/>
              <a:buChar char="•"/>
            </a:pPr>
            <a:r>
              <a:rPr lang="en-US" sz="1150" dirty="0">
                <a:solidFill>
                  <a:srgbClr val="475569"/>
                </a:solidFill>
              </a:rPr>
              <a:t>Collect, deliver, and report a problem</a:t>
            </a:r>
            <a:endParaRPr lang="en-US" sz="1150" dirty="0"/>
          </a:p>
        </p:txBody>
      </p:sp>
      <p:sp>
        <p:nvSpPr>
          <p:cNvPr id="10" name="req-role-3"/>
          <p:cNvSpPr txBox="1"/>
          <p:nvPr/>
        </p:nvSpPr>
        <p:spPr>
          <a:xfrm>
            <a:off x="566928" y="4882896"/>
            <a:ext cx="1371600" cy="274320"/>
          </a:xfrm>
          <a:prstGeom prst="rect">
            <a:avLst/>
          </a:prstGeom>
          <a:noFill/>
          <a:ln/>
        </p:spPr>
        <p:txBody>
          <a:bodyPr wrap="square" lIns="0" tIns="0" rIns="0" bIns="0" rtlCol="0" anchor="ctr"/>
          <a:lstStyle/>
          <a:p>
            <a:pPr indent="0" marL="0">
              <a:buNone/>
            </a:pPr>
            <a:r>
              <a:rPr lang="en-US" sz="1400" b="1" dirty="0">
                <a:solidFill>
                  <a:srgbClr val="1C3557"/>
                </a:solidFill>
              </a:rPr>
              <a:t>Administrator</a:t>
            </a:r>
            <a:endParaRPr lang="en-US" sz="1400" dirty="0"/>
          </a:p>
        </p:txBody>
      </p:sp>
      <p:sp>
        <p:nvSpPr>
          <p:cNvPr id="11" name="req-list-3"/>
          <p:cNvSpPr txBox="1"/>
          <p:nvPr/>
        </p:nvSpPr>
        <p:spPr>
          <a:xfrm>
            <a:off x="1828800" y="4846320"/>
            <a:ext cx="4343400" cy="1143000"/>
          </a:xfrm>
          <a:prstGeom prst="rect">
            <a:avLst/>
          </a:prstGeom>
          <a:noFill/>
          <a:ln/>
        </p:spPr>
        <p:txBody>
          <a:bodyPr wrap="square" lIns="0" tIns="0" rIns="0" bIns="0" rtlCol="0" anchor="t"/>
          <a:lstStyle/>
          <a:p>
            <a:pPr marL="342900" indent="-342900">
              <a:buSzPct val="100000"/>
              <a:buChar char="•"/>
            </a:pPr>
            <a:r>
              <a:rPr lang="en-US" sz="1150" dirty="0">
                <a:solidFill>
                  <a:srgbClr val="475569"/>
                </a:solidFill>
              </a:rPr>
              <a:t>Verify shops, approve couriers</a:t>
            </a:r>
            <a:endParaRPr lang="en-US" sz="1150" dirty="0"/>
          </a:p>
          <a:p>
            <a:pPr marL="342900" indent="-342900">
              <a:buSzPct val="100000"/>
              <a:buChar char="•"/>
            </a:pPr>
            <a:r>
              <a:rPr lang="en-US" sz="1150" dirty="0">
                <a:solidFill>
                  <a:srgbClr val="475569"/>
                </a:solidFill>
              </a:rPr>
              <a:t>Act on complaints: suspend, reinstate</a:t>
            </a:r>
            <a:endParaRPr lang="en-US" sz="1150" dirty="0"/>
          </a:p>
          <a:p>
            <a:pPr marL="342900" indent="-342900">
              <a:buSzPct val="100000"/>
              <a:buChar char="•"/>
            </a:pPr>
            <a:r>
              <a:rPr lang="en-US" sz="1150" dirty="0">
                <a:solidFill>
                  <a:srgbClr val="475569"/>
                </a:solidFill>
              </a:rPr>
              <a:t>Edit, delete and restore accounts</a:t>
            </a:r>
            <a:endParaRPr lang="en-US" sz="1150" dirty="0"/>
          </a:p>
        </p:txBody>
      </p:sp>
      <p:sp>
        <p:nvSpPr>
          <p:cNvPr id="13"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System Architecture</a:t>
            </a:r>
            <a:endParaRPr lang="en-US" sz="3200" dirty="0"/>
          </a:p>
        </p:txBody>
      </p:sp>
      <p:sp>
        <p:nvSpPr>
          <p:cNvPr id="3" name="band-0"/>
          <p:cNvSpPr/>
          <p:nvPr/>
        </p:nvSpPr>
        <p:spPr>
          <a:xfrm>
            <a:off x="566928" y="1280160"/>
            <a:ext cx="7498080" cy="914400"/>
          </a:xfrm>
          <a:prstGeom prst="roundRect">
            <a:avLst>
              <a:gd name="adj" fmla="val 6000"/>
            </a:avLst>
          </a:prstGeom>
          <a:solidFill>
            <a:srgbClr val="F1F5F9"/>
          </a:solidFill>
          <a:ln/>
        </p:spPr>
      </p:sp>
      <p:sp>
        <p:nvSpPr>
          <p:cNvPr id="4" name="band-label-0"/>
          <p:cNvSpPr txBox="1"/>
          <p:nvPr/>
        </p:nvSpPr>
        <p:spPr>
          <a:xfrm>
            <a:off x="768096" y="1371600"/>
            <a:ext cx="7095744" cy="274320"/>
          </a:xfrm>
          <a:prstGeom prst="rect">
            <a:avLst/>
          </a:prstGeom>
          <a:noFill/>
          <a:ln/>
        </p:spPr>
        <p:txBody>
          <a:bodyPr wrap="square" lIns="0" tIns="0" rIns="0" bIns="0" rtlCol="0" anchor="ctr"/>
          <a:lstStyle/>
          <a:p>
            <a:pPr indent="0" marL="0">
              <a:buNone/>
            </a:pPr>
            <a:r>
              <a:rPr lang="en-US" sz="1250" b="1" dirty="0">
                <a:solidFill>
                  <a:srgbClr val="4F46E5"/>
                </a:solidFill>
              </a:rPr>
              <a:t>User interface — React + Vite + Tailwind</a:t>
            </a:r>
            <a:endParaRPr lang="en-US" sz="1250" dirty="0"/>
          </a:p>
        </p:txBody>
      </p:sp>
      <p:sp>
        <p:nvSpPr>
          <p:cNvPr id="5" name="chip-0-0"/>
          <p:cNvSpPr/>
          <p:nvPr/>
        </p:nvSpPr>
        <p:spPr>
          <a:xfrm>
            <a:off x="768096" y="1691640"/>
            <a:ext cx="1677924" cy="384048"/>
          </a:xfrm>
          <a:prstGeom prst="roundRect">
            <a:avLst>
              <a:gd name="adj" fmla="val 11905"/>
            </a:avLst>
          </a:prstGeom>
          <a:solidFill>
            <a:srgbClr val="FFFFFF"/>
          </a:solidFill>
          <a:ln/>
        </p:spPr>
      </p:sp>
      <p:sp>
        <p:nvSpPr>
          <p:cNvPr id="6" name="chip-label-0-0"/>
          <p:cNvSpPr txBox="1"/>
          <p:nvPr/>
        </p:nvSpPr>
        <p:spPr>
          <a:xfrm>
            <a:off x="822960" y="169164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Customer pages</a:t>
            </a:r>
            <a:endParaRPr lang="en-US" sz="1000" dirty="0"/>
          </a:p>
        </p:txBody>
      </p:sp>
      <p:sp>
        <p:nvSpPr>
          <p:cNvPr id="7" name="chip-0-1"/>
          <p:cNvSpPr/>
          <p:nvPr/>
        </p:nvSpPr>
        <p:spPr>
          <a:xfrm>
            <a:off x="2574036" y="1691640"/>
            <a:ext cx="1677924" cy="384048"/>
          </a:xfrm>
          <a:prstGeom prst="roundRect">
            <a:avLst>
              <a:gd name="adj" fmla="val 11905"/>
            </a:avLst>
          </a:prstGeom>
          <a:solidFill>
            <a:srgbClr val="FFFFFF"/>
          </a:solidFill>
          <a:ln/>
        </p:spPr>
      </p:sp>
      <p:sp>
        <p:nvSpPr>
          <p:cNvPr id="8" name="chip-label-0-1"/>
          <p:cNvSpPr txBox="1"/>
          <p:nvPr/>
        </p:nvSpPr>
        <p:spPr>
          <a:xfrm>
            <a:off x="2628900" y="169164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Shop dashboard</a:t>
            </a:r>
            <a:endParaRPr lang="en-US" sz="1000" dirty="0"/>
          </a:p>
        </p:txBody>
      </p:sp>
      <p:sp>
        <p:nvSpPr>
          <p:cNvPr id="9" name="chip-0-2"/>
          <p:cNvSpPr/>
          <p:nvPr/>
        </p:nvSpPr>
        <p:spPr>
          <a:xfrm>
            <a:off x="4379976" y="1691640"/>
            <a:ext cx="1677924" cy="384048"/>
          </a:xfrm>
          <a:prstGeom prst="roundRect">
            <a:avLst>
              <a:gd name="adj" fmla="val 11905"/>
            </a:avLst>
          </a:prstGeom>
          <a:solidFill>
            <a:srgbClr val="FFFFFF"/>
          </a:solidFill>
          <a:ln/>
        </p:spPr>
      </p:sp>
      <p:sp>
        <p:nvSpPr>
          <p:cNvPr id="10" name="chip-label-0-2"/>
          <p:cNvSpPr txBox="1"/>
          <p:nvPr/>
        </p:nvSpPr>
        <p:spPr>
          <a:xfrm>
            <a:off x="4434840" y="169164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Courier dashboard</a:t>
            </a:r>
            <a:endParaRPr lang="en-US" sz="1000" dirty="0"/>
          </a:p>
        </p:txBody>
      </p:sp>
      <p:sp>
        <p:nvSpPr>
          <p:cNvPr id="11" name="chip-0-3"/>
          <p:cNvSpPr/>
          <p:nvPr/>
        </p:nvSpPr>
        <p:spPr>
          <a:xfrm>
            <a:off x="6185916" y="1691640"/>
            <a:ext cx="1677924" cy="384048"/>
          </a:xfrm>
          <a:prstGeom prst="roundRect">
            <a:avLst>
              <a:gd name="adj" fmla="val 11905"/>
            </a:avLst>
          </a:prstGeom>
          <a:solidFill>
            <a:srgbClr val="FFFFFF"/>
          </a:solidFill>
          <a:ln/>
        </p:spPr>
      </p:sp>
      <p:sp>
        <p:nvSpPr>
          <p:cNvPr id="12" name="chip-label-0-3"/>
          <p:cNvSpPr txBox="1"/>
          <p:nvPr/>
        </p:nvSpPr>
        <p:spPr>
          <a:xfrm>
            <a:off x="6240780" y="169164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Admin console</a:t>
            </a:r>
            <a:endParaRPr lang="en-US" sz="1000" dirty="0"/>
          </a:p>
        </p:txBody>
      </p:sp>
      <p:sp>
        <p:nvSpPr>
          <p:cNvPr id="13" name="arrow-0"/>
          <p:cNvSpPr/>
          <p:nvPr/>
        </p:nvSpPr>
        <p:spPr>
          <a:xfrm>
            <a:off x="4197096" y="2231136"/>
            <a:ext cx="237744" cy="246888"/>
          </a:xfrm>
          <a:prstGeom prst="downArrow">
            <a:avLst/>
          </a:prstGeom>
          <a:solidFill>
            <a:srgbClr val="CBD5E1"/>
          </a:solidFill>
          <a:ln/>
        </p:spPr>
      </p:sp>
      <p:sp>
        <p:nvSpPr>
          <p:cNvPr id="14" name="band-1"/>
          <p:cNvSpPr/>
          <p:nvPr/>
        </p:nvSpPr>
        <p:spPr>
          <a:xfrm>
            <a:off x="566928" y="2514600"/>
            <a:ext cx="7498080" cy="914400"/>
          </a:xfrm>
          <a:prstGeom prst="roundRect">
            <a:avLst>
              <a:gd name="adj" fmla="val 6000"/>
            </a:avLst>
          </a:prstGeom>
          <a:solidFill>
            <a:srgbClr val="F1F5F9"/>
          </a:solidFill>
          <a:ln/>
        </p:spPr>
      </p:sp>
      <p:sp>
        <p:nvSpPr>
          <p:cNvPr id="15" name="band-label-1"/>
          <p:cNvSpPr txBox="1"/>
          <p:nvPr/>
        </p:nvSpPr>
        <p:spPr>
          <a:xfrm>
            <a:off x="768096" y="2606040"/>
            <a:ext cx="7095744" cy="274320"/>
          </a:xfrm>
          <a:prstGeom prst="rect">
            <a:avLst/>
          </a:prstGeom>
          <a:noFill/>
          <a:ln/>
        </p:spPr>
        <p:txBody>
          <a:bodyPr wrap="square" lIns="0" tIns="0" rIns="0" bIns="0" rtlCol="0" anchor="ctr"/>
          <a:lstStyle/>
          <a:p>
            <a:pPr indent="0" marL="0">
              <a:buNone/>
            </a:pPr>
            <a:r>
              <a:rPr lang="en-US" sz="1250" b="1" dirty="0">
                <a:solidFill>
                  <a:srgbClr val="1C3557"/>
                </a:solidFill>
              </a:rPr>
              <a:t>API — Express</a:t>
            </a:r>
            <a:endParaRPr lang="en-US" sz="1250" dirty="0"/>
          </a:p>
        </p:txBody>
      </p:sp>
      <p:sp>
        <p:nvSpPr>
          <p:cNvPr id="16" name="chip-1-0"/>
          <p:cNvSpPr/>
          <p:nvPr/>
        </p:nvSpPr>
        <p:spPr>
          <a:xfrm>
            <a:off x="768096" y="2926080"/>
            <a:ext cx="1677924" cy="384048"/>
          </a:xfrm>
          <a:prstGeom prst="roundRect">
            <a:avLst>
              <a:gd name="adj" fmla="val 11905"/>
            </a:avLst>
          </a:prstGeom>
          <a:solidFill>
            <a:srgbClr val="FFFFFF"/>
          </a:solidFill>
          <a:ln/>
        </p:spPr>
      </p:sp>
      <p:sp>
        <p:nvSpPr>
          <p:cNvPr id="17" name="chip-label-1-0"/>
          <p:cNvSpPr txBox="1"/>
          <p:nvPr/>
        </p:nvSpPr>
        <p:spPr>
          <a:xfrm>
            <a:off x="822960" y="292608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Routes</a:t>
            </a:r>
            <a:endParaRPr lang="en-US" sz="1000" dirty="0"/>
          </a:p>
        </p:txBody>
      </p:sp>
      <p:sp>
        <p:nvSpPr>
          <p:cNvPr id="18" name="chip-1-1"/>
          <p:cNvSpPr/>
          <p:nvPr/>
        </p:nvSpPr>
        <p:spPr>
          <a:xfrm>
            <a:off x="2574036" y="2926080"/>
            <a:ext cx="1677924" cy="384048"/>
          </a:xfrm>
          <a:prstGeom prst="roundRect">
            <a:avLst>
              <a:gd name="adj" fmla="val 11905"/>
            </a:avLst>
          </a:prstGeom>
          <a:solidFill>
            <a:srgbClr val="FFFFFF"/>
          </a:solidFill>
          <a:ln/>
        </p:spPr>
      </p:sp>
      <p:sp>
        <p:nvSpPr>
          <p:cNvPr id="19" name="chip-label-1-1"/>
          <p:cNvSpPr txBox="1"/>
          <p:nvPr/>
        </p:nvSpPr>
        <p:spPr>
          <a:xfrm>
            <a:off x="2628900" y="292608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Auth, role and suspension checks</a:t>
            </a:r>
            <a:endParaRPr lang="en-US" sz="1000" dirty="0"/>
          </a:p>
        </p:txBody>
      </p:sp>
      <p:sp>
        <p:nvSpPr>
          <p:cNvPr id="20" name="chip-1-2"/>
          <p:cNvSpPr/>
          <p:nvPr/>
        </p:nvSpPr>
        <p:spPr>
          <a:xfrm>
            <a:off x="4379976" y="2926080"/>
            <a:ext cx="1677924" cy="384048"/>
          </a:xfrm>
          <a:prstGeom prst="roundRect">
            <a:avLst>
              <a:gd name="adj" fmla="val 11905"/>
            </a:avLst>
          </a:prstGeom>
          <a:solidFill>
            <a:srgbClr val="FFFFFF"/>
          </a:solidFill>
          <a:ln/>
        </p:spPr>
      </p:sp>
      <p:sp>
        <p:nvSpPr>
          <p:cNvPr id="21" name="chip-label-1-2"/>
          <p:cNvSpPr txBox="1"/>
          <p:nvPr/>
        </p:nvSpPr>
        <p:spPr>
          <a:xfrm>
            <a:off x="4434840" y="292608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Controllers</a:t>
            </a:r>
            <a:endParaRPr lang="en-US" sz="1000" dirty="0"/>
          </a:p>
        </p:txBody>
      </p:sp>
      <p:sp>
        <p:nvSpPr>
          <p:cNvPr id="22" name="chip-1-3"/>
          <p:cNvSpPr/>
          <p:nvPr/>
        </p:nvSpPr>
        <p:spPr>
          <a:xfrm>
            <a:off x="6185916" y="2926080"/>
            <a:ext cx="1677924" cy="384048"/>
          </a:xfrm>
          <a:prstGeom prst="roundRect">
            <a:avLst>
              <a:gd name="adj" fmla="val 11905"/>
            </a:avLst>
          </a:prstGeom>
          <a:solidFill>
            <a:srgbClr val="FFFFFF"/>
          </a:solidFill>
          <a:ln/>
        </p:spPr>
      </p:sp>
      <p:sp>
        <p:nvSpPr>
          <p:cNvPr id="23" name="chip-label-1-3"/>
          <p:cNvSpPr txBox="1"/>
          <p:nvPr/>
        </p:nvSpPr>
        <p:spPr>
          <a:xfrm>
            <a:off x="6240780" y="292608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Error handling</a:t>
            </a:r>
            <a:endParaRPr lang="en-US" sz="1000" dirty="0"/>
          </a:p>
        </p:txBody>
      </p:sp>
      <p:sp>
        <p:nvSpPr>
          <p:cNvPr id="24" name="arrow-1"/>
          <p:cNvSpPr/>
          <p:nvPr/>
        </p:nvSpPr>
        <p:spPr>
          <a:xfrm>
            <a:off x="4197096" y="3465576"/>
            <a:ext cx="237744" cy="246888"/>
          </a:xfrm>
          <a:prstGeom prst="downArrow">
            <a:avLst/>
          </a:prstGeom>
          <a:solidFill>
            <a:srgbClr val="CBD5E1"/>
          </a:solidFill>
          <a:ln/>
        </p:spPr>
      </p:sp>
      <p:sp>
        <p:nvSpPr>
          <p:cNvPr id="25" name="band-2"/>
          <p:cNvSpPr/>
          <p:nvPr/>
        </p:nvSpPr>
        <p:spPr>
          <a:xfrm>
            <a:off x="566928" y="3749040"/>
            <a:ext cx="7498080" cy="914400"/>
          </a:xfrm>
          <a:prstGeom prst="roundRect">
            <a:avLst>
              <a:gd name="adj" fmla="val 6000"/>
            </a:avLst>
          </a:prstGeom>
          <a:solidFill>
            <a:srgbClr val="F1F5F9"/>
          </a:solidFill>
          <a:ln/>
        </p:spPr>
      </p:sp>
      <p:sp>
        <p:nvSpPr>
          <p:cNvPr id="26" name="band-label-2"/>
          <p:cNvSpPr txBox="1"/>
          <p:nvPr/>
        </p:nvSpPr>
        <p:spPr>
          <a:xfrm>
            <a:off x="768096" y="3840480"/>
            <a:ext cx="7095744" cy="274320"/>
          </a:xfrm>
          <a:prstGeom prst="rect">
            <a:avLst/>
          </a:prstGeom>
          <a:noFill/>
          <a:ln/>
        </p:spPr>
        <p:txBody>
          <a:bodyPr wrap="square" lIns="0" tIns="0" rIns="0" bIns="0" rtlCol="0" anchor="ctr"/>
          <a:lstStyle/>
          <a:p>
            <a:pPr indent="0" marL="0">
              <a:buNone/>
            </a:pPr>
            <a:r>
              <a:rPr lang="en-US" sz="1250" b="1" dirty="0">
                <a:solidFill>
                  <a:srgbClr val="7E22CE"/>
                </a:solidFill>
              </a:rPr>
              <a:t>Domain models — every rule, and all the SQL</a:t>
            </a:r>
            <a:endParaRPr lang="en-US" sz="1250" dirty="0"/>
          </a:p>
        </p:txBody>
      </p:sp>
      <p:sp>
        <p:nvSpPr>
          <p:cNvPr id="27" name="chip-2-0"/>
          <p:cNvSpPr/>
          <p:nvPr/>
        </p:nvSpPr>
        <p:spPr>
          <a:xfrm>
            <a:off x="768096" y="4160520"/>
            <a:ext cx="1677924" cy="384048"/>
          </a:xfrm>
          <a:prstGeom prst="roundRect">
            <a:avLst>
              <a:gd name="adj" fmla="val 11905"/>
            </a:avLst>
          </a:prstGeom>
          <a:solidFill>
            <a:srgbClr val="FFFFFF"/>
          </a:solidFill>
          <a:ln/>
        </p:spPr>
      </p:sp>
      <p:sp>
        <p:nvSpPr>
          <p:cNvPr id="28" name="chip-label-2-0"/>
          <p:cNvSpPr txBox="1"/>
          <p:nvPr/>
        </p:nvSpPr>
        <p:spPr>
          <a:xfrm>
            <a:off x="822960" y="416052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Accounts</a:t>
            </a:r>
            <a:endParaRPr lang="en-US" sz="1000" dirty="0"/>
          </a:p>
        </p:txBody>
      </p:sp>
      <p:sp>
        <p:nvSpPr>
          <p:cNvPr id="29" name="chip-2-1"/>
          <p:cNvSpPr/>
          <p:nvPr/>
        </p:nvSpPr>
        <p:spPr>
          <a:xfrm>
            <a:off x="2574036" y="4160520"/>
            <a:ext cx="1677924" cy="384048"/>
          </a:xfrm>
          <a:prstGeom prst="roundRect">
            <a:avLst>
              <a:gd name="adj" fmla="val 11905"/>
            </a:avLst>
          </a:prstGeom>
          <a:solidFill>
            <a:srgbClr val="FFFFFF"/>
          </a:solidFill>
          <a:ln/>
        </p:spPr>
      </p:sp>
      <p:sp>
        <p:nvSpPr>
          <p:cNvPr id="30" name="chip-label-2-1"/>
          <p:cNvSpPr txBox="1"/>
          <p:nvPr/>
        </p:nvSpPr>
        <p:spPr>
          <a:xfrm>
            <a:off x="2628900" y="416052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Catalogue</a:t>
            </a:r>
            <a:endParaRPr lang="en-US" sz="1000" dirty="0"/>
          </a:p>
        </p:txBody>
      </p:sp>
      <p:sp>
        <p:nvSpPr>
          <p:cNvPr id="31" name="chip-2-2"/>
          <p:cNvSpPr/>
          <p:nvPr/>
        </p:nvSpPr>
        <p:spPr>
          <a:xfrm>
            <a:off x="4379976" y="4160520"/>
            <a:ext cx="1677924" cy="384048"/>
          </a:xfrm>
          <a:prstGeom prst="roundRect">
            <a:avLst>
              <a:gd name="adj" fmla="val 11905"/>
            </a:avLst>
          </a:prstGeom>
          <a:solidFill>
            <a:srgbClr val="FFFFFF"/>
          </a:solidFill>
          <a:ln/>
        </p:spPr>
      </p:sp>
      <p:sp>
        <p:nvSpPr>
          <p:cNvPr id="32" name="chip-label-2-2"/>
          <p:cNvSpPr txBox="1"/>
          <p:nvPr/>
        </p:nvSpPr>
        <p:spPr>
          <a:xfrm>
            <a:off x="4434840" y="416052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Orders and parcels</a:t>
            </a:r>
            <a:endParaRPr lang="en-US" sz="1000" dirty="0"/>
          </a:p>
        </p:txBody>
      </p:sp>
      <p:sp>
        <p:nvSpPr>
          <p:cNvPr id="33" name="chip-2-3"/>
          <p:cNvSpPr/>
          <p:nvPr/>
        </p:nvSpPr>
        <p:spPr>
          <a:xfrm>
            <a:off x="6185916" y="4160520"/>
            <a:ext cx="1677924" cy="384048"/>
          </a:xfrm>
          <a:prstGeom prst="roundRect">
            <a:avLst>
              <a:gd name="adj" fmla="val 11905"/>
            </a:avLst>
          </a:prstGeom>
          <a:solidFill>
            <a:srgbClr val="FFFFFF"/>
          </a:solidFill>
          <a:ln/>
        </p:spPr>
      </p:sp>
      <p:sp>
        <p:nvSpPr>
          <p:cNvPr id="34" name="chip-label-2-3"/>
          <p:cNvSpPr txBox="1"/>
          <p:nvPr/>
        </p:nvSpPr>
        <p:spPr>
          <a:xfrm>
            <a:off x="6240780" y="4160520"/>
            <a:ext cx="1568196" cy="384048"/>
          </a:xfrm>
          <a:prstGeom prst="rect">
            <a:avLst/>
          </a:prstGeom>
          <a:noFill/>
          <a:ln/>
        </p:spPr>
        <p:txBody>
          <a:bodyPr wrap="square" lIns="0" tIns="0" rIns="0" bIns="0" rtlCol="0" anchor="ctr"/>
          <a:lstStyle/>
          <a:p>
            <a:pPr algn="ctr" indent="0" marL="0">
              <a:buNone/>
            </a:pPr>
            <a:r>
              <a:rPr lang="en-US" sz="1000" dirty="0">
                <a:solidFill>
                  <a:srgbClr val="0F172A"/>
                </a:solidFill>
              </a:rPr>
              <a:t>Delivery and trust</a:t>
            </a:r>
            <a:endParaRPr lang="en-US" sz="1000" dirty="0"/>
          </a:p>
        </p:txBody>
      </p:sp>
      <p:sp>
        <p:nvSpPr>
          <p:cNvPr id="35" name="arrow-2"/>
          <p:cNvSpPr/>
          <p:nvPr/>
        </p:nvSpPr>
        <p:spPr>
          <a:xfrm>
            <a:off x="4197096" y="4700016"/>
            <a:ext cx="237744" cy="246888"/>
          </a:xfrm>
          <a:prstGeom prst="downArrow">
            <a:avLst/>
          </a:prstGeom>
          <a:solidFill>
            <a:srgbClr val="CBD5E1"/>
          </a:solidFill>
          <a:ln/>
        </p:spPr>
      </p:sp>
      <p:sp>
        <p:nvSpPr>
          <p:cNvPr id="36" name="band-3"/>
          <p:cNvSpPr/>
          <p:nvPr/>
        </p:nvSpPr>
        <p:spPr>
          <a:xfrm>
            <a:off x="566928" y="4983480"/>
            <a:ext cx="7498080" cy="914400"/>
          </a:xfrm>
          <a:prstGeom prst="roundRect">
            <a:avLst>
              <a:gd name="adj" fmla="val 6000"/>
            </a:avLst>
          </a:prstGeom>
          <a:solidFill>
            <a:srgbClr val="F1F5F9"/>
          </a:solidFill>
          <a:ln/>
        </p:spPr>
      </p:sp>
      <p:sp>
        <p:nvSpPr>
          <p:cNvPr id="37" name="band-label-3"/>
          <p:cNvSpPr txBox="1"/>
          <p:nvPr/>
        </p:nvSpPr>
        <p:spPr>
          <a:xfrm>
            <a:off x="768096" y="5074920"/>
            <a:ext cx="7095744" cy="274320"/>
          </a:xfrm>
          <a:prstGeom prst="rect">
            <a:avLst/>
          </a:prstGeom>
          <a:noFill/>
          <a:ln/>
        </p:spPr>
        <p:txBody>
          <a:bodyPr wrap="square" lIns="0" tIns="0" rIns="0" bIns="0" rtlCol="0" anchor="ctr"/>
          <a:lstStyle/>
          <a:p>
            <a:pPr indent="0" marL="0">
              <a:buNone/>
            </a:pPr>
            <a:r>
              <a:rPr lang="en-US" sz="1250" b="1" dirty="0">
                <a:solidFill>
                  <a:srgbClr val="047857"/>
                </a:solidFill>
              </a:rPr>
              <a:t>Data — MySQL / MariaDB</a:t>
            </a:r>
            <a:endParaRPr lang="en-US" sz="1250" dirty="0"/>
          </a:p>
        </p:txBody>
      </p:sp>
      <p:sp>
        <p:nvSpPr>
          <p:cNvPr id="38" name="chip-3-0"/>
          <p:cNvSpPr/>
          <p:nvPr/>
        </p:nvSpPr>
        <p:spPr>
          <a:xfrm>
            <a:off x="768096" y="5394960"/>
            <a:ext cx="3483864" cy="384048"/>
          </a:xfrm>
          <a:prstGeom prst="roundRect">
            <a:avLst>
              <a:gd name="adj" fmla="val 11905"/>
            </a:avLst>
          </a:prstGeom>
          <a:solidFill>
            <a:srgbClr val="FFFFFF"/>
          </a:solidFill>
          <a:ln/>
        </p:spPr>
      </p:sp>
      <p:sp>
        <p:nvSpPr>
          <p:cNvPr id="39" name="chip-label-3-0"/>
          <p:cNvSpPr txBox="1"/>
          <p:nvPr/>
        </p:nvSpPr>
        <p:spPr>
          <a:xfrm>
            <a:off x="822960" y="5394960"/>
            <a:ext cx="3374136" cy="384048"/>
          </a:xfrm>
          <a:prstGeom prst="rect">
            <a:avLst/>
          </a:prstGeom>
          <a:noFill/>
          <a:ln/>
        </p:spPr>
        <p:txBody>
          <a:bodyPr wrap="square" lIns="0" tIns="0" rIns="0" bIns="0" rtlCol="0" anchor="ctr"/>
          <a:lstStyle/>
          <a:p>
            <a:pPr algn="ctr" indent="0" marL="0">
              <a:buNone/>
            </a:pPr>
            <a:r>
              <a:rPr lang="en-US" sz="1000" dirty="0">
                <a:solidFill>
                  <a:srgbClr val="0F172A"/>
                </a:solidFill>
              </a:rPr>
              <a:t>15 tables, created and migrated on startup</a:t>
            </a:r>
            <a:endParaRPr lang="en-US" sz="1000" dirty="0"/>
          </a:p>
        </p:txBody>
      </p:sp>
      <p:sp>
        <p:nvSpPr>
          <p:cNvPr id="40" name="chip-3-1"/>
          <p:cNvSpPr/>
          <p:nvPr/>
        </p:nvSpPr>
        <p:spPr>
          <a:xfrm>
            <a:off x="4379976" y="5394960"/>
            <a:ext cx="3483864" cy="384048"/>
          </a:xfrm>
          <a:prstGeom prst="roundRect">
            <a:avLst>
              <a:gd name="adj" fmla="val 11905"/>
            </a:avLst>
          </a:prstGeom>
          <a:solidFill>
            <a:srgbClr val="FFFFFF"/>
          </a:solidFill>
          <a:ln/>
        </p:spPr>
      </p:sp>
      <p:sp>
        <p:nvSpPr>
          <p:cNvPr id="41" name="chip-label-3-1"/>
          <p:cNvSpPr txBox="1"/>
          <p:nvPr/>
        </p:nvSpPr>
        <p:spPr>
          <a:xfrm>
            <a:off x="4434840" y="5394960"/>
            <a:ext cx="3374136" cy="384048"/>
          </a:xfrm>
          <a:prstGeom prst="rect">
            <a:avLst/>
          </a:prstGeom>
          <a:noFill/>
          <a:ln/>
        </p:spPr>
        <p:txBody>
          <a:bodyPr wrap="square" lIns="0" tIns="0" rIns="0" bIns="0" rtlCol="0" anchor="ctr"/>
          <a:lstStyle/>
          <a:p>
            <a:pPr algn="ctr" indent="0" marL="0">
              <a:buNone/>
            </a:pPr>
            <a:r>
              <a:rPr lang="en-US" sz="1000" dirty="0">
                <a:solidFill>
                  <a:srgbClr val="0F172A"/>
                </a:solidFill>
              </a:rPr>
              <a:t>Uploaded photographs</a:t>
            </a:r>
            <a:endParaRPr lang="en-US" sz="1000" dirty="0"/>
          </a:p>
        </p:txBody>
      </p:sp>
      <p:sp>
        <p:nvSpPr>
          <p:cNvPr id="42" name="card-arch"/>
          <p:cNvSpPr/>
          <p:nvPr/>
        </p:nvSpPr>
        <p:spPr>
          <a:xfrm>
            <a:off x="8321040" y="1188720"/>
            <a:ext cx="3310128" cy="4892040"/>
          </a:xfrm>
          <a:prstGeom prst="roundRect">
            <a:avLst>
              <a:gd name="adj" fmla="val 2210"/>
            </a:avLst>
          </a:prstGeom>
          <a:solidFill>
            <a:srgbClr val="F1F5F9"/>
          </a:solidFill>
          <a:ln/>
        </p:spPr>
      </p:sp>
      <p:sp>
        <p:nvSpPr>
          <p:cNvPr id="43" name="card-head-arch"/>
          <p:cNvSpPr txBox="1"/>
          <p:nvPr/>
        </p:nvSpPr>
        <p:spPr>
          <a:xfrm>
            <a:off x="8577072" y="1371600"/>
            <a:ext cx="2798064" cy="347472"/>
          </a:xfrm>
          <a:prstGeom prst="rect">
            <a:avLst/>
          </a:prstGeom>
          <a:noFill/>
          <a:ln/>
        </p:spPr>
        <p:txBody>
          <a:bodyPr wrap="square" lIns="0" tIns="0" rIns="0" bIns="0" rtlCol="0" anchor="ctr"/>
          <a:lstStyle/>
          <a:p>
            <a:pPr indent="0" marL="0">
              <a:buNone/>
            </a:pPr>
            <a:r>
              <a:rPr lang="en-US" sz="1500" b="1" dirty="0">
                <a:solidFill>
                  <a:srgbClr val="1C3557"/>
                </a:solidFill>
              </a:rPr>
              <a:t>Three layers, one language</a:t>
            </a:r>
            <a:endParaRPr lang="en-US" sz="1500" dirty="0"/>
          </a:p>
        </p:txBody>
      </p:sp>
      <p:sp>
        <p:nvSpPr>
          <p:cNvPr id="44" name="card-body-arch"/>
          <p:cNvSpPr txBox="1"/>
          <p:nvPr/>
        </p:nvSpPr>
        <p:spPr>
          <a:xfrm>
            <a:off x="8577072" y="1755648"/>
            <a:ext cx="2798064" cy="41422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React + Vite in the browser; every call goes through one API client.</a:t>
            </a:r>
            <a:endParaRPr lang="en-US" sz="1300" dirty="0"/>
          </a:p>
          <a:p>
            <a:pPr marL="342900" indent="-342900">
              <a:spcAft>
                <a:spcPts val="500"/>
              </a:spcAft>
              <a:buSzPct val="100000"/>
              <a:buChar char="•"/>
            </a:pPr>
            <a:r>
              <a:rPr lang="en-US" sz="1300" dirty="0">
                <a:solidFill>
                  <a:srgbClr val="475569"/>
                </a:solidFill>
              </a:rPr>
              <a:t>Express holds routes, middleware and controllers — HTTP only.</a:t>
            </a:r>
            <a:endParaRPr lang="en-US" sz="1300" dirty="0"/>
          </a:p>
          <a:p>
            <a:pPr marL="342900" indent="-342900">
              <a:spcAft>
                <a:spcPts val="500"/>
              </a:spcAft>
              <a:buSzPct val="100000"/>
              <a:buChar char="•"/>
            </a:pPr>
            <a:r>
              <a:rPr lang="en-US" sz="1300" dirty="0">
                <a:solidFill>
                  <a:srgbClr val="475569"/>
                </a:solidFill>
              </a:rPr>
              <a:t>Models hold all the SQL and the rules that must always hold.</a:t>
            </a:r>
            <a:endParaRPr lang="en-US" sz="1300" dirty="0"/>
          </a:p>
          <a:p>
            <a:pPr marL="342900" indent="-342900">
              <a:spcAft>
                <a:spcPts val="500"/>
              </a:spcAft>
              <a:buSzPct val="100000"/>
              <a:buChar char="•"/>
            </a:pPr>
            <a:r>
              <a:rPr lang="en-US" sz="1300" dirty="0">
                <a:solidFill>
                  <a:srgbClr val="475569"/>
                </a:solidFill>
              </a:rPr>
              <a:t>MySQL/MariaDB stores it; there is no ORM between them.</a:t>
            </a:r>
            <a:endParaRPr lang="en-US" sz="1300" dirty="0"/>
          </a:p>
          <a:p>
            <a:pPr marL="342900" indent="-342900">
              <a:spcAft>
                <a:spcPts val="500"/>
              </a:spcAft>
              <a:buSzPct val="100000"/>
              <a:buChar char="•"/>
            </a:pPr>
            <a:r>
              <a:rPr lang="en-US" sz="1300" dirty="0">
                <a:solidFill>
                  <a:srgbClr val="475569"/>
                </a:solidFill>
              </a:rPr>
              <a:t>app.js builds the app, server.js listens — so tests drive the real app.</a:t>
            </a:r>
            <a:endParaRPr lang="en-US" sz="1300" dirty="0"/>
          </a:p>
        </p:txBody>
      </p:sp>
      <p:sp>
        <p:nvSpPr>
          <p:cNvPr id="4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What Happens to a Request</a:t>
            </a:r>
            <a:endParaRPr lang="en-US" sz="3200" dirty="0"/>
          </a:p>
        </p:txBody>
      </p:sp>
      <p:sp>
        <p:nvSpPr>
          <p:cNvPr id="3" name="chain-0"/>
          <p:cNvSpPr/>
          <p:nvPr/>
        </p:nvSpPr>
        <p:spPr>
          <a:xfrm>
            <a:off x="566928" y="1371600"/>
            <a:ext cx="2514600" cy="777240"/>
          </a:xfrm>
          <a:prstGeom prst="roundRect">
            <a:avLst>
              <a:gd name="adj" fmla="val 7059"/>
            </a:avLst>
          </a:prstGeom>
          <a:solidFill>
            <a:srgbClr val="F1F5F9"/>
          </a:solidFill>
          <a:ln/>
        </p:spPr>
      </p:sp>
      <p:sp>
        <p:nvSpPr>
          <p:cNvPr id="4" name="chain-text-0"/>
          <p:cNvSpPr txBox="1"/>
          <p:nvPr/>
        </p:nvSpPr>
        <p:spPr>
          <a:xfrm>
            <a:off x="731520" y="148132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helmet</a:t>
            </a:r>
            <a:endParaRPr lang="en-US" sz="1300" dirty="0"/>
          </a:p>
          <a:p>
            <a:pPr indent="0" marL="0">
              <a:buNone/>
            </a:pPr>
            <a:r>
              <a:rPr lang="en-US" sz="1100" dirty="0">
                <a:solidFill>
                  <a:srgbClr val="475569"/>
                </a:solidFill>
              </a:rPr>
              <a:t>security headers</a:t>
            </a:r>
            <a:endParaRPr lang="en-US" sz="1300" dirty="0"/>
          </a:p>
        </p:txBody>
      </p:sp>
      <p:sp>
        <p:nvSpPr>
          <p:cNvPr id="5" name="chain-arrow-0"/>
          <p:cNvSpPr txBox="1"/>
          <p:nvPr/>
        </p:nvSpPr>
        <p:spPr>
          <a:xfrm>
            <a:off x="3090672" y="1371600"/>
            <a:ext cx="274320" cy="77724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6" name="chain-1"/>
          <p:cNvSpPr/>
          <p:nvPr/>
        </p:nvSpPr>
        <p:spPr>
          <a:xfrm>
            <a:off x="3355848" y="1371600"/>
            <a:ext cx="2514600" cy="777240"/>
          </a:xfrm>
          <a:prstGeom prst="roundRect">
            <a:avLst>
              <a:gd name="adj" fmla="val 7059"/>
            </a:avLst>
          </a:prstGeom>
          <a:solidFill>
            <a:srgbClr val="F1F5F9"/>
          </a:solidFill>
          <a:ln/>
        </p:spPr>
      </p:sp>
      <p:sp>
        <p:nvSpPr>
          <p:cNvPr id="7" name="chain-text-1"/>
          <p:cNvSpPr txBox="1"/>
          <p:nvPr/>
        </p:nvSpPr>
        <p:spPr>
          <a:xfrm>
            <a:off x="3520440" y="148132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CORS</a:t>
            </a:r>
            <a:endParaRPr lang="en-US" sz="1300" dirty="0"/>
          </a:p>
          <a:p>
            <a:pPr indent="0" marL="0">
              <a:buNone/>
            </a:pPr>
            <a:r>
              <a:rPr lang="en-US" sz="1100" dirty="0">
                <a:solidFill>
                  <a:srgbClr val="475569"/>
                </a:solidFill>
              </a:rPr>
              <a:t>who may call</a:t>
            </a:r>
            <a:endParaRPr lang="en-US" sz="1300" dirty="0"/>
          </a:p>
        </p:txBody>
      </p:sp>
      <p:sp>
        <p:nvSpPr>
          <p:cNvPr id="8" name="chain-arrow-1"/>
          <p:cNvSpPr txBox="1"/>
          <p:nvPr/>
        </p:nvSpPr>
        <p:spPr>
          <a:xfrm>
            <a:off x="5879592" y="1371600"/>
            <a:ext cx="274320" cy="77724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9" name="chain-2"/>
          <p:cNvSpPr/>
          <p:nvPr/>
        </p:nvSpPr>
        <p:spPr>
          <a:xfrm>
            <a:off x="6144768" y="1371600"/>
            <a:ext cx="2514600" cy="777240"/>
          </a:xfrm>
          <a:prstGeom prst="roundRect">
            <a:avLst>
              <a:gd name="adj" fmla="val 7059"/>
            </a:avLst>
          </a:prstGeom>
          <a:solidFill>
            <a:srgbClr val="F1F5F9"/>
          </a:solidFill>
          <a:ln/>
        </p:spPr>
      </p:sp>
      <p:sp>
        <p:nvSpPr>
          <p:cNvPr id="10" name="chain-text-2"/>
          <p:cNvSpPr txBox="1"/>
          <p:nvPr/>
        </p:nvSpPr>
        <p:spPr>
          <a:xfrm>
            <a:off x="6309360" y="148132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body parsing</a:t>
            </a:r>
            <a:endParaRPr lang="en-US" sz="1300" dirty="0"/>
          </a:p>
          <a:p>
            <a:pPr indent="0" marL="0">
              <a:buNone/>
            </a:pPr>
            <a:r>
              <a:rPr lang="en-US" sz="1100" dirty="0">
                <a:solidFill>
                  <a:srgbClr val="475569"/>
                </a:solidFill>
              </a:rPr>
              <a:t>JSON and uploads</a:t>
            </a:r>
            <a:endParaRPr lang="en-US" sz="1300" dirty="0"/>
          </a:p>
        </p:txBody>
      </p:sp>
      <p:sp>
        <p:nvSpPr>
          <p:cNvPr id="11" name="chain-arrow-2"/>
          <p:cNvSpPr txBox="1"/>
          <p:nvPr/>
        </p:nvSpPr>
        <p:spPr>
          <a:xfrm>
            <a:off x="8668512" y="1371600"/>
            <a:ext cx="274320" cy="77724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12" name="chain-3"/>
          <p:cNvSpPr/>
          <p:nvPr/>
        </p:nvSpPr>
        <p:spPr>
          <a:xfrm>
            <a:off x="8933688" y="1371600"/>
            <a:ext cx="2514600" cy="777240"/>
          </a:xfrm>
          <a:prstGeom prst="roundRect">
            <a:avLst>
              <a:gd name="adj" fmla="val 7059"/>
            </a:avLst>
          </a:prstGeom>
          <a:solidFill>
            <a:srgbClr val="F1F5F9"/>
          </a:solidFill>
          <a:ln/>
        </p:spPr>
      </p:sp>
      <p:sp>
        <p:nvSpPr>
          <p:cNvPr id="13" name="chain-text-3"/>
          <p:cNvSpPr txBox="1"/>
          <p:nvPr/>
        </p:nvSpPr>
        <p:spPr>
          <a:xfrm>
            <a:off x="9098280" y="148132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rate limit</a:t>
            </a:r>
            <a:endParaRPr lang="en-US" sz="1300" dirty="0"/>
          </a:p>
          <a:p>
            <a:pPr indent="0" marL="0">
              <a:buNone/>
            </a:pPr>
            <a:r>
              <a:rPr lang="en-US" sz="1100" dirty="0">
                <a:solidFill>
                  <a:srgbClr val="475569"/>
                </a:solidFill>
              </a:rPr>
              <a:t>how often</a:t>
            </a:r>
            <a:endParaRPr lang="en-US" sz="1300" dirty="0"/>
          </a:p>
        </p:txBody>
      </p:sp>
      <p:sp>
        <p:nvSpPr>
          <p:cNvPr id="14" name="chain-4"/>
          <p:cNvSpPr/>
          <p:nvPr/>
        </p:nvSpPr>
        <p:spPr>
          <a:xfrm>
            <a:off x="566928" y="2423160"/>
            <a:ext cx="2514600" cy="777240"/>
          </a:xfrm>
          <a:prstGeom prst="roundRect">
            <a:avLst>
              <a:gd name="adj" fmla="val 7059"/>
            </a:avLst>
          </a:prstGeom>
          <a:solidFill>
            <a:srgbClr val="F1F5F9"/>
          </a:solidFill>
          <a:ln/>
        </p:spPr>
      </p:sp>
      <p:sp>
        <p:nvSpPr>
          <p:cNvPr id="15" name="chain-text-4"/>
          <p:cNvSpPr txBox="1"/>
          <p:nvPr/>
        </p:nvSpPr>
        <p:spPr>
          <a:xfrm>
            <a:off x="731520" y="253288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route</a:t>
            </a:r>
            <a:endParaRPr lang="en-US" sz="1300" dirty="0"/>
          </a:p>
          <a:p>
            <a:pPr indent="0" marL="0">
              <a:buNone/>
            </a:pPr>
            <a:r>
              <a:rPr lang="en-US" sz="1100" dirty="0">
                <a:solidFill>
                  <a:srgbClr val="475569"/>
                </a:solidFill>
              </a:rPr>
              <a:t>which handler</a:t>
            </a:r>
            <a:endParaRPr lang="en-US" sz="1300" dirty="0"/>
          </a:p>
        </p:txBody>
      </p:sp>
      <p:sp>
        <p:nvSpPr>
          <p:cNvPr id="16" name="chain-arrow-4"/>
          <p:cNvSpPr txBox="1"/>
          <p:nvPr/>
        </p:nvSpPr>
        <p:spPr>
          <a:xfrm>
            <a:off x="3090672" y="2423160"/>
            <a:ext cx="274320" cy="77724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17" name="chain-5"/>
          <p:cNvSpPr/>
          <p:nvPr/>
        </p:nvSpPr>
        <p:spPr>
          <a:xfrm>
            <a:off x="3355848" y="2423160"/>
            <a:ext cx="2514600" cy="777240"/>
          </a:xfrm>
          <a:prstGeom prst="roundRect">
            <a:avLst>
              <a:gd name="adj" fmla="val 7059"/>
            </a:avLst>
          </a:prstGeom>
          <a:solidFill>
            <a:srgbClr val="F1F5F9"/>
          </a:solidFill>
          <a:ln/>
        </p:spPr>
      </p:sp>
      <p:sp>
        <p:nvSpPr>
          <p:cNvPr id="18" name="chain-text-5"/>
          <p:cNvSpPr txBox="1"/>
          <p:nvPr/>
        </p:nvSpPr>
        <p:spPr>
          <a:xfrm>
            <a:off x="3520440" y="253288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auth</a:t>
            </a:r>
            <a:endParaRPr lang="en-US" sz="1300" dirty="0"/>
          </a:p>
          <a:p>
            <a:pPr indent="0" marL="0">
              <a:buNone/>
            </a:pPr>
            <a:r>
              <a:rPr lang="en-US" sz="1100" dirty="0">
                <a:solidFill>
                  <a:srgbClr val="475569"/>
                </a:solidFill>
              </a:rPr>
              <a:t>is the token real</a:t>
            </a:r>
            <a:endParaRPr lang="en-US" sz="1300" dirty="0"/>
          </a:p>
        </p:txBody>
      </p:sp>
      <p:sp>
        <p:nvSpPr>
          <p:cNvPr id="19" name="chain-arrow-5"/>
          <p:cNvSpPr txBox="1"/>
          <p:nvPr/>
        </p:nvSpPr>
        <p:spPr>
          <a:xfrm>
            <a:off x="5879592" y="2423160"/>
            <a:ext cx="274320" cy="77724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20" name="chain-6"/>
          <p:cNvSpPr/>
          <p:nvPr/>
        </p:nvSpPr>
        <p:spPr>
          <a:xfrm>
            <a:off x="6144768" y="2423160"/>
            <a:ext cx="2514600" cy="777240"/>
          </a:xfrm>
          <a:prstGeom prst="roundRect">
            <a:avLst>
              <a:gd name="adj" fmla="val 7059"/>
            </a:avLst>
          </a:prstGeom>
          <a:solidFill>
            <a:srgbClr val="F1F5F9"/>
          </a:solidFill>
          <a:ln/>
        </p:spPr>
      </p:sp>
      <p:sp>
        <p:nvSpPr>
          <p:cNvPr id="21" name="chain-text-6"/>
          <p:cNvSpPr txBox="1"/>
          <p:nvPr/>
        </p:nvSpPr>
        <p:spPr>
          <a:xfrm>
            <a:off x="6309360" y="253288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role</a:t>
            </a:r>
            <a:endParaRPr lang="en-US" sz="1300" dirty="0"/>
          </a:p>
          <a:p>
            <a:pPr indent="0" marL="0">
              <a:buNone/>
            </a:pPr>
            <a:r>
              <a:rPr lang="en-US" sz="1100" dirty="0">
                <a:solidFill>
                  <a:srgbClr val="475569"/>
                </a:solidFill>
              </a:rPr>
              <a:t>right kind of account</a:t>
            </a:r>
            <a:endParaRPr lang="en-US" sz="1300" dirty="0"/>
          </a:p>
        </p:txBody>
      </p:sp>
      <p:sp>
        <p:nvSpPr>
          <p:cNvPr id="22" name="chain-arrow-6"/>
          <p:cNvSpPr txBox="1"/>
          <p:nvPr/>
        </p:nvSpPr>
        <p:spPr>
          <a:xfrm>
            <a:off x="8668512" y="2423160"/>
            <a:ext cx="274320" cy="77724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23" name="chain-7"/>
          <p:cNvSpPr/>
          <p:nvPr/>
        </p:nvSpPr>
        <p:spPr>
          <a:xfrm>
            <a:off x="8933688" y="2423160"/>
            <a:ext cx="2514600" cy="777240"/>
          </a:xfrm>
          <a:prstGeom prst="roundRect">
            <a:avLst>
              <a:gd name="adj" fmla="val 7059"/>
            </a:avLst>
          </a:prstGeom>
          <a:solidFill>
            <a:srgbClr val="F1F5F9"/>
          </a:solidFill>
          <a:ln/>
        </p:spPr>
      </p:sp>
      <p:sp>
        <p:nvSpPr>
          <p:cNvPr id="24" name="chain-text-7"/>
          <p:cNvSpPr txBox="1"/>
          <p:nvPr/>
        </p:nvSpPr>
        <p:spPr>
          <a:xfrm>
            <a:off x="9098280" y="2532888"/>
            <a:ext cx="2194560" cy="548640"/>
          </a:xfrm>
          <a:prstGeom prst="rect">
            <a:avLst/>
          </a:prstGeom>
          <a:noFill/>
          <a:ln/>
        </p:spPr>
        <p:txBody>
          <a:bodyPr wrap="square" lIns="0" tIns="0" rIns="0" bIns="0" rtlCol="0" anchor="t"/>
          <a:lstStyle/>
          <a:p>
            <a:pPr indent="0" marL="0">
              <a:buNone/>
            </a:pPr>
            <a:r>
              <a:rPr lang="en-US" sz="1300" b="1" dirty="0">
                <a:solidFill>
                  <a:srgbClr val="1C3557"/>
                </a:solidFill>
              </a:rPr>
              <a:t>suspension</a:t>
            </a:r>
            <a:endParaRPr lang="en-US" sz="1300" dirty="0"/>
          </a:p>
          <a:p>
            <a:pPr indent="0" marL="0">
              <a:buNone/>
            </a:pPr>
            <a:r>
              <a:rPr lang="en-US" sz="1100" dirty="0">
                <a:solidFill>
                  <a:srgbClr val="475569"/>
                </a:solidFill>
              </a:rPr>
              <a:t>still allowed to trade</a:t>
            </a:r>
            <a:endParaRPr lang="en-US" sz="1300" dirty="0"/>
          </a:p>
        </p:txBody>
      </p:sp>
      <p:sp>
        <p:nvSpPr>
          <p:cNvPr id="25" name="chain-note"/>
          <p:cNvSpPr txBox="1"/>
          <p:nvPr/>
        </p:nvSpPr>
        <p:spPr>
          <a:xfrm>
            <a:off x="566928" y="3520440"/>
            <a:ext cx="11064240" cy="320040"/>
          </a:xfrm>
          <a:prstGeom prst="rect">
            <a:avLst/>
          </a:prstGeom>
          <a:noFill/>
          <a:ln/>
        </p:spPr>
        <p:txBody>
          <a:bodyPr wrap="square" lIns="0" tIns="0" rIns="0" bIns="0" rtlCol="0" anchor="ctr"/>
          <a:lstStyle/>
          <a:p>
            <a:pPr indent="0" marL="0">
              <a:buNone/>
            </a:pPr>
            <a:r>
              <a:rPr lang="en-US" sz="1300" i="1" dirty="0">
                <a:solidFill>
                  <a:srgbClr val="475569"/>
                </a:solidFill>
              </a:rPr>
              <a:t>Only then does a handler run — and a handler never reaches the database directly.</a:t>
            </a:r>
            <a:endParaRPr lang="en-US" sz="1300" dirty="0"/>
          </a:p>
        </p:txBody>
      </p:sp>
      <p:sp>
        <p:nvSpPr>
          <p:cNvPr id="26" name="api-stat-0"/>
          <p:cNvSpPr txBox="1"/>
          <p:nvPr/>
        </p:nvSpPr>
        <p:spPr>
          <a:xfrm>
            <a:off x="566928" y="4114800"/>
            <a:ext cx="2651760" cy="685800"/>
          </a:xfrm>
          <a:prstGeom prst="rect">
            <a:avLst/>
          </a:prstGeom>
          <a:noFill/>
          <a:ln/>
        </p:spPr>
        <p:txBody>
          <a:bodyPr wrap="square" lIns="0" tIns="0" rIns="0" bIns="0" rtlCol="0" anchor="ctr"/>
          <a:lstStyle/>
          <a:p>
            <a:pPr indent="0" marL="0">
              <a:buNone/>
            </a:pPr>
            <a:r>
              <a:rPr lang="en-US" sz="3400" b="1" dirty="0">
                <a:solidFill>
                  <a:srgbClr val="1C3557"/>
                </a:solidFill>
              </a:rPr>
              <a:t>64</a:t>
            </a:r>
            <a:endParaRPr lang="en-US" sz="3400" dirty="0"/>
          </a:p>
        </p:txBody>
      </p:sp>
      <p:sp>
        <p:nvSpPr>
          <p:cNvPr id="27" name="api-stat-label-0"/>
          <p:cNvSpPr txBox="1"/>
          <p:nvPr/>
        </p:nvSpPr>
        <p:spPr>
          <a:xfrm>
            <a:off x="566928" y="4800600"/>
            <a:ext cx="2651760" cy="548640"/>
          </a:xfrm>
          <a:prstGeom prst="rect">
            <a:avLst/>
          </a:prstGeom>
          <a:noFill/>
          <a:ln/>
        </p:spPr>
        <p:txBody>
          <a:bodyPr wrap="square" lIns="0" tIns="0" rIns="0" bIns="0" rtlCol="0" anchor="t"/>
          <a:lstStyle/>
          <a:p>
            <a:pPr indent="0" marL="0">
              <a:buNone/>
            </a:pPr>
            <a:r>
              <a:rPr lang="en-US" sz="1250" dirty="0">
                <a:solidFill>
                  <a:srgbClr val="475569"/>
                </a:solidFill>
              </a:rPr>
              <a:t>endpoints across 11 route files</a:t>
            </a:r>
            <a:endParaRPr lang="en-US" sz="1250" dirty="0"/>
          </a:p>
        </p:txBody>
      </p:sp>
      <p:sp>
        <p:nvSpPr>
          <p:cNvPr id="28" name="api-stat-1"/>
          <p:cNvSpPr txBox="1"/>
          <p:nvPr/>
        </p:nvSpPr>
        <p:spPr>
          <a:xfrm>
            <a:off x="3401568" y="4114800"/>
            <a:ext cx="2651760" cy="685800"/>
          </a:xfrm>
          <a:prstGeom prst="rect">
            <a:avLst/>
          </a:prstGeom>
          <a:noFill/>
          <a:ln/>
        </p:spPr>
        <p:txBody>
          <a:bodyPr wrap="square" lIns="0" tIns="0" rIns="0" bIns="0" rtlCol="0" anchor="ctr"/>
          <a:lstStyle/>
          <a:p>
            <a:pPr indent="0" marL="0">
              <a:buNone/>
            </a:pPr>
            <a:r>
              <a:rPr lang="en-US" sz="3400" b="1" dirty="0">
                <a:solidFill>
                  <a:srgbClr val="1C3557"/>
                </a:solidFill>
              </a:rPr>
              <a:t>4</a:t>
            </a:r>
            <a:endParaRPr lang="en-US" sz="3400" dirty="0"/>
          </a:p>
        </p:txBody>
      </p:sp>
      <p:sp>
        <p:nvSpPr>
          <p:cNvPr id="29" name="api-stat-label-1"/>
          <p:cNvSpPr txBox="1"/>
          <p:nvPr/>
        </p:nvSpPr>
        <p:spPr>
          <a:xfrm>
            <a:off x="3401568" y="4800600"/>
            <a:ext cx="2651760" cy="548640"/>
          </a:xfrm>
          <a:prstGeom prst="rect">
            <a:avLst/>
          </a:prstGeom>
          <a:noFill/>
          <a:ln/>
        </p:spPr>
        <p:txBody>
          <a:bodyPr wrap="square" lIns="0" tIns="0" rIns="0" bIns="0" rtlCol="0" anchor="t"/>
          <a:lstStyle/>
          <a:p>
            <a:pPr indent="0" marL="0">
              <a:buNone/>
            </a:pPr>
            <a:r>
              <a:rPr lang="en-US" sz="1250" dirty="0">
                <a:solidFill>
                  <a:srgbClr val="475569"/>
                </a:solidFill>
              </a:rPr>
              <a:t>roles the routes distinguish</a:t>
            </a:r>
            <a:endParaRPr lang="en-US" sz="1250" dirty="0"/>
          </a:p>
        </p:txBody>
      </p:sp>
      <p:sp>
        <p:nvSpPr>
          <p:cNvPr id="30" name="api-stat-2"/>
          <p:cNvSpPr txBox="1"/>
          <p:nvPr/>
        </p:nvSpPr>
        <p:spPr>
          <a:xfrm>
            <a:off x="6236208" y="4114800"/>
            <a:ext cx="2651760" cy="685800"/>
          </a:xfrm>
          <a:prstGeom prst="rect">
            <a:avLst/>
          </a:prstGeom>
          <a:noFill/>
          <a:ln/>
        </p:spPr>
        <p:txBody>
          <a:bodyPr wrap="square" lIns="0" tIns="0" rIns="0" bIns="0" rtlCol="0" anchor="ctr"/>
          <a:lstStyle/>
          <a:p>
            <a:pPr indent="0" marL="0">
              <a:buNone/>
            </a:pPr>
            <a:r>
              <a:rPr lang="en-US" sz="3400" b="1" dirty="0">
                <a:solidFill>
                  <a:srgbClr val="1C3557"/>
                </a:solidFill>
              </a:rPr>
              <a:t>3</a:t>
            </a:r>
            <a:endParaRPr lang="en-US" sz="3400" dirty="0"/>
          </a:p>
        </p:txBody>
      </p:sp>
      <p:sp>
        <p:nvSpPr>
          <p:cNvPr id="31" name="api-stat-label-2"/>
          <p:cNvSpPr txBox="1"/>
          <p:nvPr/>
        </p:nvSpPr>
        <p:spPr>
          <a:xfrm>
            <a:off x="6236208" y="4800600"/>
            <a:ext cx="2651760" cy="548640"/>
          </a:xfrm>
          <a:prstGeom prst="rect">
            <a:avLst/>
          </a:prstGeom>
          <a:noFill/>
          <a:ln/>
        </p:spPr>
        <p:txBody>
          <a:bodyPr wrap="square" lIns="0" tIns="0" rIns="0" bIns="0" rtlCol="0" anchor="t"/>
          <a:lstStyle/>
          <a:p>
            <a:pPr indent="0" marL="0">
              <a:buNone/>
            </a:pPr>
            <a:r>
              <a:rPr lang="en-US" sz="1250" dirty="0">
                <a:solidFill>
                  <a:srgbClr val="475569"/>
                </a:solidFill>
              </a:rPr>
              <a:t>layers a request passes through</a:t>
            </a:r>
            <a:endParaRPr lang="en-US" sz="1250" dirty="0"/>
          </a:p>
        </p:txBody>
      </p:sp>
      <p:sp>
        <p:nvSpPr>
          <p:cNvPr id="32" name="api-stat-3"/>
          <p:cNvSpPr txBox="1"/>
          <p:nvPr/>
        </p:nvSpPr>
        <p:spPr>
          <a:xfrm>
            <a:off x="9070848" y="4114800"/>
            <a:ext cx="2651760" cy="685800"/>
          </a:xfrm>
          <a:prstGeom prst="rect">
            <a:avLst/>
          </a:prstGeom>
          <a:noFill/>
          <a:ln/>
        </p:spPr>
        <p:txBody>
          <a:bodyPr wrap="square" lIns="0" tIns="0" rIns="0" bIns="0" rtlCol="0" anchor="ctr"/>
          <a:lstStyle/>
          <a:p>
            <a:pPr indent="0" marL="0">
              <a:buNone/>
            </a:pPr>
            <a:r>
              <a:rPr lang="en-US" sz="3400" b="1" dirty="0">
                <a:solidFill>
                  <a:srgbClr val="1C3557"/>
                </a:solidFill>
              </a:rPr>
              <a:t>0</a:t>
            </a:r>
            <a:endParaRPr lang="en-US" sz="3400" dirty="0"/>
          </a:p>
        </p:txBody>
      </p:sp>
      <p:sp>
        <p:nvSpPr>
          <p:cNvPr id="33" name="api-stat-label-3"/>
          <p:cNvSpPr txBox="1"/>
          <p:nvPr/>
        </p:nvSpPr>
        <p:spPr>
          <a:xfrm>
            <a:off x="9070848" y="4800600"/>
            <a:ext cx="2651760" cy="548640"/>
          </a:xfrm>
          <a:prstGeom prst="rect">
            <a:avLst/>
          </a:prstGeom>
          <a:noFill/>
          <a:ln/>
        </p:spPr>
        <p:txBody>
          <a:bodyPr wrap="square" lIns="0" tIns="0" rIns="0" bIns="0" rtlCol="0" anchor="t"/>
          <a:lstStyle/>
          <a:p>
            <a:pPr indent="0" marL="0">
              <a:buNone/>
            </a:pPr>
            <a:r>
              <a:rPr lang="en-US" sz="1250" dirty="0">
                <a:solidFill>
                  <a:srgbClr val="475569"/>
                </a:solidFill>
              </a:rPr>
              <a:t>SQL statements outside the models</a:t>
            </a:r>
            <a:endParaRPr lang="en-US" sz="1250" dirty="0"/>
          </a:p>
        </p:txBody>
      </p:sp>
      <p:sp>
        <p:nvSpPr>
          <p:cNvPr id="34" name="api-example"/>
          <p:cNvSpPr txBox="1"/>
          <p:nvPr/>
        </p:nvSpPr>
        <p:spPr>
          <a:xfrm>
            <a:off x="566928" y="5486400"/>
            <a:ext cx="11064240" cy="594360"/>
          </a:xfrm>
          <a:prstGeom prst="rect">
            <a:avLst/>
          </a:prstGeom>
          <a:noFill/>
          <a:ln/>
        </p:spPr>
        <p:txBody>
          <a:bodyPr wrap="square" lIns="0" tIns="0" rIns="0" bIns="0" rtlCol="0" anchor="t"/>
          <a:lstStyle/>
          <a:p>
            <a:pPr indent="0" marL="0">
              <a:buNone/>
            </a:pPr>
            <a:r>
              <a:rPr lang="en-US" sz="1250" dirty="0">
                <a:solidFill>
                  <a:srgbClr val="475569"/>
                </a:solidFill>
              </a:rPr>
              <a:t>Example — PATCH /api/orders/shipments/:id/pickup-confirm: signed in, role seller, not suspended, owns this parcel, parcel is in pickup_requested. Any one of those failing answers with a reason, not a crash.</a:t>
            </a:r>
            <a:endParaRPr lang="en-US" sz="1250" dirty="0"/>
          </a:p>
        </p:txBody>
      </p:sp>
      <p:sp>
        <p:nvSpPr>
          <p:cNvPr id="3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Database / Data Design</a:t>
            </a:r>
            <a:endParaRPr lang="en-US" sz="3200" dirty="0"/>
          </a:p>
        </p:txBody>
      </p:sp>
      <p:pic>
        <p:nvPicPr>
          <p:cNvPr id="3" name="Image 0" descr="C:\Users\Kelly\AppData\Local\Temp\claude\c--Users-Kelly-Music-Suzi-Zam-glam\850fabc5-2493-49b4-a862-210ce7ea5cd5\scratchpad\img\04-database-schema.png">    </p:cNvPr>
          <p:cNvPicPr>
            <a:picLocks noChangeAspect="1"/>
          </p:cNvPicPr>
          <p:nvPr/>
        </p:nvPicPr>
        <p:blipFill>
          <a:blip r:embed="rId1"/>
          <a:stretch>
            <a:fillRect/>
          </a:stretch>
        </p:blipFill>
        <p:spPr>
          <a:xfrm>
            <a:off x="1081595" y="1188720"/>
            <a:ext cx="6468746" cy="4892040"/>
          </a:xfrm>
          <a:prstGeom prst="rect">
            <a:avLst/>
          </a:prstGeom>
        </p:spPr>
      </p:pic>
      <p:sp>
        <p:nvSpPr>
          <p:cNvPr id="4" name="card-db"/>
          <p:cNvSpPr/>
          <p:nvPr/>
        </p:nvSpPr>
        <p:spPr>
          <a:xfrm>
            <a:off x="8321040" y="1188720"/>
            <a:ext cx="3310128" cy="4892040"/>
          </a:xfrm>
          <a:prstGeom prst="roundRect">
            <a:avLst>
              <a:gd name="adj" fmla="val 2210"/>
            </a:avLst>
          </a:prstGeom>
          <a:solidFill>
            <a:srgbClr val="F1F5F9"/>
          </a:solidFill>
          <a:ln/>
        </p:spPr>
      </p:sp>
      <p:sp>
        <p:nvSpPr>
          <p:cNvPr id="5" name="card-head-db"/>
          <p:cNvSpPr txBox="1"/>
          <p:nvPr/>
        </p:nvSpPr>
        <p:spPr>
          <a:xfrm>
            <a:off x="8577072" y="1371600"/>
            <a:ext cx="2798064" cy="347472"/>
          </a:xfrm>
          <a:prstGeom prst="rect">
            <a:avLst/>
          </a:prstGeom>
          <a:noFill/>
          <a:ln/>
        </p:spPr>
        <p:txBody>
          <a:bodyPr wrap="square" lIns="0" tIns="0" rIns="0" bIns="0" rtlCol="0" anchor="ctr"/>
          <a:lstStyle/>
          <a:p>
            <a:pPr indent="0" marL="0">
              <a:buNone/>
            </a:pPr>
            <a:r>
              <a:rPr lang="en-US" sz="1500" b="1" dirty="0">
                <a:solidFill>
                  <a:srgbClr val="1C3557"/>
                </a:solidFill>
              </a:rPr>
              <a:t>Decisions that shaped it</a:t>
            </a:r>
            <a:endParaRPr lang="en-US" sz="1500" dirty="0"/>
          </a:p>
        </p:txBody>
      </p:sp>
      <p:sp>
        <p:nvSpPr>
          <p:cNvPr id="6" name="card-body-db"/>
          <p:cNvSpPr txBox="1"/>
          <p:nvPr/>
        </p:nvSpPr>
        <p:spPr>
          <a:xfrm>
            <a:off x="8577072" y="1755648"/>
            <a:ext cx="2798064" cy="41422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One order splits into one shipment per shop — each packs and delivers on its own.</a:t>
            </a:r>
            <a:endParaRPr lang="en-US" sz="1300" dirty="0"/>
          </a:p>
          <a:p>
            <a:pPr marL="342900" indent="-342900">
              <a:spcAft>
                <a:spcPts val="500"/>
              </a:spcAft>
              <a:buSzPct val="100000"/>
              <a:buChar char="•"/>
            </a:pPr>
            <a:r>
              <a:rPr lang="en-US" sz="1300" dirty="0">
                <a:solidFill>
                  <a:srgbClr val="475569"/>
                </a:solidFill>
              </a:rPr>
              <a:t>The order status is a rollup of its least advanced parcel.</a:t>
            </a:r>
            <a:endParaRPr lang="en-US" sz="1300" dirty="0"/>
          </a:p>
          <a:p>
            <a:pPr marL="342900" indent="-342900">
              <a:spcAft>
                <a:spcPts val="500"/>
              </a:spcAft>
              <a:buSzPct val="100000"/>
              <a:buChar char="•"/>
            </a:pPr>
            <a:r>
              <a:rPr lang="en-US" sz="1300" dirty="0">
                <a:solidFill>
                  <a:srgbClr val="475569"/>
                </a:solidFill>
              </a:rPr>
              <a:t>Prices are copied onto order lines, so a later price change never rewrites a receipt.</a:t>
            </a:r>
            <a:endParaRPr lang="en-US" sz="1300" dirty="0"/>
          </a:p>
          <a:p>
            <a:pPr marL="342900" indent="-342900">
              <a:spcAft>
                <a:spcPts val="500"/>
              </a:spcAft>
              <a:buSzPct val="100000"/>
              <a:buChar char="•"/>
            </a:pPr>
            <a:r>
              <a:rPr lang="en-US" sz="1300" dirty="0">
                <a:solidFill>
                  <a:srgbClr val="475569"/>
                </a:solidFill>
              </a:rPr>
              <a:t>Deleting an account is reversible for 30 days before anything is removed.</a:t>
            </a:r>
            <a:endParaRPr lang="en-US" sz="1300" dirty="0"/>
          </a:p>
          <a:p>
            <a:pPr marL="342900" indent="-342900">
              <a:spcAft>
                <a:spcPts val="500"/>
              </a:spcAft>
              <a:buSzPct val="100000"/>
              <a:buChar char="•"/>
            </a:pPr>
            <a:r>
              <a:rPr lang="en-US" sz="1300" dirty="0">
                <a:solidFill>
                  <a:srgbClr val="475569"/>
                </a:solidFill>
              </a:rPr>
              <a:t>The schema builds and migrates itself on startup: no SQL is run by hand.</a:t>
            </a:r>
            <a:endParaRPr lang="en-US" sz="1300" dirty="0"/>
          </a:p>
        </p:txBody>
      </p:sp>
      <p:sp>
        <p:nvSpPr>
          <p:cNvPr id="8"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One Order, Two Shops</a:t>
            </a:r>
            <a:endParaRPr lang="en-US" sz="3200" dirty="0"/>
          </a:p>
        </p:txBody>
      </p:sp>
      <p:pic>
        <p:nvPicPr>
          <p:cNvPr id="3" name="Image 0" descr="C:\Users\Kelly\AppData\Local\Temp\claude\c--Users-Kelly-Music-Suzi-Zam-glam\850fabc5-2493-49b4-a862-210ce7ea5cd5\scratchpad\img\03-er-diagram.png">    </p:cNvPr>
          <p:cNvPicPr>
            <a:picLocks noChangeAspect="1"/>
          </p:cNvPicPr>
          <p:nvPr/>
        </p:nvPicPr>
        <p:blipFill>
          <a:blip r:embed="rId1"/>
          <a:stretch>
            <a:fillRect/>
          </a:stretch>
        </p:blipFill>
        <p:spPr>
          <a:xfrm>
            <a:off x="566928" y="2005484"/>
            <a:ext cx="6766560" cy="3212792"/>
          </a:xfrm>
          <a:prstGeom prst="rect">
            <a:avLst/>
          </a:prstGeom>
        </p:spPr>
      </p:pic>
      <p:sp>
        <p:nvSpPr>
          <p:cNvPr id="4" name="disc-1"/>
          <p:cNvSpPr/>
          <p:nvPr/>
        </p:nvSpPr>
        <p:spPr>
          <a:xfrm>
            <a:off x="7589520" y="1325880"/>
            <a:ext cx="384048" cy="384048"/>
          </a:xfrm>
          <a:prstGeom prst="ellipse">
            <a:avLst/>
          </a:prstGeom>
          <a:solidFill>
            <a:srgbClr val="1C3557"/>
          </a:solidFill>
          <a:ln/>
        </p:spPr>
      </p:sp>
      <p:sp>
        <p:nvSpPr>
          <p:cNvPr id="5" name="disc-label-1"/>
          <p:cNvSpPr txBox="1"/>
          <p:nvPr/>
        </p:nvSpPr>
        <p:spPr>
          <a:xfrm>
            <a:off x="758952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row-1"/>
          <p:cNvSpPr txBox="1"/>
          <p:nvPr/>
        </p:nvSpPr>
        <p:spPr>
          <a:xfrm>
            <a:off x="8119872" y="1289304"/>
            <a:ext cx="34290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The basket</a:t>
            </a:r>
            <a:endParaRPr lang="en-US" sz="1600" dirty="0"/>
          </a:p>
          <a:p>
            <a:pPr indent="0" marL="0">
              <a:lnSpc>
                <a:spcPct val="105000"/>
              </a:lnSpc>
              <a:buNone/>
            </a:pPr>
            <a:r>
              <a:rPr lang="en-US" sz="1350" dirty="0">
                <a:solidFill>
                  <a:srgbClr val="475569"/>
                </a:solidFill>
              </a:rPr>
              <a:t>Items from Mud and from Jets sit in one basket and are quoted together.</a:t>
            </a:r>
            <a:endParaRPr lang="en-US" sz="1600" dirty="0"/>
          </a:p>
        </p:txBody>
      </p:sp>
      <p:sp>
        <p:nvSpPr>
          <p:cNvPr id="7" name="disc-2"/>
          <p:cNvSpPr/>
          <p:nvPr/>
        </p:nvSpPr>
        <p:spPr>
          <a:xfrm>
            <a:off x="7589520" y="2514600"/>
            <a:ext cx="384048" cy="384048"/>
          </a:xfrm>
          <a:prstGeom prst="ellipse">
            <a:avLst/>
          </a:prstGeom>
          <a:solidFill>
            <a:srgbClr val="1C3557"/>
          </a:solidFill>
          <a:ln/>
        </p:spPr>
      </p:sp>
      <p:sp>
        <p:nvSpPr>
          <p:cNvPr id="8" name="disc-label-2"/>
          <p:cNvSpPr txBox="1"/>
          <p:nvPr/>
        </p:nvSpPr>
        <p:spPr>
          <a:xfrm>
            <a:off x="758952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row-2"/>
          <p:cNvSpPr txBox="1"/>
          <p:nvPr/>
        </p:nvSpPr>
        <p:spPr>
          <a:xfrm>
            <a:off x="8119872" y="2478024"/>
            <a:ext cx="34290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The order</a:t>
            </a:r>
            <a:endParaRPr lang="en-US" sz="1600" dirty="0"/>
          </a:p>
          <a:p>
            <a:pPr indent="0" marL="0">
              <a:lnSpc>
                <a:spcPct val="105000"/>
              </a:lnSpc>
              <a:buNone/>
            </a:pPr>
            <a:r>
              <a:rPr lang="en-US" sz="1350" dirty="0">
                <a:solidFill>
                  <a:srgbClr val="475569"/>
                </a:solidFill>
              </a:rPr>
              <a:t>One order row, with the goods total and the delivery total kept apart.</a:t>
            </a:r>
            <a:endParaRPr lang="en-US" sz="1600" dirty="0"/>
          </a:p>
        </p:txBody>
      </p:sp>
      <p:sp>
        <p:nvSpPr>
          <p:cNvPr id="10" name="disc-3"/>
          <p:cNvSpPr/>
          <p:nvPr/>
        </p:nvSpPr>
        <p:spPr>
          <a:xfrm>
            <a:off x="7589520" y="3703320"/>
            <a:ext cx="384048" cy="384048"/>
          </a:xfrm>
          <a:prstGeom prst="ellipse">
            <a:avLst/>
          </a:prstGeom>
          <a:solidFill>
            <a:srgbClr val="1C3557"/>
          </a:solidFill>
          <a:ln/>
        </p:spPr>
      </p:sp>
      <p:sp>
        <p:nvSpPr>
          <p:cNvPr id="11" name="disc-label-3"/>
          <p:cNvSpPr txBox="1"/>
          <p:nvPr/>
        </p:nvSpPr>
        <p:spPr>
          <a:xfrm>
            <a:off x="7589520"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row-3"/>
          <p:cNvSpPr txBox="1"/>
          <p:nvPr/>
        </p:nvSpPr>
        <p:spPr>
          <a:xfrm>
            <a:off x="8119872" y="3666744"/>
            <a:ext cx="34290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The parcels</a:t>
            </a:r>
            <a:endParaRPr lang="en-US" sz="1600" dirty="0"/>
          </a:p>
          <a:p>
            <a:pPr indent="0" marL="0">
              <a:lnSpc>
                <a:spcPct val="105000"/>
              </a:lnSpc>
              <a:buNone/>
            </a:pPr>
            <a:r>
              <a:rPr lang="en-US" sz="1350" dirty="0">
                <a:solidFill>
                  <a:srgbClr val="475569"/>
                </a:solidFill>
              </a:rPr>
              <a:t>One shipment per shop: Mud packs its own, Jets packs its own, each with its own courier and its own fee.</a:t>
            </a:r>
            <a:endParaRPr lang="en-US" sz="1600" dirty="0"/>
          </a:p>
        </p:txBody>
      </p:sp>
      <p:sp>
        <p:nvSpPr>
          <p:cNvPr id="13" name="disc-4"/>
          <p:cNvSpPr/>
          <p:nvPr/>
        </p:nvSpPr>
        <p:spPr>
          <a:xfrm>
            <a:off x="7589520" y="4892040"/>
            <a:ext cx="384048" cy="384048"/>
          </a:xfrm>
          <a:prstGeom prst="ellipse">
            <a:avLst/>
          </a:prstGeom>
          <a:solidFill>
            <a:srgbClr val="1C3557"/>
          </a:solidFill>
          <a:ln/>
        </p:spPr>
      </p:sp>
      <p:sp>
        <p:nvSpPr>
          <p:cNvPr id="14" name="disc-label-4"/>
          <p:cNvSpPr txBox="1"/>
          <p:nvPr/>
        </p:nvSpPr>
        <p:spPr>
          <a:xfrm>
            <a:off x="7589520" y="4892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row-4"/>
          <p:cNvSpPr txBox="1"/>
          <p:nvPr/>
        </p:nvSpPr>
        <p:spPr>
          <a:xfrm>
            <a:off x="8119872" y="4855464"/>
            <a:ext cx="34290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The status</a:t>
            </a:r>
            <a:endParaRPr lang="en-US" sz="1600" dirty="0"/>
          </a:p>
          <a:p>
            <a:pPr indent="0" marL="0">
              <a:lnSpc>
                <a:spcPct val="105000"/>
              </a:lnSpc>
              <a:buNone/>
            </a:pPr>
            <a:r>
              <a:rPr lang="en-US" sz="1350" dirty="0">
                <a:solidFill>
                  <a:srgbClr val="475569"/>
                </a:solidFill>
              </a:rPr>
              <a:t>The order shows whichever parcel is least far along, so it never claims to be delivered while half of it is still in a shop.</a:t>
            </a:r>
            <a:endParaRPr lang="en-US" sz="1600" dirty="0"/>
          </a:p>
        </p:txBody>
      </p:sp>
      <p:sp>
        <p:nvSpPr>
          <p:cNvPr id="17"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Algorithms and Technical Design</a:t>
            </a:r>
            <a:endParaRPr lang="en-US" sz="3200" dirty="0"/>
          </a:p>
        </p:txBody>
      </p:sp>
      <p:sp>
        <p:nvSpPr>
          <p:cNvPr id="3" name="disc-1"/>
          <p:cNvSpPr/>
          <p:nvPr/>
        </p:nvSpPr>
        <p:spPr>
          <a:xfrm>
            <a:off x="566928" y="1325880"/>
            <a:ext cx="384048" cy="384048"/>
          </a:xfrm>
          <a:prstGeom prst="ellipse">
            <a:avLst/>
          </a:prstGeom>
          <a:solidFill>
            <a:srgbClr val="1C3557"/>
          </a:solidFill>
          <a:ln/>
        </p:spPr>
      </p:sp>
      <p:sp>
        <p:nvSpPr>
          <p:cNvPr id="4" name="disc-label-1"/>
          <p:cNvSpPr txBox="1"/>
          <p:nvPr/>
        </p:nvSpPr>
        <p:spPr>
          <a:xfrm>
            <a:off x="566928"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row-1"/>
          <p:cNvSpPr txBox="1"/>
          <p:nvPr/>
        </p:nvSpPr>
        <p:spPr>
          <a:xfrm>
            <a:off x="1097280" y="1289304"/>
            <a:ext cx="10515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Splitting an order into parcels</a:t>
            </a:r>
            <a:endParaRPr lang="en-US" sz="1600" dirty="0"/>
          </a:p>
          <a:p>
            <a:pPr indent="0" marL="0">
              <a:lnSpc>
                <a:spcPct val="105000"/>
              </a:lnSpc>
              <a:buNone/>
            </a:pPr>
            <a:r>
              <a:rPr lang="en-US" sz="1350" dirty="0">
                <a:solidFill>
                  <a:srgbClr val="475569"/>
                </a:solidFill>
              </a:rPr>
              <a:t>Items are grouped by shop inside one transaction — stock, order, lines and parcels are written together or not at all.</a:t>
            </a:r>
            <a:endParaRPr lang="en-US" sz="1600" dirty="0"/>
          </a:p>
        </p:txBody>
      </p:sp>
      <p:sp>
        <p:nvSpPr>
          <p:cNvPr id="6" name="disc-2"/>
          <p:cNvSpPr/>
          <p:nvPr/>
        </p:nvSpPr>
        <p:spPr>
          <a:xfrm>
            <a:off x="566928" y="2514600"/>
            <a:ext cx="384048" cy="384048"/>
          </a:xfrm>
          <a:prstGeom prst="ellipse">
            <a:avLst/>
          </a:prstGeom>
          <a:solidFill>
            <a:srgbClr val="1C3557"/>
          </a:solidFill>
          <a:ln/>
        </p:spPr>
      </p:sp>
      <p:sp>
        <p:nvSpPr>
          <p:cNvPr id="7" name="disc-label-2"/>
          <p:cNvSpPr txBox="1"/>
          <p:nvPr/>
        </p:nvSpPr>
        <p:spPr>
          <a:xfrm>
            <a:off x="566928"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row-2"/>
          <p:cNvSpPr txBox="1"/>
          <p:nvPr/>
        </p:nvSpPr>
        <p:spPr>
          <a:xfrm>
            <a:off x="1097280" y="2478024"/>
            <a:ext cx="10515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Pricing a delivery</a:t>
            </a:r>
            <a:endParaRPr lang="en-US" sz="1600" dirty="0"/>
          </a:p>
          <a:p>
            <a:pPr indent="0" marL="0">
              <a:lnSpc>
                <a:spcPct val="105000"/>
              </a:lnSpc>
              <a:buNone/>
            </a:pPr>
            <a:r>
              <a:rPr lang="en-US" sz="1350" dirty="0">
                <a:solidFill>
                  <a:srgbClr val="475569"/>
                </a:solidFill>
              </a:rPr>
              <a:t>A typed address is matched to a table of Zambian towns, the great-circle distance is measured, and each shop is charged from its own town.</a:t>
            </a:r>
            <a:endParaRPr lang="en-US" sz="1600" dirty="0"/>
          </a:p>
        </p:txBody>
      </p:sp>
      <p:sp>
        <p:nvSpPr>
          <p:cNvPr id="9" name="disc-3"/>
          <p:cNvSpPr/>
          <p:nvPr/>
        </p:nvSpPr>
        <p:spPr>
          <a:xfrm>
            <a:off x="566928" y="3703320"/>
            <a:ext cx="384048" cy="384048"/>
          </a:xfrm>
          <a:prstGeom prst="ellipse">
            <a:avLst/>
          </a:prstGeom>
          <a:solidFill>
            <a:srgbClr val="1C3557"/>
          </a:solidFill>
          <a:ln/>
        </p:spPr>
      </p:sp>
      <p:sp>
        <p:nvSpPr>
          <p:cNvPr id="10" name="disc-label-3"/>
          <p:cNvSpPr txBox="1"/>
          <p:nvPr/>
        </p:nvSpPr>
        <p:spPr>
          <a:xfrm>
            <a:off x="566928"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row-3"/>
          <p:cNvSpPr txBox="1"/>
          <p:nvPr/>
        </p:nvSpPr>
        <p:spPr>
          <a:xfrm>
            <a:off x="1097280" y="3666744"/>
            <a:ext cx="10515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Two-party handover</a:t>
            </a:r>
            <a:endParaRPr lang="en-US" sz="1600" dirty="0"/>
          </a:p>
          <a:p>
            <a:pPr indent="0" marL="0">
              <a:lnSpc>
                <a:spcPct val="105000"/>
              </a:lnSpc>
              <a:buNone/>
            </a:pPr>
            <a:r>
              <a:rPr lang="en-US" sz="1350" dirty="0">
                <a:solidFill>
                  <a:srgbClr val="475569"/>
                </a:solidFill>
              </a:rPr>
              <a:t>A courier requests a parcel; a conditional UPDATE means only one of two simultaneous requests can win. The shop then confirms it.</a:t>
            </a:r>
            <a:endParaRPr lang="en-US" sz="1600" dirty="0"/>
          </a:p>
        </p:txBody>
      </p:sp>
      <p:sp>
        <p:nvSpPr>
          <p:cNvPr id="12" name="disc-4"/>
          <p:cNvSpPr/>
          <p:nvPr/>
        </p:nvSpPr>
        <p:spPr>
          <a:xfrm>
            <a:off x="566928" y="4892040"/>
            <a:ext cx="384048" cy="384048"/>
          </a:xfrm>
          <a:prstGeom prst="ellipse">
            <a:avLst/>
          </a:prstGeom>
          <a:solidFill>
            <a:srgbClr val="1C3557"/>
          </a:solidFill>
          <a:ln/>
        </p:spPr>
      </p:sp>
      <p:sp>
        <p:nvSpPr>
          <p:cNvPr id="13" name="disc-label-4"/>
          <p:cNvSpPr txBox="1"/>
          <p:nvPr/>
        </p:nvSpPr>
        <p:spPr>
          <a:xfrm>
            <a:off x="566928" y="4892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row-4"/>
          <p:cNvSpPr txBox="1"/>
          <p:nvPr/>
        </p:nvSpPr>
        <p:spPr>
          <a:xfrm>
            <a:off x="1097280" y="4855464"/>
            <a:ext cx="10515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Escalation</a:t>
            </a:r>
            <a:endParaRPr lang="en-US" sz="1600" dirty="0"/>
          </a:p>
          <a:p>
            <a:pPr indent="0" marL="0">
              <a:lnSpc>
                <a:spcPct val="105000"/>
              </a:lnSpc>
              <a:buNone/>
            </a:pPr>
            <a:r>
              <a:rPr lang="en-US" sz="1350" dirty="0">
                <a:solidFill>
                  <a:srgbClr val="475569"/>
                </a:solidFill>
              </a:rPr>
              <a:t>A parcel nobody claims within 60 minutes is assigned to the least-loaded courier on duty by a sweep that runs every few minutes.</a:t>
            </a:r>
            <a:endParaRPr lang="en-US" sz="1600" dirty="0"/>
          </a:p>
        </p:txBody>
      </p:sp>
      <p:sp>
        <p:nvSpPr>
          <p:cNvPr id="1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Pricing a Delivery: a Worked Example</a:t>
            </a:r>
            <a:endParaRPr lang="en-US" sz="3200" dirty="0"/>
          </a:p>
        </p:txBody>
      </p:sp>
      <p:sp>
        <p:nvSpPr>
          <p:cNvPr id="3" name="formula"/>
          <p:cNvSpPr txBox="1"/>
          <p:nvPr/>
        </p:nvSpPr>
        <p:spPr>
          <a:xfrm>
            <a:off x="566928" y="1280160"/>
            <a:ext cx="6675120" cy="1188720"/>
          </a:xfrm>
          <a:prstGeom prst="rect">
            <a:avLst/>
          </a:prstGeom>
          <a:noFill/>
          <a:ln/>
        </p:spPr>
        <p:txBody>
          <a:bodyPr wrap="square" lIns="0" tIns="0" rIns="0" bIns="0" rtlCol="0" anchor="t"/>
          <a:lstStyle/>
          <a:p>
            <a:pPr indent="0" marL="0">
              <a:spcAft>
                <a:spcPts val="800"/>
              </a:spcAft>
              <a:buNone/>
            </a:pPr>
            <a:r>
              <a:rPr lang="en-US" sz="1900" b="1" dirty="0">
                <a:solidFill>
                  <a:srgbClr val="1C3557"/>
                </a:solidFill>
              </a:rPr>
              <a:t>price  =  base fee  +  (distance × rate per km)</a:t>
            </a:r>
            <a:endParaRPr lang="en-US" sz="1900" dirty="0"/>
          </a:p>
          <a:p>
            <a:pPr indent="0" marL="0">
              <a:buNone/>
            </a:pPr>
            <a:r>
              <a:rPr lang="en-US" sz="1350" dirty="0">
                <a:solidFill>
                  <a:srgbClr val="475569"/>
                </a:solidFill>
              </a:rPr>
              <a:t>ZMW 20 base, ZMW 5 per kilometre — both set by environment variable, so a real courier's tariff replaces them without touching the code.</a:t>
            </a:r>
            <a:endParaRPr lang="en-US" sz="1900" dirty="0"/>
          </a:p>
        </p:txBody>
      </p:sp>
      <p:sp>
        <p:nvSpPr>
          <p:cNvPr id="4" name="disc-1"/>
          <p:cNvSpPr/>
          <p:nvPr/>
        </p:nvSpPr>
        <p:spPr>
          <a:xfrm>
            <a:off x="566928" y="2697480"/>
            <a:ext cx="384048" cy="384048"/>
          </a:xfrm>
          <a:prstGeom prst="ellipse">
            <a:avLst/>
          </a:prstGeom>
          <a:solidFill>
            <a:srgbClr val="1C3557"/>
          </a:solidFill>
          <a:ln/>
        </p:spPr>
      </p:sp>
      <p:sp>
        <p:nvSpPr>
          <p:cNvPr id="5" name="disc-label-1"/>
          <p:cNvSpPr txBox="1"/>
          <p:nvPr/>
        </p:nvSpPr>
        <p:spPr>
          <a:xfrm>
            <a:off x="566928" y="2697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row-1"/>
          <p:cNvSpPr txBox="1"/>
          <p:nvPr/>
        </p:nvSpPr>
        <p:spPr>
          <a:xfrm>
            <a:off x="1097280" y="2660904"/>
            <a:ext cx="64008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Read the address</a:t>
            </a:r>
            <a:endParaRPr lang="en-US" sz="1600" dirty="0"/>
          </a:p>
          <a:p>
            <a:pPr indent="0" marL="0">
              <a:lnSpc>
                <a:spcPct val="105000"/>
              </a:lnSpc>
              <a:buNone/>
            </a:pPr>
            <a:r>
              <a:rPr lang="en-US" sz="1350" dirty="0">
                <a:solidFill>
                  <a:srgbClr val="475569"/>
                </a:solidFill>
              </a:rPr>
              <a:t>"Kabulonga, Lusaka" is matched against a table of Zambian towns and Lusaka neighbourhoods.</a:t>
            </a:r>
            <a:endParaRPr lang="en-US" sz="1600" dirty="0"/>
          </a:p>
        </p:txBody>
      </p:sp>
      <p:sp>
        <p:nvSpPr>
          <p:cNvPr id="7" name="disc-2"/>
          <p:cNvSpPr/>
          <p:nvPr/>
        </p:nvSpPr>
        <p:spPr>
          <a:xfrm>
            <a:off x="566928" y="3611880"/>
            <a:ext cx="384048" cy="384048"/>
          </a:xfrm>
          <a:prstGeom prst="ellipse">
            <a:avLst/>
          </a:prstGeom>
          <a:solidFill>
            <a:srgbClr val="1C3557"/>
          </a:solidFill>
          <a:ln/>
        </p:spPr>
      </p:sp>
      <p:sp>
        <p:nvSpPr>
          <p:cNvPr id="8" name="disc-label-2"/>
          <p:cNvSpPr txBox="1"/>
          <p:nvPr/>
        </p:nvSpPr>
        <p:spPr>
          <a:xfrm>
            <a:off x="566928"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row-2"/>
          <p:cNvSpPr txBox="1"/>
          <p:nvPr/>
        </p:nvSpPr>
        <p:spPr>
          <a:xfrm>
            <a:off x="1097280" y="3575304"/>
            <a:ext cx="64008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Measure the distance</a:t>
            </a:r>
            <a:endParaRPr lang="en-US" sz="1600" dirty="0"/>
          </a:p>
          <a:p>
            <a:pPr indent="0" marL="0">
              <a:lnSpc>
                <a:spcPct val="105000"/>
              </a:lnSpc>
              <a:buNone/>
            </a:pPr>
            <a:r>
              <a:rPr lang="en-US" sz="1350" dirty="0">
                <a:solidFill>
                  <a:srgbClr val="475569"/>
                </a:solidFill>
              </a:rPr>
              <a:t>The great-circle distance from the shop's town to that point — 7.4 km from a shop in Lusaka's centre.</a:t>
            </a:r>
            <a:endParaRPr lang="en-US" sz="1600" dirty="0"/>
          </a:p>
        </p:txBody>
      </p:sp>
      <p:sp>
        <p:nvSpPr>
          <p:cNvPr id="10" name="disc-3"/>
          <p:cNvSpPr/>
          <p:nvPr/>
        </p:nvSpPr>
        <p:spPr>
          <a:xfrm>
            <a:off x="566928" y="4526280"/>
            <a:ext cx="384048" cy="384048"/>
          </a:xfrm>
          <a:prstGeom prst="ellipse">
            <a:avLst/>
          </a:prstGeom>
          <a:solidFill>
            <a:srgbClr val="1C3557"/>
          </a:solidFill>
          <a:ln/>
        </p:spPr>
      </p:sp>
      <p:sp>
        <p:nvSpPr>
          <p:cNvPr id="11" name="disc-label-3"/>
          <p:cNvSpPr txBox="1"/>
          <p:nvPr/>
        </p:nvSpPr>
        <p:spPr>
          <a:xfrm>
            <a:off x="566928" y="4526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row-3"/>
          <p:cNvSpPr txBox="1"/>
          <p:nvPr/>
        </p:nvSpPr>
        <p:spPr>
          <a:xfrm>
            <a:off x="1097280" y="4489704"/>
            <a:ext cx="64008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Price it</a:t>
            </a:r>
            <a:endParaRPr lang="en-US" sz="1600" dirty="0"/>
          </a:p>
          <a:p>
            <a:pPr indent="0" marL="0">
              <a:lnSpc>
                <a:spcPct val="105000"/>
              </a:lnSpc>
              <a:buNone/>
            </a:pPr>
            <a:r>
              <a:rPr lang="en-US" sz="1350" dirty="0">
                <a:solidFill>
                  <a:srgbClr val="475569"/>
                </a:solidFill>
              </a:rPr>
              <a:t>ZMW 20 + (7.4 × 5) = ZMW 57.00, charged for this shop's parcel alone.</a:t>
            </a:r>
            <a:endParaRPr lang="en-US" sz="1600" dirty="0"/>
          </a:p>
        </p:txBody>
      </p:sp>
      <p:sp>
        <p:nvSpPr>
          <p:cNvPr id="13" name="disc-4"/>
          <p:cNvSpPr/>
          <p:nvPr/>
        </p:nvSpPr>
        <p:spPr>
          <a:xfrm>
            <a:off x="566928" y="5440680"/>
            <a:ext cx="384048" cy="384048"/>
          </a:xfrm>
          <a:prstGeom prst="ellipse">
            <a:avLst/>
          </a:prstGeom>
          <a:solidFill>
            <a:srgbClr val="1C3557"/>
          </a:solidFill>
          <a:ln/>
        </p:spPr>
      </p:sp>
      <p:sp>
        <p:nvSpPr>
          <p:cNvPr id="14" name="disc-label-4"/>
          <p:cNvSpPr txBox="1"/>
          <p:nvPr/>
        </p:nvSpPr>
        <p:spPr>
          <a:xfrm>
            <a:off x="566928" y="5440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row-4"/>
          <p:cNvSpPr txBox="1"/>
          <p:nvPr/>
        </p:nvSpPr>
        <p:spPr>
          <a:xfrm>
            <a:off x="1097280" y="5404104"/>
            <a:ext cx="64008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Estimate the time</a:t>
            </a:r>
            <a:endParaRPr lang="en-US" sz="1600" dirty="0"/>
          </a:p>
          <a:p>
            <a:pPr indent="0" marL="0">
              <a:lnSpc>
                <a:spcPct val="105000"/>
              </a:lnSpc>
              <a:buNone/>
            </a:pPr>
            <a:r>
              <a:rPr lang="en-US" sz="1350" dirty="0">
                <a:solidFill>
                  <a:srgbClr val="475569"/>
                </a:solidFill>
              </a:rPr>
              <a:t>4 to 6 minutes per kilometre, never under 20 — "30-45 min".</a:t>
            </a:r>
            <a:endParaRPr lang="en-US" sz="1600" dirty="0"/>
          </a:p>
        </p:txBody>
      </p:sp>
      <p:sp>
        <p:nvSpPr>
          <p:cNvPr id="16" name="card-estimate"/>
          <p:cNvSpPr/>
          <p:nvPr/>
        </p:nvSpPr>
        <p:spPr>
          <a:xfrm>
            <a:off x="7589520" y="1280160"/>
            <a:ext cx="4041648" cy="2377440"/>
          </a:xfrm>
          <a:prstGeom prst="roundRect">
            <a:avLst>
              <a:gd name="adj" fmla="val 3077"/>
            </a:avLst>
          </a:prstGeom>
          <a:solidFill>
            <a:srgbClr val="F1F5F9"/>
          </a:solidFill>
          <a:ln/>
        </p:spPr>
      </p:sp>
      <p:sp>
        <p:nvSpPr>
          <p:cNvPr id="17" name="card-head-estimate"/>
          <p:cNvSpPr txBox="1"/>
          <p:nvPr/>
        </p:nvSpPr>
        <p:spPr>
          <a:xfrm>
            <a:off x="7845552" y="1463040"/>
            <a:ext cx="3529584" cy="347472"/>
          </a:xfrm>
          <a:prstGeom prst="rect">
            <a:avLst/>
          </a:prstGeom>
          <a:noFill/>
          <a:ln/>
        </p:spPr>
        <p:txBody>
          <a:bodyPr wrap="square" lIns="0" tIns="0" rIns="0" bIns="0" rtlCol="0" anchor="ctr"/>
          <a:lstStyle/>
          <a:p>
            <a:pPr indent="0" marL="0">
              <a:buNone/>
            </a:pPr>
            <a:r>
              <a:rPr lang="en-US" sz="1500" b="1" dirty="0">
                <a:solidFill>
                  <a:srgbClr val="1C3557"/>
                </a:solidFill>
              </a:rPr>
              <a:t>Honest about guessing</a:t>
            </a:r>
            <a:endParaRPr lang="en-US" sz="1500" dirty="0"/>
          </a:p>
        </p:txBody>
      </p:sp>
      <p:sp>
        <p:nvSpPr>
          <p:cNvPr id="18" name="card-body-estimate"/>
          <p:cNvSpPr txBox="1"/>
          <p:nvPr/>
        </p:nvSpPr>
        <p:spPr>
          <a:xfrm>
            <a:off x="7845552" y="1847088"/>
            <a:ext cx="3529584" cy="16276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An address nobody recognises falls back to central Lusaka and the quote is flagged as an estimate, rather than quietly pretending to know.</a:t>
            </a:r>
            <a:endParaRPr lang="en-US" sz="1300" dirty="0"/>
          </a:p>
          <a:p>
            <a:pPr marL="342900" indent="-342900">
              <a:spcAft>
                <a:spcPts val="500"/>
              </a:spcAft>
              <a:buSzPct val="100000"/>
              <a:buChar char="•"/>
            </a:pPr>
            <a:r>
              <a:rPr lang="en-US" sz="1300" dirty="0">
                <a:solidFill>
                  <a:srgbClr val="475569"/>
                </a:solidFill>
              </a:rPr>
              <a:t>A second shop in the same order is measured from its own town, so two parcels rarely cost the same.</a:t>
            </a:r>
            <a:endParaRPr lang="en-US" sz="1300" dirty="0"/>
          </a:p>
        </p:txBody>
      </p:sp>
      <p:sp>
        <p:nvSpPr>
          <p:cNvPr id="19" name="card-provider"/>
          <p:cNvSpPr/>
          <p:nvPr/>
        </p:nvSpPr>
        <p:spPr>
          <a:xfrm>
            <a:off x="7589520" y="3840480"/>
            <a:ext cx="4041648" cy="2194560"/>
          </a:xfrm>
          <a:prstGeom prst="roundRect">
            <a:avLst>
              <a:gd name="adj" fmla="val 3333"/>
            </a:avLst>
          </a:prstGeom>
          <a:solidFill>
            <a:srgbClr val="F1F5F9"/>
          </a:solidFill>
          <a:ln/>
        </p:spPr>
      </p:sp>
      <p:sp>
        <p:nvSpPr>
          <p:cNvPr id="20" name="card-head-provider"/>
          <p:cNvSpPr txBox="1"/>
          <p:nvPr/>
        </p:nvSpPr>
        <p:spPr>
          <a:xfrm>
            <a:off x="7845552" y="4023360"/>
            <a:ext cx="3529584" cy="347472"/>
          </a:xfrm>
          <a:prstGeom prst="rect">
            <a:avLst/>
          </a:prstGeom>
          <a:noFill/>
          <a:ln/>
        </p:spPr>
        <p:txBody>
          <a:bodyPr wrap="square" lIns="0" tIns="0" rIns="0" bIns="0" rtlCol="0" anchor="ctr"/>
          <a:lstStyle/>
          <a:p>
            <a:pPr indent="0" marL="0">
              <a:buNone/>
            </a:pPr>
            <a:r>
              <a:rPr lang="en-US" sz="1500" b="1" dirty="0">
                <a:solidFill>
                  <a:srgbClr val="1C3557"/>
                </a:solidFill>
              </a:rPr>
              <a:t>Ready for a real courier</a:t>
            </a:r>
            <a:endParaRPr lang="en-US" sz="1500" dirty="0"/>
          </a:p>
        </p:txBody>
      </p:sp>
      <p:sp>
        <p:nvSpPr>
          <p:cNvPr id="21" name="card-body-provider"/>
          <p:cNvSpPr txBox="1"/>
          <p:nvPr/>
        </p:nvSpPr>
        <p:spPr>
          <a:xfrm>
            <a:off x="7845552" y="4407408"/>
            <a:ext cx="3529584" cy="144475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Every quote goes through one provider interface.</a:t>
            </a:r>
            <a:endParaRPr lang="en-US" sz="1300" dirty="0"/>
          </a:p>
          <a:p>
            <a:pPr marL="342900" indent="-342900">
              <a:spcAft>
                <a:spcPts val="500"/>
              </a:spcAft>
              <a:buSzPct val="100000"/>
              <a:buChar char="•"/>
            </a:pPr>
            <a:r>
              <a:rPr lang="en-US" sz="1300" dirty="0">
                <a:solidFill>
                  <a:srgbClr val="475569"/>
                </a:solidFill>
              </a:rPr>
              <a:t>Our own riders are one implementation; an outside company exposing a quote endpoint is another.</a:t>
            </a:r>
            <a:endParaRPr lang="en-US" sz="1300" dirty="0"/>
          </a:p>
          <a:p>
            <a:pPr marL="342900" indent="-342900">
              <a:spcAft>
                <a:spcPts val="500"/>
              </a:spcAft>
              <a:buSzPct val="100000"/>
              <a:buChar char="•"/>
            </a:pPr>
            <a:r>
              <a:rPr lang="en-US" sz="1300" dirty="0">
                <a:solidFill>
                  <a:srgbClr val="475569"/>
                </a:solidFill>
              </a:rPr>
              <a:t>Swapping them changes no other code.</a:t>
            </a:r>
            <a:endParaRPr lang="en-US" sz="1300" dirty="0"/>
          </a:p>
        </p:txBody>
      </p:sp>
      <p:sp>
        <p:nvSpPr>
          <p:cNvPr id="23"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Development Environment</a:t>
            </a:r>
            <a:endParaRPr lang="en-US" sz="3200" dirty="0"/>
          </a:p>
        </p:txBody>
      </p:sp>
      <p:graphicFrame>
        <p:nvGraphicFramePr>
          <p:cNvPr id="14" name="env-table"/>
          <p:cNvGraphicFramePr>
            <a:graphicFrameLocks noGrp="1"/>
          </p:cNvGraphicFramePr>
          <p:nvPr>
            <p:extLst>
              <p:ext uri="{D42A27DB-BD31-4B8C-83A1-F6EECF244321}">
                <p14:modId xmlns:p14="http://schemas.microsoft.com/office/powerpoint/2010/main" val="1579011935"/>
              </p:ext>
            </p:extLst>
          </p:nvPr>
        </p:nvGraphicFramePr>
        <p:xfrm>
          <a:off x="566928" y="1325880"/>
          <a:ext cx="11064240" cy="914400"/>
        </p:xfrm>
        <a:graphic>
          <a:graphicData uri="http://schemas.openxmlformats.org/drawingml/2006/table">
            <a:tbl>
              <a:tblPr/>
              <a:tblGrid>
                <a:gridCol w="2834640"/>
                <a:gridCol w="8229600"/>
              </a:tblGrid>
              <a:tr h="530352">
                <a:tc>
                  <a:txBody>
                    <a:bodyPr/>
                    <a:lstStyle/>
                    <a:p>
                      <a:pPr indent="0" marL="0">
                        <a:buNone/>
                      </a:pPr>
                      <a:r>
                        <a:rPr lang="en-US" sz="1400" b="1" dirty="0">
                          <a:solidFill>
                            <a:srgbClr val="1C3557"/>
                          </a:solidFill>
                        </a:rPr>
                        <a:t>Operating system</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Windows 11 · the stack also runs on macOS and Linux</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530352">
                <a:tc>
                  <a:txBody>
                    <a:bodyPr/>
                    <a:lstStyle/>
                    <a:p>
                      <a:pPr indent="0" marL="0">
                        <a:buNone/>
                      </a:pPr>
                      <a:r>
                        <a:rPr lang="en-US" sz="1400" b="1" dirty="0">
                          <a:solidFill>
                            <a:srgbClr val="1C3557"/>
                          </a:solidFill>
                        </a:rPr>
                        <a:t>Programming language</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JavaScript (ES modules) across the whole system</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530352">
                <a:tc>
                  <a:txBody>
                    <a:bodyPr/>
                    <a:lstStyle/>
                    <a:p>
                      <a:pPr indent="0" marL="0">
                        <a:buNone/>
                      </a:pPr>
                      <a:r>
                        <a:rPr lang="en-US" sz="1400" b="1" dirty="0">
                          <a:solidFill>
                            <a:srgbClr val="1C3557"/>
                          </a:solidFill>
                        </a:rPr>
                        <a:t>Frameworks</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Express 4 on the server · React 18 with Vite in the browser · Tailwind CSS</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530352">
                <a:tc>
                  <a:txBody>
                    <a:bodyPr/>
                    <a:lstStyle/>
                    <a:p>
                      <a:pPr indent="0" marL="0">
                        <a:buNone/>
                      </a:pPr>
                      <a:r>
                        <a:rPr lang="en-US" sz="1400" b="1" dirty="0">
                          <a:solidFill>
                            <a:srgbClr val="1C3557"/>
                          </a:solidFill>
                        </a:rPr>
                        <a:t>Database</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MySQL / MariaDB through XAMPP · mysql2 with parameterised SQL</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530352">
                <a:tc>
                  <a:txBody>
                    <a:bodyPr/>
                    <a:lstStyle/>
                    <a:p>
                      <a:pPr indent="0" marL="0">
                        <a:buNone/>
                      </a:pPr>
                      <a:r>
                        <a:rPr lang="en-US" sz="1400" b="1" dirty="0">
                          <a:solidFill>
                            <a:srgbClr val="1C3557"/>
                          </a:solidFill>
                        </a:rPr>
                        <a:t>Testing</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Jest and supertest · Cypress for the browser</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530352">
                <a:tc>
                  <a:txBody>
                    <a:bodyPr/>
                    <a:lstStyle/>
                    <a:p>
                      <a:pPr indent="0" marL="0">
                        <a:buNone/>
                      </a:pPr>
                      <a:r>
                        <a:rPr lang="en-US" sz="1400" b="1" dirty="0">
                          <a:solidFill>
                            <a:srgbClr val="1C3557"/>
                          </a:solidFill>
                        </a:rPr>
                        <a:t>Tools</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Visual Studio Code · draw.io for diagrams · Postman and curl</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530352">
                <a:tc>
                  <a:txBody>
                    <a:bodyPr/>
                    <a:lstStyle/>
                    <a:p>
                      <a:pPr indent="0" marL="0">
                        <a:buNone/>
                      </a:pPr>
                      <a:r>
                        <a:rPr lang="en-US" sz="1400" b="1" dirty="0">
                          <a:solidFill>
                            <a:srgbClr val="1C3557"/>
                          </a:solidFill>
                        </a:rPr>
                        <a:t>Version control</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0F172A"/>
                          </a:solidFill>
                        </a:rPr>
                        <a:t>Git and GitHub · GitHub Actions runs the tests on every push</a:t>
                      </a:r>
                      <a:endParaRPr lang="en-US" sz="1400" dirty="0"/>
                    </a:p>
                  </a:txBody>
                  <a:tcPr marL="152400" marR="1524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bl>
          </a:graphicData>
        </a:graphic>
      </p:graphicFrame>
      <p:sp>
        <p:nvSpPr>
          <p:cNvPr id="5"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How the Work Was Organised</a:t>
            </a:r>
            <a:endParaRPr lang="en-US" sz="3200" dirty="0"/>
          </a:p>
        </p:txBody>
      </p:sp>
      <p:sp>
        <p:nvSpPr>
          <p:cNvPr id="3" name="disc-1"/>
          <p:cNvSpPr/>
          <p:nvPr/>
        </p:nvSpPr>
        <p:spPr>
          <a:xfrm>
            <a:off x="566928" y="1371600"/>
            <a:ext cx="384048" cy="384048"/>
          </a:xfrm>
          <a:prstGeom prst="ellipse">
            <a:avLst/>
          </a:prstGeom>
          <a:solidFill>
            <a:srgbClr val="1C3557"/>
          </a:solidFill>
          <a:ln/>
        </p:spPr>
      </p:sp>
      <p:sp>
        <p:nvSpPr>
          <p:cNvPr id="4" name="disc-label-1"/>
          <p:cNvSpPr txBox="1"/>
          <p:nvPr/>
        </p:nvSpPr>
        <p:spPr>
          <a:xfrm>
            <a:off x="566928"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row-1"/>
          <p:cNvSpPr txBox="1"/>
          <p:nvPr/>
        </p:nvSpPr>
        <p:spPr>
          <a:xfrm>
            <a:off x="1097280" y="1335024"/>
            <a:ext cx="667512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Built in increments</a:t>
            </a:r>
            <a:endParaRPr lang="en-US" sz="1600" dirty="0"/>
          </a:p>
          <a:p>
            <a:pPr indent="0" marL="0">
              <a:lnSpc>
                <a:spcPct val="105000"/>
              </a:lnSpc>
              <a:buNone/>
            </a:pPr>
            <a:r>
              <a:rPr lang="en-US" sz="1350" dirty="0">
                <a:solidFill>
                  <a:srgbClr val="475569"/>
                </a:solidFill>
              </a:rPr>
              <a:t>Accounts first, then the catalogue, then orders, then the courier handover, then trust and administration. Each one worked end to end before the next began.</a:t>
            </a:r>
            <a:endParaRPr lang="en-US" sz="1600" dirty="0"/>
          </a:p>
        </p:txBody>
      </p:sp>
      <p:sp>
        <p:nvSpPr>
          <p:cNvPr id="6" name="disc-2"/>
          <p:cNvSpPr/>
          <p:nvPr/>
        </p:nvSpPr>
        <p:spPr>
          <a:xfrm>
            <a:off x="566928" y="2560320"/>
            <a:ext cx="384048" cy="384048"/>
          </a:xfrm>
          <a:prstGeom prst="ellipse">
            <a:avLst/>
          </a:prstGeom>
          <a:solidFill>
            <a:srgbClr val="1C3557"/>
          </a:solidFill>
          <a:ln/>
        </p:spPr>
      </p:sp>
      <p:sp>
        <p:nvSpPr>
          <p:cNvPr id="7" name="disc-label-2"/>
          <p:cNvSpPr txBox="1"/>
          <p:nvPr/>
        </p:nvSpPr>
        <p:spPr>
          <a:xfrm>
            <a:off x="566928"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row-2"/>
          <p:cNvSpPr txBox="1"/>
          <p:nvPr/>
        </p:nvSpPr>
        <p:spPr>
          <a:xfrm>
            <a:off x="1097280" y="2523744"/>
            <a:ext cx="667512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Everything through Git</a:t>
            </a:r>
            <a:endParaRPr lang="en-US" sz="1600" dirty="0"/>
          </a:p>
          <a:p>
            <a:pPr indent="0" marL="0">
              <a:lnSpc>
                <a:spcPct val="105000"/>
              </a:lnSpc>
              <a:buNone/>
            </a:pPr>
            <a:r>
              <a:rPr lang="en-US" sz="1350" dirty="0">
                <a:solidFill>
                  <a:srgbClr val="475569"/>
                </a:solidFill>
              </a:rPr>
              <a:t>69 commits on a shared GitHub repository, with work merged from five contributors and larger features developed on their own branches.</a:t>
            </a:r>
            <a:endParaRPr lang="en-US" sz="1600" dirty="0"/>
          </a:p>
        </p:txBody>
      </p:sp>
      <p:sp>
        <p:nvSpPr>
          <p:cNvPr id="9" name="disc-3"/>
          <p:cNvSpPr/>
          <p:nvPr/>
        </p:nvSpPr>
        <p:spPr>
          <a:xfrm>
            <a:off x="566928" y="3749040"/>
            <a:ext cx="384048" cy="384048"/>
          </a:xfrm>
          <a:prstGeom prst="ellipse">
            <a:avLst/>
          </a:prstGeom>
          <a:solidFill>
            <a:srgbClr val="1C3557"/>
          </a:solidFill>
          <a:ln/>
        </p:spPr>
      </p:sp>
      <p:sp>
        <p:nvSpPr>
          <p:cNvPr id="10" name="disc-label-3"/>
          <p:cNvSpPr txBox="1"/>
          <p:nvPr/>
        </p:nvSpPr>
        <p:spPr>
          <a:xfrm>
            <a:off x="566928"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row-3"/>
          <p:cNvSpPr txBox="1"/>
          <p:nvPr/>
        </p:nvSpPr>
        <p:spPr>
          <a:xfrm>
            <a:off x="1097280" y="3712464"/>
            <a:ext cx="667512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Tests run on every push</a:t>
            </a:r>
            <a:endParaRPr lang="en-US" sz="1600" dirty="0"/>
          </a:p>
          <a:p>
            <a:pPr indent="0" marL="0">
              <a:lnSpc>
                <a:spcPct val="105000"/>
              </a:lnSpc>
              <a:buNone/>
            </a:pPr>
            <a:r>
              <a:rPr lang="en-US" sz="1350" dirty="0">
                <a:solidFill>
                  <a:srgbClr val="475569"/>
                </a:solidFill>
              </a:rPr>
              <a:t>A GitHub Actions workflow installs the stack, starts MySQL and runs both suites, so a merge that breaks something is visible straight away.</a:t>
            </a:r>
            <a:endParaRPr lang="en-US" sz="1600" dirty="0"/>
          </a:p>
        </p:txBody>
      </p:sp>
      <p:sp>
        <p:nvSpPr>
          <p:cNvPr id="12" name="disc-4"/>
          <p:cNvSpPr/>
          <p:nvPr/>
        </p:nvSpPr>
        <p:spPr>
          <a:xfrm>
            <a:off x="566928" y="4937760"/>
            <a:ext cx="384048" cy="384048"/>
          </a:xfrm>
          <a:prstGeom prst="ellipse">
            <a:avLst/>
          </a:prstGeom>
          <a:solidFill>
            <a:srgbClr val="1C3557"/>
          </a:solidFill>
          <a:ln/>
        </p:spPr>
      </p:sp>
      <p:sp>
        <p:nvSpPr>
          <p:cNvPr id="13" name="disc-label-4"/>
          <p:cNvSpPr txBox="1"/>
          <p:nvPr/>
        </p:nvSpPr>
        <p:spPr>
          <a:xfrm>
            <a:off x="566928" y="4937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row-4"/>
          <p:cNvSpPr txBox="1"/>
          <p:nvPr/>
        </p:nvSpPr>
        <p:spPr>
          <a:xfrm>
            <a:off x="1097280" y="4901184"/>
            <a:ext cx="667512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Documentation kept with the code</a:t>
            </a:r>
            <a:endParaRPr lang="en-US" sz="1600" dirty="0"/>
          </a:p>
          <a:p>
            <a:pPr indent="0" marL="0">
              <a:lnSpc>
                <a:spcPct val="105000"/>
              </a:lnSpc>
              <a:buNone/>
            </a:pPr>
            <a:r>
              <a:rPr lang="en-US" sz="1350" dirty="0">
                <a:solidFill>
                  <a:srgbClr val="475569"/>
                </a:solidFill>
              </a:rPr>
              <a:t>Nine numbered documents and seven diagrams live in the repository and are updated in the same commit as the change they describe.</a:t>
            </a:r>
            <a:endParaRPr lang="en-US" sz="1600" dirty="0"/>
          </a:p>
        </p:txBody>
      </p:sp>
      <p:sp>
        <p:nvSpPr>
          <p:cNvPr id="15" name="size-0"/>
          <p:cNvSpPr txBox="1"/>
          <p:nvPr/>
        </p:nvSpPr>
        <p:spPr>
          <a:xfrm>
            <a:off x="7680960" y="1371600"/>
            <a:ext cx="2011680" cy="566928"/>
          </a:xfrm>
          <a:prstGeom prst="rect">
            <a:avLst/>
          </a:prstGeom>
          <a:noFill/>
          <a:ln/>
        </p:spPr>
        <p:txBody>
          <a:bodyPr wrap="square" lIns="0" tIns="0" rIns="0" bIns="0" rtlCol="0" anchor="ctr"/>
          <a:lstStyle/>
          <a:p>
            <a:pPr algn="r" indent="0" marL="0">
              <a:buNone/>
            </a:pPr>
            <a:r>
              <a:rPr lang="en-US" sz="3000" b="1" dirty="0">
                <a:solidFill>
                  <a:srgbClr val="1C3557"/>
                </a:solidFill>
              </a:rPr>
              <a:t>15,500</a:t>
            </a:r>
            <a:endParaRPr lang="en-US" sz="3000" dirty="0"/>
          </a:p>
        </p:txBody>
      </p:sp>
      <p:sp>
        <p:nvSpPr>
          <p:cNvPr id="16" name="size-label-0"/>
          <p:cNvSpPr txBox="1"/>
          <p:nvPr/>
        </p:nvSpPr>
        <p:spPr>
          <a:xfrm>
            <a:off x="9829800" y="1481328"/>
            <a:ext cx="1828800" cy="457200"/>
          </a:xfrm>
          <a:prstGeom prst="rect">
            <a:avLst/>
          </a:prstGeom>
          <a:noFill/>
          <a:ln/>
        </p:spPr>
        <p:txBody>
          <a:bodyPr wrap="square" lIns="0" tIns="0" rIns="0" bIns="0" rtlCol="0" anchor="t"/>
          <a:lstStyle/>
          <a:p>
            <a:pPr indent="0" marL="0">
              <a:buNone/>
            </a:pPr>
            <a:r>
              <a:rPr lang="en-US" sz="1250" dirty="0">
                <a:solidFill>
                  <a:srgbClr val="475569"/>
                </a:solidFill>
              </a:rPr>
              <a:t>lines of JavaScript</a:t>
            </a:r>
            <a:endParaRPr lang="en-US" sz="1250" dirty="0"/>
          </a:p>
        </p:txBody>
      </p:sp>
      <p:sp>
        <p:nvSpPr>
          <p:cNvPr id="17" name="size-1"/>
          <p:cNvSpPr txBox="1"/>
          <p:nvPr/>
        </p:nvSpPr>
        <p:spPr>
          <a:xfrm>
            <a:off x="7680960" y="2560320"/>
            <a:ext cx="2011680" cy="566928"/>
          </a:xfrm>
          <a:prstGeom prst="rect">
            <a:avLst/>
          </a:prstGeom>
          <a:noFill/>
          <a:ln/>
        </p:spPr>
        <p:txBody>
          <a:bodyPr wrap="square" lIns="0" tIns="0" rIns="0" bIns="0" rtlCol="0" anchor="ctr"/>
          <a:lstStyle/>
          <a:p>
            <a:pPr algn="r" indent="0" marL="0">
              <a:buNone/>
            </a:pPr>
            <a:r>
              <a:rPr lang="en-US" sz="3000" b="1" dirty="0">
                <a:solidFill>
                  <a:srgbClr val="1C3557"/>
                </a:solidFill>
              </a:rPr>
              <a:t>27</a:t>
            </a:r>
            <a:endParaRPr lang="en-US" sz="3000" dirty="0"/>
          </a:p>
        </p:txBody>
      </p:sp>
      <p:sp>
        <p:nvSpPr>
          <p:cNvPr id="18" name="size-label-1"/>
          <p:cNvSpPr txBox="1"/>
          <p:nvPr/>
        </p:nvSpPr>
        <p:spPr>
          <a:xfrm>
            <a:off x="9829800" y="2670048"/>
            <a:ext cx="1828800" cy="457200"/>
          </a:xfrm>
          <a:prstGeom prst="rect">
            <a:avLst/>
          </a:prstGeom>
          <a:noFill/>
          <a:ln/>
        </p:spPr>
        <p:txBody>
          <a:bodyPr wrap="square" lIns="0" tIns="0" rIns="0" bIns="0" rtlCol="0" anchor="t"/>
          <a:lstStyle/>
          <a:p>
            <a:pPr indent="0" marL="0">
              <a:buNone/>
            </a:pPr>
            <a:r>
              <a:rPr lang="en-US" sz="1250" dirty="0">
                <a:solidFill>
                  <a:srgbClr val="475569"/>
                </a:solidFill>
              </a:rPr>
              <a:t>pages, 50 components</a:t>
            </a:r>
            <a:endParaRPr lang="en-US" sz="1250" dirty="0"/>
          </a:p>
        </p:txBody>
      </p:sp>
      <p:sp>
        <p:nvSpPr>
          <p:cNvPr id="19" name="size-2"/>
          <p:cNvSpPr txBox="1"/>
          <p:nvPr/>
        </p:nvSpPr>
        <p:spPr>
          <a:xfrm>
            <a:off x="7680960" y="3749040"/>
            <a:ext cx="2011680" cy="566928"/>
          </a:xfrm>
          <a:prstGeom prst="rect">
            <a:avLst/>
          </a:prstGeom>
          <a:noFill/>
          <a:ln/>
        </p:spPr>
        <p:txBody>
          <a:bodyPr wrap="square" lIns="0" tIns="0" rIns="0" bIns="0" rtlCol="0" anchor="ctr"/>
          <a:lstStyle/>
          <a:p>
            <a:pPr algn="r" indent="0" marL="0">
              <a:buNone/>
            </a:pPr>
            <a:r>
              <a:rPr lang="en-US" sz="3000" b="1" dirty="0">
                <a:solidFill>
                  <a:srgbClr val="1C3557"/>
                </a:solidFill>
              </a:rPr>
              <a:t>21</a:t>
            </a:r>
            <a:endParaRPr lang="en-US" sz="3000" dirty="0"/>
          </a:p>
        </p:txBody>
      </p:sp>
      <p:sp>
        <p:nvSpPr>
          <p:cNvPr id="20" name="size-label-2"/>
          <p:cNvSpPr txBox="1"/>
          <p:nvPr/>
        </p:nvSpPr>
        <p:spPr>
          <a:xfrm>
            <a:off x="9829800" y="3858768"/>
            <a:ext cx="1828800" cy="457200"/>
          </a:xfrm>
          <a:prstGeom prst="rect">
            <a:avLst/>
          </a:prstGeom>
          <a:noFill/>
          <a:ln/>
        </p:spPr>
        <p:txBody>
          <a:bodyPr wrap="square" lIns="0" tIns="0" rIns="0" bIns="0" rtlCol="0" anchor="t"/>
          <a:lstStyle/>
          <a:p>
            <a:pPr indent="0" marL="0">
              <a:buNone/>
            </a:pPr>
            <a:r>
              <a:rPr lang="en-US" sz="1250" dirty="0">
                <a:solidFill>
                  <a:srgbClr val="475569"/>
                </a:solidFill>
              </a:rPr>
              <a:t>database tables</a:t>
            </a:r>
            <a:endParaRPr lang="en-US" sz="1250" dirty="0"/>
          </a:p>
        </p:txBody>
      </p:sp>
      <p:sp>
        <p:nvSpPr>
          <p:cNvPr id="21" name="size-3"/>
          <p:cNvSpPr txBox="1"/>
          <p:nvPr/>
        </p:nvSpPr>
        <p:spPr>
          <a:xfrm>
            <a:off x="7680960" y="4937760"/>
            <a:ext cx="2011680" cy="566928"/>
          </a:xfrm>
          <a:prstGeom prst="rect">
            <a:avLst/>
          </a:prstGeom>
          <a:noFill/>
          <a:ln/>
        </p:spPr>
        <p:txBody>
          <a:bodyPr wrap="square" lIns="0" tIns="0" rIns="0" bIns="0" rtlCol="0" anchor="ctr"/>
          <a:lstStyle/>
          <a:p>
            <a:pPr algn="r" indent="0" marL="0">
              <a:buNone/>
            </a:pPr>
            <a:r>
              <a:rPr lang="en-US" sz="3000" b="1" dirty="0">
                <a:solidFill>
                  <a:srgbClr val="1C3557"/>
                </a:solidFill>
              </a:rPr>
              <a:t>69</a:t>
            </a:r>
            <a:endParaRPr lang="en-US" sz="3000" dirty="0"/>
          </a:p>
        </p:txBody>
      </p:sp>
      <p:sp>
        <p:nvSpPr>
          <p:cNvPr id="22" name="size-label-3"/>
          <p:cNvSpPr txBox="1"/>
          <p:nvPr/>
        </p:nvSpPr>
        <p:spPr>
          <a:xfrm>
            <a:off x="9829800" y="5047488"/>
            <a:ext cx="1828800" cy="457200"/>
          </a:xfrm>
          <a:prstGeom prst="rect">
            <a:avLst/>
          </a:prstGeom>
          <a:noFill/>
          <a:ln/>
        </p:spPr>
        <p:txBody>
          <a:bodyPr wrap="square" lIns="0" tIns="0" rIns="0" bIns="0" rtlCol="0" anchor="t"/>
          <a:lstStyle/>
          <a:p>
            <a:pPr indent="0" marL="0">
              <a:buNone/>
            </a:pPr>
            <a:r>
              <a:rPr lang="en-US" sz="1250" dirty="0">
                <a:solidFill>
                  <a:srgbClr val="475569"/>
                </a:solidFill>
              </a:rPr>
              <a:t>commits</a:t>
            </a:r>
            <a:endParaRPr lang="en-US" sz="1250" dirty="0"/>
          </a:p>
        </p:txBody>
      </p:sp>
      <p:sp>
        <p:nvSpPr>
          <p:cNvPr id="24"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System Components and Modules</a:t>
            </a:r>
            <a:endParaRPr lang="en-US" sz="3200" dirty="0"/>
          </a:p>
        </p:txBody>
      </p:sp>
      <p:sp>
        <p:nvSpPr>
          <p:cNvPr id="3" name="card-mod-0"/>
          <p:cNvSpPr/>
          <p:nvPr/>
        </p:nvSpPr>
        <p:spPr>
          <a:xfrm>
            <a:off x="566928" y="1325880"/>
            <a:ext cx="3511296" cy="2011680"/>
          </a:xfrm>
          <a:prstGeom prst="roundRect">
            <a:avLst>
              <a:gd name="adj" fmla="val 3636"/>
            </a:avLst>
          </a:prstGeom>
          <a:solidFill>
            <a:srgbClr val="F1F5F9"/>
          </a:solidFill>
          <a:ln/>
        </p:spPr>
      </p:sp>
      <p:sp>
        <p:nvSpPr>
          <p:cNvPr id="4" name="card-head-mod-0"/>
          <p:cNvSpPr txBox="1"/>
          <p:nvPr/>
        </p:nvSpPr>
        <p:spPr>
          <a:xfrm>
            <a:off x="822960" y="1508760"/>
            <a:ext cx="2999232" cy="347472"/>
          </a:xfrm>
          <a:prstGeom prst="rect">
            <a:avLst/>
          </a:prstGeom>
          <a:noFill/>
          <a:ln/>
        </p:spPr>
        <p:txBody>
          <a:bodyPr wrap="square" lIns="0" tIns="0" rIns="0" bIns="0" rtlCol="0" anchor="ctr"/>
          <a:lstStyle/>
          <a:p>
            <a:pPr indent="0" marL="0">
              <a:buNone/>
            </a:pPr>
            <a:r>
              <a:rPr lang="en-US" sz="1500" b="1" dirty="0">
                <a:solidFill>
                  <a:srgbClr val="1C3557"/>
                </a:solidFill>
              </a:rPr>
              <a:t>1 · Accounts and access</a:t>
            </a:r>
            <a:endParaRPr lang="en-US" sz="1500" dirty="0"/>
          </a:p>
        </p:txBody>
      </p:sp>
      <p:sp>
        <p:nvSpPr>
          <p:cNvPr id="5" name="card-body-mod-0"/>
          <p:cNvSpPr txBox="1"/>
          <p:nvPr/>
        </p:nvSpPr>
        <p:spPr>
          <a:xfrm>
            <a:off x="822960" y="1892808"/>
            <a:ext cx="2999232"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Four roles, each with its own dashboard</a:t>
            </a:r>
            <a:endParaRPr lang="en-US" sz="1300" dirty="0"/>
          </a:p>
          <a:p>
            <a:pPr marL="342900" indent="-342900">
              <a:spcAft>
                <a:spcPts val="500"/>
              </a:spcAft>
              <a:buSzPct val="100000"/>
              <a:buChar char="•"/>
            </a:pPr>
            <a:r>
              <a:rPr lang="en-US" sz="1300" dirty="0">
                <a:solidFill>
                  <a:srgbClr val="475569"/>
                </a:solidFill>
              </a:rPr>
              <a:t>Sign-up takes consent to the terms</a:t>
            </a:r>
            <a:endParaRPr lang="en-US" sz="1300" dirty="0"/>
          </a:p>
          <a:p>
            <a:pPr marL="342900" indent="-342900">
              <a:spcAft>
                <a:spcPts val="500"/>
              </a:spcAft>
              <a:buSzPct val="100000"/>
              <a:buChar char="•"/>
            </a:pPr>
            <a:r>
              <a:rPr lang="en-US" sz="1300" dirty="0">
                <a:solidFill>
                  <a:srgbClr val="475569"/>
                </a:solidFill>
              </a:rPr>
              <a:t>bcrypt passwords, JWT sessions, rate limits</a:t>
            </a:r>
            <a:endParaRPr lang="en-US" sz="1300" dirty="0"/>
          </a:p>
        </p:txBody>
      </p:sp>
      <p:sp>
        <p:nvSpPr>
          <p:cNvPr id="6" name="card-mod-1"/>
          <p:cNvSpPr/>
          <p:nvPr/>
        </p:nvSpPr>
        <p:spPr>
          <a:xfrm>
            <a:off x="4334256" y="1325880"/>
            <a:ext cx="3511296" cy="2011680"/>
          </a:xfrm>
          <a:prstGeom prst="roundRect">
            <a:avLst>
              <a:gd name="adj" fmla="val 3636"/>
            </a:avLst>
          </a:prstGeom>
          <a:solidFill>
            <a:srgbClr val="F1F5F9"/>
          </a:solidFill>
          <a:ln/>
        </p:spPr>
      </p:sp>
      <p:sp>
        <p:nvSpPr>
          <p:cNvPr id="7" name="card-head-mod-1"/>
          <p:cNvSpPr txBox="1"/>
          <p:nvPr/>
        </p:nvSpPr>
        <p:spPr>
          <a:xfrm>
            <a:off x="4590288" y="1508760"/>
            <a:ext cx="2999232" cy="347472"/>
          </a:xfrm>
          <a:prstGeom prst="rect">
            <a:avLst/>
          </a:prstGeom>
          <a:noFill/>
          <a:ln/>
        </p:spPr>
        <p:txBody>
          <a:bodyPr wrap="square" lIns="0" tIns="0" rIns="0" bIns="0" rtlCol="0" anchor="ctr"/>
          <a:lstStyle/>
          <a:p>
            <a:pPr indent="0" marL="0">
              <a:buNone/>
            </a:pPr>
            <a:r>
              <a:rPr lang="en-US" sz="1500" b="1" dirty="0">
                <a:solidFill>
                  <a:srgbClr val="7E22CE"/>
                </a:solidFill>
              </a:rPr>
              <a:t>2 · Catalogue and storefronts</a:t>
            </a:r>
            <a:endParaRPr lang="en-US" sz="1500" dirty="0"/>
          </a:p>
        </p:txBody>
      </p:sp>
      <p:sp>
        <p:nvSpPr>
          <p:cNvPr id="8" name="card-body-mod-1"/>
          <p:cNvSpPr txBox="1"/>
          <p:nvPr/>
        </p:nvSpPr>
        <p:spPr>
          <a:xfrm>
            <a:off x="4590288" y="1892808"/>
            <a:ext cx="2999232"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A shop, its storefront and its stock</a:t>
            </a:r>
            <a:endParaRPr lang="en-US" sz="1300" dirty="0"/>
          </a:p>
          <a:p>
            <a:pPr marL="342900" indent="-342900">
              <a:spcAft>
                <a:spcPts val="500"/>
              </a:spcAft>
              <a:buSzPct val="100000"/>
              <a:buChar char="•"/>
            </a:pPr>
            <a:r>
              <a:rPr lang="en-US" sz="1300" dirty="0">
                <a:solidFill>
                  <a:srgbClr val="475569"/>
                </a:solidFill>
              </a:rPr>
              <a:t>Photographs required on every listing</a:t>
            </a:r>
            <a:endParaRPr lang="en-US" sz="1300" dirty="0"/>
          </a:p>
          <a:p>
            <a:pPr marL="342900" indent="-342900">
              <a:spcAft>
                <a:spcPts val="500"/>
              </a:spcAft>
              <a:buSzPct val="100000"/>
              <a:buChar char="•"/>
            </a:pPr>
            <a:r>
              <a:rPr lang="en-US" sz="1300" dirty="0">
                <a:solidFill>
                  <a:srgbClr val="475569"/>
                </a:solidFill>
              </a:rPr>
              <a:t>Verified and suspended shops read differently</a:t>
            </a:r>
            <a:endParaRPr lang="en-US" sz="1300" dirty="0"/>
          </a:p>
        </p:txBody>
      </p:sp>
      <p:sp>
        <p:nvSpPr>
          <p:cNvPr id="9" name="card-mod-2"/>
          <p:cNvSpPr/>
          <p:nvPr/>
        </p:nvSpPr>
        <p:spPr>
          <a:xfrm>
            <a:off x="8101584" y="1325880"/>
            <a:ext cx="3511296" cy="2011680"/>
          </a:xfrm>
          <a:prstGeom prst="roundRect">
            <a:avLst>
              <a:gd name="adj" fmla="val 3636"/>
            </a:avLst>
          </a:prstGeom>
          <a:solidFill>
            <a:srgbClr val="F1F5F9"/>
          </a:solidFill>
          <a:ln/>
        </p:spPr>
      </p:sp>
      <p:sp>
        <p:nvSpPr>
          <p:cNvPr id="10" name="card-head-mod-2"/>
          <p:cNvSpPr txBox="1"/>
          <p:nvPr/>
        </p:nvSpPr>
        <p:spPr>
          <a:xfrm>
            <a:off x="8357616" y="1508760"/>
            <a:ext cx="2999232" cy="347472"/>
          </a:xfrm>
          <a:prstGeom prst="rect">
            <a:avLst/>
          </a:prstGeom>
          <a:noFill/>
          <a:ln/>
        </p:spPr>
        <p:txBody>
          <a:bodyPr wrap="square" lIns="0" tIns="0" rIns="0" bIns="0" rtlCol="0" anchor="ctr"/>
          <a:lstStyle/>
          <a:p>
            <a:pPr indent="0" marL="0">
              <a:buNone/>
            </a:pPr>
            <a:r>
              <a:rPr lang="en-US" sz="1500" b="1" dirty="0">
                <a:solidFill>
                  <a:srgbClr val="4F46E5"/>
                </a:solidFill>
              </a:rPr>
              <a:t>3 · Orders and basket</a:t>
            </a:r>
            <a:endParaRPr lang="en-US" sz="1500" dirty="0"/>
          </a:p>
        </p:txBody>
      </p:sp>
      <p:sp>
        <p:nvSpPr>
          <p:cNvPr id="11" name="card-body-mod-2"/>
          <p:cNvSpPr txBox="1"/>
          <p:nvPr/>
        </p:nvSpPr>
        <p:spPr>
          <a:xfrm>
            <a:off x="8357616" y="1892808"/>
            <a:ext cx="2999232"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A basket spanning several shops</a:t>
            </a:r>
            <a:endParaRPr lang="en-US" sz="1300" dirty="0"/>
          </a:p>
          <a:p>
            <a:pPr marL="342900" indent="-342900">
              <a:spcAft>
                <a:spcPts val="500"/>
              </a:spcAft>
              <a:buSzPct val="100000"/>
              <a:buChar char="•"/>
            </a:pPr>
            <a:r>
              <a:rPr lang="en-US" sz="1300" dirty="0">
                <a:solidFill>
                  <a:srgbClr val="475569"/>
                </a:solidFill>
              </a:rPr>
              <a:t>Quote, then checkout in one transaction</a:t>
            </a:r>
            <a:endParaRPr lang="en-US" sz="1300" dirty="0"/>
          </a:p>
          <a:p>
            <a:pPr marL="342900" indent="-342900">
              <a:spcAft>
                <a:spcPts val="500"/>
              </a:spcAft>
              <a:buSzPct val="100000"/>
              <a:buChar char="•"/>
            </a:pPr>
            <a:r>
              <a:rPr lang="en-US" sz="1300" dirty="0">
                <a:solidFill>
                  <a:srgbClr val="475569"/>
                </a:solidFill>
              </a:rPr>
              <a:t>Per-parcel tracking for the shopper</a:t>
            </a:r>
            <a:endParaRPr lang="en-US" sz="1300" dirty="0"/>
          </a:p>
        </p:txBody>
      </p:sp>
      <p:sp>
        <p:nvSpPr>
          <p:cNvPr id="12" name="card-mod-3"/>
          <p:cNvSpPr/>
          <p:nvPr/>
        </p:nvSpPr>
        <p:spPr>
          <a:xfrm>
            <a:off x="566928" y="3566160"/>
            <a:ext cx="3511296" cy="2011680"/>
          </a:xfrm>
          <a:prstGeom prst="roundRect">
            <a:avLst>
              <a:gd name="adj" fmla="val 3636"/>
            </a:avLst>
          </a:prstGeom>
          <a:solidFill>
            <a:srgbClr val="F1F5F9"/>
          </a:solidFill>
          <a:ln/>
        </p:spPr>
      </p:sp>
      <p:sp>
        <p:nvSpPr>
          <p:cNvPr id="13" name="card-head-mod-3"/>
          <p:cNvSpPr txBox="1"/>
          <p:nvPr/>
        </p:nvSpPr>
        <p:spPr>
          <a:xfrm>
            <a:off x="822960" y="3749040"/>
            <a:ext cx="2999232" cy="347472"/>
          </a:xfrm>
          <a:prstGeom prst="rect">
            <a:avLst/>
          </a:prstGeom>
          <a:noFill/>
          <a:ln/>
        </p:spPr>
        <p:txBody>
          <a:bodyPr wrap="square" lIns="0" tIns="0" rIns="0" bIns="0" rtlCol="0" anchor="ctr"/>
          <a:lstStyle/>
          <a:p>
            <a:pPr indent="0" marL="0">
              <a:buNone/>
            </a:pPr>
            <a:r>
              <a:rPr lang="en-US" sz="1500" b="1" dirty="0">
                <a:solidFill>
                  <a:srgbClr val="047857"/>
                </a:solidFill>
              </a:rPr>
              <a:t>4 · Courier delivery</a:t>
            </a:r>
            <a:endParaRPr lang="en-US" sz="1500" dirty="0"/>
          </a:p>
        </p:txBody>
      </p:sp>
      <p:sp>
        <p:nvSpPr>
          <p:cNvPr id="14" name="card-body-mod-3"/>
          <p:cNvSpPr txBox="1"/>
          <p:nvPr/>
        </p:nvSpPr>
        <p:spPr>
          <a:xfrm>
            <a:off x="822960" y="4133088"/>
            <a:ext cx="2999232"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A pool of released parcels</a:t>
            </a:r>
            <a:endParaRPr lang="en-US" sz="1300" dirty="0"/>
          </a:p>
          <a:p>
            <a:pPr marL="342900" indent="-342900">
              <a:spcAft>
                <a:spcPts val="500"/>
              </a:spcAft>
              <a:buSzPct val="100000"/>
              <a:buChar char="•"/>
            </a:pPr>
            <a:r>
              <a:rPr lang="en-US" sz="1300" dirty="0">
                <a:solidFill>
                  <a:srgbClr val="475569"/>
                </a:solidFill>
              </a:rPr>
              <a:t>Request, confirm, deny, escalate</a:t>
            </a:r>
            <a:endParaRPr lang="en-US" sz="1300" dirty="0"/>
          </a:p>
          <a:p>
            <a:pPr marL="342900" indent="-342900">
              <a:spcAft>
                <a:spcPts val="500"/>
              </a:spcAft>
              <a:buSzPct val="100000"/>
              <a:buChar char="•"/>
            </a:pPr>
            <a:r>
              <a:rPr lang="en-US" sz="1300" dirty="0">
                <a:solidFill>
                  <a:srgbClr val="475569"/>
                </a:solidFill>
              </a:rPr>
              <a:t>Shifts, approval and parcel counts</a:t>
            </a:r>
            <a:endParaRPr lang="en-US" sz="1300" dirty="0"/>
          </a:p>
        </p:txBody>
      </p:sp>
      <p:sp>
        <p:nvSpPr>
          <p:cNvPr id="15" name="card-mod-4"/>
          <p:cNvSpPr/>
          <p:nvPr/>
        </p:nvSpPr>
        <p:spPr>
          <a:xfrm>
            <a:off x="4334256" y="3566160"/>
            <a:ext cx="3511296" cy="2011680"/>
          </a:xfrm>
          <a:prstGeom prst="roundRect">
            <a:avLst>
              <a:gd name="adj" fmla="val 3636"/>
            </a:avLst>
          </a:prstGeom>
          <a:solidFill>
            <a:srgbClr val="F1F5F9"/>
          </a:solidFill>
          <a:ln/>
        </p:spPr>
      </p:sp>
      <p:sp>
        <p:nvSpPr>
          <p:cNvPr id="16" name="card-head-mod-4"/>
          <p:cNvSpPr txBox="1"/>
          <p:nvPr/>
        </p:nvSpPr>
        <p:spPr>
          <a:xfrm>
            <a:off x="4590288" y="3749040"/>
            <a:ext cx="2999232" cy="347472"/>
          </a:xfrm>
          <a:prstGeom prst="rect">
            <a:avLst/>
          </a:prstGeom>
          <a:noFill/>
          <a:ln/>
        </p:spPr>
        <p:txBody>
          <a:bodyPr wrap="square" lIns="0" tIns="0" rIns="0" bIns="0" rtlCol="0" anchor="ctr"/>
          <a:lstStyle/>
          <a:p>
            <a:pPr indent="0" marL="0">
              <a:buNone/>
            </a:pPr>
            <a:r>
              <a:rPr lang="en-US" sz="1500" b="1" dirty="0">
                <a:solidFill>
                  <a:srgbClr val="B45309"/>
                </a:solidFill>
              </a:rPr>
              <a:t>5 · Trust and administration</a:t>
            </a:r>
            <a:endParaRPr lang="en-US" sz="1500" dirty="0"/>
          </a:p>
        </p:txBody>
      </p:sp>
      <p:sp>
        <p:nvSpPr>
          <p:cNvPr id="17" name="card-body-mod-4"/>
          <p:cNvSpPr txBox="1"/>
          <p:nvPr/>
        </p:nvSpPr>
        <p:spPr>
          <a:xfrm>
            <a:off x="4590288" y="4133088"/>
            <a:ext cx="2999232"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Ratings and replies held in the database</a:t>
            </a:r>
            <a:endParaRPr lang="en-US" sz="1300" dirty="0"/>
          </a:p>
          <a:p>
            <a:pPr marL="342900" indent="-342900">
              <a:spcAft>
                <a:spcPts val="500"/>
              </a:spcAft>
              <a:buSzPct val="100000"/>
              <a:buChar char="•"/>
            </a:pPr>
            <a:r>
              <a:rPr lang="en-US" sz="1300" dirty="0">
                <a:solidFill>
                  <a:srgbClr val="475569"/>
                </a:solidFill>
              </a:rPr>
              <a:t>Complaints, flags and suspension</a:t>
            </a:r>
            <a:endParaRPr lang="en-US" sz="1300" dirty="0"/>
          </a:p>
          <a:p>
            <a:pPr marL="342900" indent="-342900">
              <a:spcAft>
                <a:spcPts val="500"/>
              </a:spcAft>
              <a:buSzPct val="100000"/>
              <a:buChar char="•"/>
            </a:pPr>
            <a:r>
              <a:rPr lang="en-US" sz="1300" dirty="0">
                <a:solidFill>
                  <a:srgbClr val="475569"/>
                </a:solidFill>
              </a:rPr>
              <a:t>Verification, editing, reversible deletion</a:t>
            </a:r>
            <a:endParaRPr lang="en-US" sz="1300" dirty="0"/>
          </a:p>
        </p:txBody>
      </p:sp>
      <p:sp>
        <p:nvSpPr>
          <p:cNvPr id="19"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Key Implementation Details</a:t>
            </a:r>
            <a:endParaRPr lang="en-US" sz="3200" dirty="0"/>
          </a:p>
        </p:txBody>
      </p:sp>
      <p:sp>
        <p:nvSpPr>
          <p:cNvPr id="3" name="step-0"/>
          <p:cNvSpPr/>
          <p:nvPr/>
        </p:nvSpPr>
        <p:spPr>
          <a:xfrm>
            <a:off x="6675120" y="1280160"/>
            <a:ext cx="4956048" cy="868680"/>
          </a:xfrm>
          <a:prstGeom prst="roundRect">
            <a:avLst>
              <a:gd name="adj" fmla="val 6316"/>
            </a:avLst>
          </a:prstGeom>
          <a:solidFill>
            <a:srgbClr val="F1F5F9"/>
          </a:solidFill>
          <a:ln/>
        </p:spPr>
      </p:sp>
      <p:sp>
        <p:nvSpPr>
          <p:cNvPr id="4" name="step-disc-0"/>
          <p:cNvSpPr/>
          <p:nvPr/>
        </p:nvSpPr>
        <p:spPr>
          <a:xfrm>
            <a:off x="6876288" y="1517904"/>
            <a:ext cx="384048" cy="384048"/>
          </a:xfrm>
          <a:prstGeom prst="ellipse">
            <a:avLst/>
          </a:prstGeom>
          <a:solidFill>
            <a:srgbClr val="1C3557"/>
          </a:solidFill>
          <a:ln/>
        </p:spPr>
      </p:sp>
      <p:sp>
        <p:nvSpPr>
          <p:cNvPr id="5" name="step-num-0"/>
          <p:cNvSpPr txBox="1"/>
          <p:nvPr/>
        </p:nvSpPr>
        <p:spPr>
          <a:xfrm>
            <a:off x="6876288"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step-text-0"/>
          <p:cNvSpPr txBox="1"/>
          <p:nvPr/>
        </p:nvSpPr>
        <p:spPr>
          <a:xfrm>
            <a:off x="7388352" y="1389888"/>
            <a:ext cx="4041648" cy="658368"/>
          </a:xfrm>
          <a:prstGeom prst="rect">
            <a:avLst/>
          </a:prstGeom>
          <a:noFill/>
          <a:ln/>
        </p:spPr>
        <p:txBody>
          <a:bodyPr wrap="square" lIns="0" tIns="0" rIns="0" bIns="0" rtlCol="0" anchor="t"/>
          <a:lstStyle/>
          <a:p>
            <a:pPr indent="0" marL="0">
              <a:lnSpc>
                <a:spcPct val="102000"/>
              </a:lnSpc>
              <a:buNone/>
            </a:pPr>
            <a:r>
              <a:rPr lang="en-US" sz="1300" b="1" dirty="0">
                <a:solidFill>
                  <a:srgbClr val="0F172A"/>
                </a:solidFill>
              </a:rPr>
              <a:t>Shop releases the parcel</a:t>
            </a:r>
            <a:endParaRPr lang="en-US" sz="1300" dirty="0"/>
          </a:p>
          <a:p>
            <a:pPr indent="0" marL="0">
              <a:lnSpc>
                <a:spcPct val="102000"/>
              </a:lnSpc>
              <a:buNone/>
            </a:pPr>
            <a:r>
              <a:rPr lang="en-US" sz="1100" dirty="0">
                <a:solidFill>
                  <a:srgbClr val="475569"/>
                </a:solidFill>
              </a:rPr>
              <a:t>It appears in the pool every on-duty courier sees</a:t>
            </a:r>
            <a:endParaRPr lang="en-US" sz="1300" dirty="0"/>
          </a:p>
        </p:txBody>
      </p:sp>
      <p:sp>
        <p:nvSpPr>
          <p:cNvPr id="7" name="step-arrow-0"/>
          <p:cNvSpPr/>
          <p:nvPr/>
        </p:nvSpPr>
        <p:spPr>
          <a:xfrm>
            <a:off x="7022592" y="2176272"/>
            <a:ext cx="201168" cy="201168"/>
          </a:xfrm>
          <a:prstGeom prst="downArrow">
            <a:avLst/>
          </a:prstGeom>
          <a:solidFill>
            <a:srgbClr val="CBD5E1"/>
          </a:solidFill>
          <a:ln/>
        </p:spPr>
      </p:sp>
      <p:sp>
        <p:nvSpPr>
          <p:cNvPr id="8" name="step-1"/>
          <p:cNvSpPr/>
          <p:nvPr/>
        </p:nvSpPr>
        <p:spPr>
          <a:xfrm>
            <a:off x="6675120" y="2395728"/>
            <a:ext cx="4956048" cy="868680"/>
          </a:xfrm>
          <a:prstGeom prst="roundRect">
            <a:avLst>
              <a:gd name="adj" fmla="val 6316"/>
            </a:avLst>
          </a:prstGeom>
          <a:solidFill>
            <a:srgbClr val="F1F5F9"/>
          </a:solidFill>
          <a:ln/>
        </p:spPr>
      </p:sp>
      <p:sp>
        <p:nvSpPr>
          <p:cNvPr id="9" name="step-disc-1"/>
          <p:cNvSpPr/>
          <p:nvPr/>
        </p:nvSpPr>
        <p:spPr>
          <a:xfrm>
            <a:off x="6876288" y="2633472"/>
            <a:ext cx="384048" cy="384048"/>
          </a:xfrm>
          <a:prstGeom prst="ellipse">
            <a:avLst/>
          </a:prstGeom>
          <a:solidFill>
            <a:srgbClr val="4F46E5"/>
          </a:solidFill>
          <a:ln/>
        </p:spPr>
      </p:sp>
      <p:sp>
        <p:nvSpPr>
          <p:cNvPr id="10" name="step-num-1"/>
          <p:cNvSpPr txBox="1"/>
          <p:nvPr/>
        </p:nvSpPr>
        <p:spPr>
          <a:xfrm>
            <a:off x="6876288"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step-text-1"/>
          <p:cNvSpPr txBox="1"/>
          <p:nvPr/>
        </p:nvSpPr>
        <p:spPr>
          <a:xfrm>
            <a:off x="7388352" y="2505456"/>
            <a:ext cx="4041648" cy="658368"/>
          </a:xfrm>
          <a:prstGeom prst="rect">
            <a:avLst/>
          </a:prstGeom>
          <a:noFill/>
          <a:ln/>
        </p:spPr>
        <p:txBody>
          <a:bodyPr wrap="square" lIns="0" tIns="0" rIns="0" bIns="0" rtlCol="0" anchor="t"/>
          <a:lstStyle/>
          <a:p>
            <a:pPr indent="0" marL="0">
              <a:lnSpc>
                <a:spcPct val="102000"/>
              </a:lnSpc>
              <a:buNone/>
            </a:pPr>
            <a:r>
              <a:rPr lang="en-US" sz="1300" b="1" dirty="0">
                <a:solidFill>
                  <a:srgbClr val="0F172A"/>
                </a:solidFill>
              </a:rPr>
              <a:t>A courier asks for it</a:t>
            </a:r>
            <a:endParaRPr lang="en-US" sz="1300" dirty="0"/>
          </a:p>
          <a:p>
            <a:pPr indent="0" marL="0">
              <a:lnSpc>
                <a:spcPct val="102000"/>
              </a:lnSpc>
              <a:buNone/>
            </a:pPr>
            <a:r>
              <a:rPr lang="en-US" sz="1100" dirty="0">
                <a:solidFill>
                  <a:srgbClr val="475569"/>
                </a:solidFill>
              </a:rPr>
              <a:t>One conditional UPDATE — a second rider finds nothing to claim</a:t>
            </a:r>
            <a:endParaRPr lang="en-US" sz="1300" dirty="0"/>
          </a:p>
        </p:txBody>
      </p:sp>
      <p:sp>
        <p:nvSpPr>
          <p:cNvPr id="12" name="step-arrow-1"/>
          <p:cNvSpPr/>
          <p:nvPr/>
        </p:nvSpPr>
        <p:spPr>
          <a:xfrm>
            <a:off x="7022592" y="3291840"/>
            <a:ext cx="201168" cy="201168"/>
          </a:xfrm>
          <a:prstGeom prst="downArrow">
            <a:avLst/>
          </a:prstGeom>
          <a:solidFill>
            <a:srgbClr val="CBD5E1"/>
          </a:solidFill>
          <a:ln/>
        </p:spPr>
      </p:sp>
      <p:sp>
        <p:nvSpPr>
          <p:cNvPr id="13" name="step-2"/>
          <p:cNvSpPr/>
          <p:nvPr/>
        </p:nvSpPr>
        <p:spPr>
          <a:xfrm>
            <a:off x="6675120" y="3511296"/>
            <a:ext cx="4956048" cy="868680"/>
          </a:xfrm>
          <a:prstGeom prst="roundRect">
            <a:avLst>
              <a:gd name="adj" fmla="val 6316"/>
            </a:avLst>
          </a:prstGeom>
          <a:solidFill>
            <a:srgbClr val="F1F5F9"/>
          </a:solidFill>
          <a:ln/>
        </p:spPr>
      </p:sp>
      <p:sp>
        <p:nvSpPr>
          <p:cNvPr id="14" name="step-disc-2"/>
          <p:cNvSpPr/>
          <p:nvPr/>
        </p:nvSpPr>
        <p:spPr>
          <a:xfrm>
            <a:off x="6876288" y="3749040"/>
            <a:ext cx="384048" cy="384048"/>
          </a:xfrm>
          <a:prstGeom prst="ellipse">
            <a:avLst/>
          </a:prstGeom>
          <a:solidFill>
            <a:srgbClr val="1C3557"/>
          </a:solidFill>
          <a:ln/>
        </p:spPr>
      </p:sp>
      <p:sp>
        <p:nvSpPr>
          <p:cNvPr id="15" name="step-num-2"/>
          <p:cNvSpPr txBox="1"/>
          <p:nvPr/>
        </p:nvSpPr>
        <p:spPr>
          <a:xfrm>
            <a:off x="6876288"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step-text-2"/>
          <p:cNvSpPr txBox="1"/>
          <p:nvPr/>
        </p:nvSpPr>
        <p:spPr>
          <a:xfrm>
            <a:off x="7388352" y="3621024"/>
            <a:ext cx="4041648" cy="658368"/>
          </a:xfrm>
          <a:prstGeom prst="rect">
            <a:avLst/>
          </a:prstGeom>
          <a:noFill/>
          <a:ln/>
        </p:spPr>
        <p:txBody>
          <a:bodyPr wrap="square" lIns="0" tIns="0" rIns="0" bIns="0" rtlCol="0" anchor="t"/>
          <a:lstStyle/>
          <a:p>
            <a:pPr indent="0" marL="0">
              <a:lnSpc>
                <a:spcPct val="102000"/>
              </a:lnSpc>
              <a:buNone/>
            </a:pPr>
            <a:r>
              <a:rPr lang="en-US" sz="1300" b="1" dirty="0">
                <a:solidFill>
                  <a:srgbClr val="0F172A"/>
                </a:solidFill>
              </a:rPr>
              <a:t>The shop confirms the handover</a:t>
            </a:r>
            <a:endParaRPr lang="en-US" sz="1300" dirty="0"/>
          </a:p>
          <a:p>
            <a:pPr indent="0" marL="0">
              <a:lnSpc>
                <a:spcPct val="102000"/>
              </a:lnSpc>
              <a:buNone/>
            </a:pPr>
            <a:r>
              <a:rPr lang="en-US" sz="1100" dirty="0">
                <a:solidFill>
                  <a:srgbClr val="475569"/>
                </a:solidFill>
              </a:rPr>
              <a:t>Only now does the customer get the courier's number</a:t>
            </a:r>
            <a:endParaRPr lang="en-US" sz="1300" dirty="0"/>
          </a:p>
        </p:txBody>
      </p:sp>
      <p:sp>
        <p:nvSpPr>
          <p:cNvPr id="17" name="step-arrow-2"/>
          <p:cNvSpPr/>
          <p:nvPr/>
        </p:nvSpPr>
        <p:spPr>
          <a:xfrm>
            <a:off x="7022592" y="4407408"/>
            <a:ext cx="201168" cy="201168"/>
          </a:xfrm>
          <a:prstGeom prst="downArrow">
            <a:avLst/>
          </a:prstGeom>
          <a:solidFill>
            <a:srgbClr val="CBD5E1"/>
          </a:solidFill>
          <a:ln/>
        </p:spPr>
      </p:sp>
      <p:sp>
        <p:nvSpPr>
          <p:cNvPr id="18" name="step-3"/>
          <p:cNvSpPr/>
          <p:nvPr/>
        </p:nvSpPr>
        <p:spPr>
          <a:xfrm>
            <a:off x="6675120" y="4626864"/>
            <a:ext cx="4956048" cy="868680"/>
          </a:xfrm>
          <a:prstGeom prst="roundRect">
            <a:avLst>
              <a:gd name="adj" fmla="val 6316"/>
            </a:avLst>
          </a:prstGeom>
          <a:solidFill>
            <a:srgbClr val="F1F5F9"/>
          </a:solidFill>
          <a:ln/>
        </p:spPr>
      </p:sp>
      <p:sp>
        <p:nvSpPr>
          <p:cNvPr id="19" name="step-disc-3"/>
          <p:cNvSpPr/>
          <p:nvPr/>
        </p:nvSpPr>
        <p:spPr>
          <a:xfrm>
            <a:off x="6876288" y="4864608"/>
            <a:ext cx="384048" cy="384048"/>
          </a:xfrm>
          <a:prstGeom prst="ellipse">
            <a:avLst/>
          </a:prstGeom>
          <a:solidFill>
            <a:srgbClr val="1C3557"/>
          </a:solidFill>
          <a:ln/>
        </p:spPr>
      </p:sp>
      <p:sp>
        <p:nvSpPr>
          <p:cNvPr id="20" name="step-num-3"/>
          <p:cNvSpPr txBox="1"/>
          <p:nvPr/>
        </p:nvSpPr>
        <p:spPr>
          <a:xfrm>
            <a:off x="6876288" y="4864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step-text-3"/>
          <p:cNvSpPr txBox="1"/>
          <p:nvPr/>
        </p:nvSpPr>
        <p:spPr>
          <a:xfrm>
            <a:off x="7388352" y="4736592"/>
            <a:ext cx="4041648" cy="658368"/>
          </a:xfrm>
          <a:prstGeom prst="rect">
            <a:avLst/>
          </a:prstGeom>
          <a:noFill/>
          <a:ln/>
        </p:spPr>
        <p:txBody>
          <a:bodyPr wrap="square" lIns="0" tIns="0" rIns="0" bIns="0" rtlCol="0" anchor="t"/>
          <a:lstStyle/>
          <a:p>
            <a:pPr indent="0" marL="0">
              <a:lnSpc>
                <a:spcPct val="102000"/>
              </a:lnSpc>
              <a:buNone/>
            </a:pPr>
            <a:r>
              <a:rPr lang="en-US" sz="1300" b="1" dirty="0">
                <a:solidFill>
                  <a:srgbClr val="0F172A"/>
                </a:solidFill>
              </a:rPr>
              <a:t>The courier marks it delivered</a:t>
            </a:r>
            <a:endParaRPr lang="en-US" sz="1300" dirty="0"/>
          </a:p>
          <a:p>
            <a:pPr indent="0" marL="0">
              <a:lnSpc>
                <a:spcPct val="102000"/>
              </a:lnSpc>
              <a:buNone/>
            </a:pPr>
            <a:r>
              <a:rPr lang="en-US" sz="1100" dirty="0">
                <a:solidFill>
                  <a:srgbClr val="475569"/>
                </a:solidFill>
              </a:rPr>
              <a:t>Tracking reads Delivered, and the shopper can rate the shop</a:t>
            </a:r>
            <a:endParaRPr lang="en-US" sz="1300" dirty="0"/>
          </a:p>
        </p:txBody>
      </p:sp>
      <p:sp>
        <p:nvSpPr>
          <p:cNvPr id="22" name="handover-note"/>
          <p:cNvSpPr txBox="1"/>
          <p:nvPr/>
        </p:nvSpPr>
        <p:spPr>
          <a:xfrm>
            <a:off x="6675120" y="5650992"/>
            <a:ext cx="4956048" cy="457200"/>
          </a:xfrm>
          <a:prstGeom prst="rect">
            <a:avLst/>
          </a:prstGeom>
          <a:noFill/>
          <a:ln/>
        </p:spPr>
        <p:txBody>
          <a:bodyPr wrap="square" lIns="0" tIns="0" rIns="0" bIns="0" rtlCol="0" anchor="ctr"/>
          <a:lstStyle/>
          <a:p>
            <a:pPr indent="0" marL="0">
              <a:buNone/>
            </a:pPr>
            <a:r>
              <a:rPr lang="en-US" sz="1100" i="1" dirty="0">
                <a:solidFill>
                  <a:srgbClr val="475569"/>
                </a:solidFill>
              </a:rPr>
              <a:t>A shop that reports a no-show sends the parcel back to the pool, and the reason reaches the customer.</a:t>
            </a:r>
            <a:endParaRPr lang="en-US" sz="1100" dirty="0"/>
          </a:p>
        </p:txBody>
      </p:sp>
      <p:sp>
        <p:nvSpPr>
          <p:cNvPr id="23" name="disc-1"/>
          <p:cNvSpPr/>
          <p:nvPr/>
        </p:nvSpPr>
        <p:spPr>
          <a:xfrm>
            <a:off x="566928" y="1371600"/>
            <a:ext cx="384048" cy="384048"/>
          </a:xfrm>
          <a:prstGeom prst="ellipse">
            <a:avLst/>
          </a:prstGeom>
          <a:solidFill>
            <a:srgbClr val="1C3557"/>
          </a:solidFill>
          <a:ln/>
        </p:spPr>
      </p:sp>
      <p:sp>
        <p:nvSpPr>
          <p:cNvPr id="24" name="disc-label-1"/>
          <p:cNvSpPr txBox="1"/>
          <p:nvPr/>
        </p:nvSpPr>
        <p:spPr>
          <a:xfrm>
            <a:off x="566928"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5" name="row-1"/>
          <p:cNvSpPr txBox="1"/>
          <p:nvPr/>
        </p:nvSpPr>
        <p:spPr>
          <a:xfrm>
            <a:off x="1097280" y="1335024"/>
            <a:ext cx="512064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Nothing half-written</a:t>
            </a:r>
            <a:endParaRPr lang="en-US" sz="1600" dirty="0"/>
          </a:p>
          <a:p>
            <a:pPr indent="0" marL="0">
              <a:lnSpc>
                <a:spcPct val="105000"/>
              </a:lnSpc>
              <a:buNone/>
            </a:pPr>
            <a:r>
              <a:rPr lang="en-US" sz="1350" dirty="0">
                <a:solidFill>
                  <a:srgbClr val="475569"/>
                </a:solidFill>
              </a:rPr>
              <a:t>Stock, order, lines and parcels are one transaction; prices are read on the server, never taken from the request.</a:t>
            </a:r>
            <a:endParaRPr lang="en-US" sz="1600" dirty="0"/>
          </a:p>
        </p:txBody>
      </p:sp>
      <p:sp>
        <p:nvSpPr>
          <p:cNvPr id="26" name="disc-2"/>
          <p:cNvSpPr/>
          <p:nvPr/>
        </p:nvSpPr>
        <p:spPr>
          <a:xfrm>
            <a:off x="566928" y="2560320"/>
            <a:ext cx="384048" cy="384048"/>
          </a:xfrm>
          <a:prstGeom prst="ellipse">
            <a:avLst/>
          </a:prstGeom>
          <a:solidFill>
            <a:srgbClr val="1C3557"/>
          </a:solidFill>
          <a:ln/>
        </p:spPr>
      </p:sp>
      <p:sp>
        <p:nvSpPr>
          <p:cNvPr id="27" name="disc-label-2"/>
          <p:cNvSpPr txBox="1"/>
          <p:nvPr/>
        </p:nvSpPr>
        <p:spPr>
          <a:xfrm>
            <a:off x="566928"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8" name="row-2"/>
          <p:cNvSpPr txBox="1"/>
          <p:nvPr/>
        </p:nvSpPr>
        <p:spPr>
          <a:xfrm>
            <a:off x="1097280" y="2523744"/>
            <a:ext cx="512064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Nobody sees what they should not</a:t>
            </a:r>
            <a:endParaRPr lang="en-US" sz="1600" dirty="0"/>
          </a:p>
          <a:p>
            <a:pPr indent="0" marL="0">
              <a:lnSpc>
                <a:spcPct val="105000"/>
              </a:lnSpc>
              <a:buNone/>
            </a:pPr>
            <a:r>
              <a:rPr lang="en-US" sz="1350" dirty="0">
                <a:solidFill>
                  <a:srgbClr val="475569"/>
                </a:solidFill>
              </a:rPr>
              <a:t>The courier's phone number reaches the customer only once the shop has confirmed the handover.</a:t>
            </a:r>
            <a:endParaRPr lang="en-US" sz="1600" dirty="0"/>
          </a:p>
        </p:txBody>
      </p:sp>
      <p:sp>
        <p:nvSpPr>
          <p:cNvPr id="29" name="disc-3"/>
          <p:cNvSpPr/>
          <p:nvPr/>
        </p:nvSpPr>
        <p:spPr>
          <a:xfrm>
            <a:off x="566928" y="3749040"/>
            <a:ext cx="384048" cy="384048"/>
          </a:xfrm>
          <a:prstGeom prst="ellipse">
            <a:avLst/>
          </a:prstGeom>
          <a:solidFill>
            <a:srgbClr val="1C3557"/>
          </a:solidFill>
          <a:ln/>
        </p:spPr>
      </p:sp>
      <p:sp>
        <p:nvSpPr>
          <p:cNvPr id="30" name="disc-label-3"/>
          <p:cNvSpPr txBox="1"/>
          <p:nvPr/>
        </p:nvSpPr>
        <p:spPr>
          <a:xfrm>
            <a:off x="566928"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1" name="row-3"/>
          <p:cNvSpPr txBox="1"/>
          <p:nvPr/>
        </p:nvSpPr>
        <p:spPr>
          <a:xfrm>
            <a:off x="1097280" y="3712464"/>
            <a:ext cx="512064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Every rule twice</a:t>
            </a:r>
            <a:endParaRPr lang="en-US" sz="1600" dirty="0"/>
          </a:p>
          <a:p>
            <a:pPr indent="0" marL="0">
              <a:lnSpc>
                <a:spcPct val="105000"/>
              </a:lnSpc>
              <a:buNone/>
            </a:pPr>
            <a:r>
              <a:rPr lang="en-US" sz="1350" dirty="0">
                <a:solidFill>
                  <a:srgbClr val="475569"/>
                </a:solidFill>
              </a:rPr>
              <a:t>Ownership is checked in the controller and again in the model, so no route can reach data it should not.</a:t>
            </a:r>
            <a:endParaRPr lang="en-US" sz="1600" dirty="0"/>
          </a:p>
        </p:txBody>
      </p:sp>
      <p:sp>
        <p:nvSpPr>
          <p:cNvPr id="32" name="disc-4"/>
          <p:cNvSpPr/>
          <p:nvPr/>
        </p:nvSpPr>
        <p:spPr>
          <a:xfrm>
            <a:off x="566928" y="4937760"/>
            <a:ext cx="384048" cy="384048"/>
          </a:xfrm>
          <a:prstGeom prst="ellipse">
            <a:avLst/>
          </a:prstGeom>
          <a:solidFill>
            <a:srgbClr val="1C3557"/>
          </a:solidFill>
          <a:ln/>
        </p:spPr>
      </p:sp>
      <p:sp>
        <p:nvSpPr>
          <p:cNvPr id="33" name="disc-label-4"/>
          <p:cNvSpPr txBox="1"/>
          <p:nvPr/>
        </p:nvSpPr>
        <p:spPr>
          <a:xfrm>
            <a:off x="566928" y="4937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4" name="row-4"/>
          <p:cNvSpPr txBox="1"/>
          <p:nvPr/>
        </p:nvSpPr>
        <p:spPr>
          <a:xfrm>
            <a:off x="1097280" y="4901184"/>
            <a:ext cx="512064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Removal without loss</a:t>
            </a:r>
            <a:endParaRPr lang="en-US" sz="1600" dirty="0"/>
          </a:p>
          <a:p>
            <a:pPr indent="0" marL="0">
              <a:lnSpc>
                <a:spcPct val="105000"/>
              </a:lnSpc>
              <a:buNone/>
            </a:pPr>
            <a:r>
              <a:rPr lang="en-US" sz="1350" dirty="0">
                <a:solidFill>
                  <a:srgbClr val="475569"/>
                </a:solidFill>
              </a:rPr>
              <a:t>A deleted account is hidden for 30 days, then purged — unless order history still refers to it.</a:t>
            </a:r>
            <a:endParaRPr lang="en-US" sz="1600" dirty="0"/>
          </a:p>
        </p:txBody>
      </p:sp>
      <p:sp>
        <p:nvSpPr>
          <p:cNvPr id="3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Security in Practice</a:t>
            </a:r>
            <a:endParaRPr lang="en-US" sz="3200" dirty="0"/>
          </a:p>
        </p:txBody>
      </p:sp>
      <p:sp>
        <p:nvSpPr>
          <p:cNvPr id="3" name="card-sec-0"/>
          <p:cNvSpPr/>
          <p:nvPr/>
        </p:nvSpPr>
        <p:spPr>
          <a:xfrm>
            <a:off x="566928" y="1325880"/>
            <a:ext cx="5303520" cy="1371600"/>
          </a:xfrm>
          <a:prstGeom prst="roundRect">
            <a:avLst>
              <a:gd name="adj" fmla="val 5333"/>
            </a:avLst>
          </a:prstGeom>
          <a:solidFill>
            <a:srgbClr val="F1F5F9"/>
          </a:solidFill>
          <a:ln/>
        </p:spPr>
      </p:sp>
      <p:sp>
        <p:nvSpPr>
          <p:cNvPr id="4" name="card-head-sec-0"/>
          <p:cNvSpPr txBox="1"/>
          <p:nvPr/>
        </p:nvSpPr>
        <p:spPr>
          <a:xfrm>
            <a:off x="822960" y="1508760"/>
            <a:ext cx="4791456" cy="347472"/>
          </a:xfrm>
          <a:prstGeom prst="rect">
            <a:avLst/>
          </a:prstGeom>
          <a:noFill/>
          <a:ln/>
        </p:spPr>
        <p:txBody>
          <a:bodyPr wrap="square" lIns="0" tIns="0" rIns="0" bIns="0" rtlCol="0" anchor="ctr"/>
          <a:lstStyle/>
          <a:p>
            <a:pPr indent="0" marL="0">
              <a:buNone/>
            </a:pPr>
            <a:r>
              <a:rPr lang="en-US" sz="1500" b="1" dirty="0">
                <a:solidFill>
                  <a:srgbClr val="1C3557"/>
                </a:solidFill>
              </a:rPr>
              <a:t>Passwords</a:t>
            </a:r>
            <a:endParaRPr lang="en-US" sz="1500" dirty="0"/>
          </a:p>
        </p:txBody>
      </p:sp>
      <p:sp>
        <p:nvSpPr>
          <p:cNvPr id="5" name="card-body-sec-0"/>
          <p:cNvSpPr txBox="1"/>
          <p:nvPr/>
        </p:nvSpPr>
        <p:spPr>
          <a:xfrm>
            <a:off x="822960" y="1892808"/>
            <a:ext cx="4791456" cy="62179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bcrypt with a cost of 10. A stolen copy of the database hands over nobody's password, and the hash can never be turned back.</a:t>
            </a:r>
            <a:endParaRPr lang="en-US" sz="1300" dirty="0"/>
          </a:p>
        </p:txBody>
      </p:sp>
      <p:sp>
        <p:nvSpPr>
          <p:cNvPr id="6" name="card-sec-1"/>
          <p:cNvSpPr/>
          <p:nvPr/>
        </p:nvSpPr>
        <p:spPr>
          <a:xfrm>
            <a:off x="6327648" y="1325880"/>
            <a:ext cx="5303520" cy="1371600"/>
          </a:xfrm>
          <a:prstGeom prst="roundRect">
            <a:avLst>
              <a:gd name="adj" fmla="val 5333"/>
            </a:avLst>
          </a:prstGeom>
          <a:solidFill>
            <a:srgbClr val="F1F5F9"/>
          </a:solidFill>
          <a:ln/>
        </p:spPr>
      </p:sp>
      <p:sp>
        <p:nvSpPr>
          <p:cNvPr id="7" name="card-head-sec-1"/>
          <p:cNvSpPr txBox="1"/>
          <p:nvPr/>
        </p:nvSpPr>
        <p:spPr>
          <a:xfrm>
            <a:off x="6583680" y="1508760"/>
            <a:ext cx="4791456" cy="347472"/>
          </a:xfrm>
          <a:prstGeom prst="rect">
            <a:avLst/>
          </a:prstGeom>
          <a:noFill/>
          <a:ln/>
        </p:spPr>
        <p:txBody>
          <a:bodyPr wrap="square" lIns="0" tIns="0" rIns="0" bIns="0" rtlCol="0" anchor="ctr"/>
          <a:lstStyle/>
          <a:p>
            <a:pPr indent="0" marL="0">
              <a:buNone/>
            </a:pPr>
            <a:r>
              <a:rPr lang="en-US" sz="1500" b="1" dirty="0">
                <a:solidFill>
                  <a:srgbClr val="1C3557"/>
                </a:solidFill>
              </a:rPr>
              <a:t>Sessions</a:t>
            </a:r>
            <a:endParaRPr lang="en-US" sz="1500" dirty="0"/>
          </a:p>
        </p:txBody>
      </p:sp>
      <p:sp>
        <p:nvSpPr>
          <p:cNvPr id="8" name="card-body-sec-1"/>
          <p:cNvSpPr txBox="1"/>
          <p:nvPr/>
        </p:nvSpPr>
        <p:spPr>
          <a:xfrm>
            <a:off x="6583680" y="1892808"/>
            <a:ext cx="4791456" cy="62179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A signed JWT carrying id, email and role, valid for 7 days. A tampered or expired token ends the session cleanly instead of leaving a broken dashboard.</a:t>
            </a:r>
            <a:endParaRPr lang="en-US" sz="1300" dirty="0"/>
          </a:p>
        </p:txBody>
      </p:sp>
      <p:sp>
        <p:nvSpPr>
          <p:cNvPr id="9" name="card-sec-2"/>
          <p:cNvSpPr/>
          <p:nvPr/>
        </p:nvSpPr>
        <p:spPr>
          <a:xfrm>
            <a:off x="566928" y="2926080"/>
            <a:ext cx="5303520" cy="1371600"/>
          </a:xfrm>
          <a:prstGeom prst="roundRect">
            <a:avLst>
              <a:gd name="adj" fmla="val 5333"/>
            </a:avLst>
          </a:prstGeom>
          <a:solidFill>
            <a:srgbClr val="F1F5F9"/>
          </a:solidFill>
          <a:ln/>
        </p:spPr>
      </p:sp>
      <p:sp>
        <p:nvSpPr>
          <p:cNvPr id="10" name="card-head-sec-2"/>
          <p:cNvSpPr txBox="1"/>
          <p:nvPr/>
        </p:nvSpPr>
        <p:spPr>
          <a:xfrm>
            <a:off x="822960" y="3108960"/>
            <a:ext cx="4791456" cy="347472"/>
          </a:xfrm>
          <a:prstGeom prst="rect">
            <a:avLst/>
          </a:prstGeom>
          <a:noFill/>
          <a:ln/>
        </p:spPr>
        <p:txBody>
          <a:bodyPr wrap="square" lIns="0" tIns="0" rIns="0" bIns="0" rtlCol="0" anchor="ctr"/>
          <a:lstStyle/>
          <a:p>
            <a:pPr indent="0" marL="0">
              <a:buNone/>
            </a:pPr>
            <a:r>
              <a:rPr lang="en-US" sz="1500" b="1" dirty="0">
                <a:solidFill>
                  <a:srgbClr val="4F46E5"/>
                </a:solidFill>
              </a:rPr>
              <a:t>Brute force</a:t>
            </a:r>
            <a:endParaRPr lang="en-US" sz="1500" dirty="0"/>
          </a:p>
        </p:txBody>
      </p:sp>
      <p:sp>
        <p:nvSpPr>
          <p:cNvPr id="11" name="card-body-sec-2"/>
          <p:cNvSpPr txBox="1"/>
          <p:nvPr/>
        </p:nvSpPr>
        <p:spPr>
          <a:xfrm>
            <a:off x="822960" y="3493008"/>
            <a:ext cx="4791456" cy="62179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10 failed sign-ins per address every 15 minutes — successes are never counted, so switching accounts never locks you out. 10 sign-ups an hour, 600 requests a minute overall.</a:t>
            </a:r>
            <a:endParaRPr lang="en-US" sz="1300" dirty="0"/>
          </a:p>
        </p:txBody>
      </p:sp>
      <p:sp>
        <p:nvSpPr>
          <p:cNvPr id="12" name="card-sec-3"/>
          <p:cNvSpPr/>
          <p:nvPr/>
        </p:nvSpPr>
        <p:spPr>
          <a:xfrm>
            <a:off x="6327648" y="2926080"/>
            <a:ext cx="5303520" cy="1371600"/>
          </a:xfrm>
          <a:prstGeom prst="roundRect">
            <a:avLst>
              <a:gd name="adj" fmla="val 5333"/>
            </a:avLst>
          </a:prstGeom>
          <a:solidFill>
            <a:srgbClr val="F1F5F9"/>
          </a:solidFill>
          <a:ln/>
        </p:spPr>
      </p:sp>
      <p:sp>
        <p:nvSpPr>
          <p:cNvPr id="13" name="card-head-sec-3"/>
          <p:cNvSpPr txBox="1"/>
          <p:nvPr/>
        </p:nvSpPr>
        <p:spPr>
          <a:xfrm>
            <a:off x="6583680" y="3108960"/>
            <a:ext cx="4791456" cy="347472"/>
          </a:xfrm>
          <a:prstGeom prst="rect">
            <a:avLst/>
          </a:prstGeom>
          <a:noFill/>
          <a:ln/>
        </p:spPr>
        <p:txBody>
          <a:bodyPr wrap="square" lIns="0" tIns="0" rIns="0" bIns="0" rtlCol="0" anchor="ctr"/>
          <a:lstStyle/>
          <a:p>
            <a:pPr indent="0" marL="0">
              <a:buNone/>
            </a:pPr>
            <a:r>
              <a:rPr lang="en-US" sz="1500" b="1" dirty="0">
                <a:solidFill>
                  <a:srgbClr val="4F46E5"/>
                </a:solidFill>
              </a:rPr>
              <a:t>Authorisation</a:t>
            </a:r>
            <a:endParaRPr lang="en-US" sz="1500" dirty="0"/>
          </a:p>
        </p:txBody>
      </p:sp>
      <p:sp>
        <p:nvSpPr>
          <p:cNvPr id="14" name="card-body-sec-3"/>
          <p:cNvSpPr txBox="1"/>
          <p:nvPr/>
        </p:nvSpPr>
        <p:spPr>
          <a:xfrm>
            <a:off x="6583680" y="3493008"/>
            <a:ext cx="4791456" cy="62179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Role on the route, ownership in the model. A shop asking for another shop's parcel is refused twice over.</a:t>
            </a:r>
            <a:endParaRPr lang="en-US" sz="1300" dirty="0"/>
          </a:p>
        </p:txBody>
      </p:sp>
      <p:sp>
        <p:nvSpPr>
          <p:cNvPr id="15" name="card-sec-4"/>
          <p:cNvSpPr/>
          <p:nvPr/>
        </p:nvSpPr>
        <p:spPr>
          <a:xfrm>
            <a:off x="566928" y="4526280"/>
            <a:ext cx="5303520" cy="1371600"/>
          </a:xfrm>
          <a:prstGeom prst="roundRect">
            <a:avLst>
              <a:gd name="adj" fmla="val 5333"/>
            </a:avLst>
          </a:prstGeom>
          <a:solidFill>
            <a:srgbClr val="F1F5F9"/>
          </a:solidFill>
          <a:ln/>
        </p:spPr>
      </p:sp>
      <p:sp>
        <p:nvSpPr>
          <p:cNvPr id="16" name="card-head-sec-4"/>
          <p:cNvSpPr txBox="1"/>
          <p:nvPr/>
        </p:nvSpPr>
        <p:spPr>
          <a:xfrm>
            <a:off x="822960" y="4709160"/>
            <a:ext cx="4791456" cy="347472"/>
          </a:xfrm>
          <a:prstGeom prst="rect">
            <a:avLst/>
          </a:prstGeom>
          <a:noFill/>
          <a:ln/>
        </p:spPr>
        <p:txBody>
          <a:bodyPr wrap="square" lIns="0" tIns="0" rIns="0" bIns="0" rtlCol="0" anchor="ctr"/>
          <a:lstStyle/>
          <a:p>
            <a:pPr indent="0" marL="0">
              <a:buNone/>
            </a:pPr>
            <a:r>
              <a:rPr lang="en-US" sz="1500" b="1" dirty="0">
                <a:solidFill>
                  <a:srgbClr val="047857"/>
                </a:solidFill>
              </a:rPr>
              <a:t>Injection</a:t>
            </a:r>
            <a:endParaRPr lang="en-US" sz="1500" dirty="0"/>
          </a:p>
        </p:txBody>
      </p:sp>
      <p:sp>
        <p:nvSpPr>
          <p:cNvPr id="17" name="card-body-sec-4"/>
          <p:cNvSpPr txBox="1"/>
          <p:nvPr/>
        </p:nvSpPr>
        <p:spPr>
          <a:xfrm>
            <a:off x="822960" y="5093208"/>
            <a:ext cx="4791456" cy="62179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Every statement is parameterised; no query is ever built by joining strings. Uploads are limited by type and size.</a:t>
            </a:r>
            <a:endParaRPr lang="en-US" sz="1300" dirty="0"/>
          </a:p>
        </p:txBody>
      </p:sp>
      <p:sp>
        <p:nvSpPr>
          <p:cNvPr id="18" name="card-sec-5"/>
          <p:cNvSpPr/>
          <p:nvPr/>
        </p:nvSpPr>
        <p:spPr>
          <a:xfrm>
            <a:off x="6327648" y="4526280"/>
            <a:ext cx="5303520" cy="1371600"/>
          </a:xfrm>
          <a:prstGeom prst="roundRect">
            <a:avLst>
              <a:gd name="adj" fmla="val 5333"/>
            </a:avLst>
          </a:prstGeom>
          <a:solidFill>
            <a:srgbClr val="F1F5F9"/>
          </a:solidFill>
          <a:ln/>
        </p:spPr>
      </p:sp>
      <p:sp>
        <p:nvSpPr>
          <p:cNvPr id="19" name="card-head-sec-5"/>
          <p:cNvSpPr txBox="1"/>
          <p:nvPr/>
        </p:nvSpPr>
        <p:spPr>
          <a:xfrm>
            <a:off x="6583680" y="4709160"/>
            <a:ext cx="4791456" cy="347472"/>
          </a:xfrm>
          <a:prstGeom prst="rect">
            <a:avLst/>
          </a:prstGeom>
          <a:noFill/>
          <a:ln/>
        </p:spPr>
        <p:txBody>
          <a:bodyPr wrap="square" lIns="0" tIns="0" rIns="0" bIns="0" rtlCol="0" anchor="ctr"/>
          <a:lstStyle/>
          <a:p>
            <a:pPr indent="0" marL="0">
              <a:buNone/>
            </a:pPr>
            <a:r>
              <a:rPr lang="en-US" sz="1500" b="1" dirty="0">
                <a:solidFill>
                  <a:srgbClr val="047857"/>
                </a:solidFill>
              </a:rPr>
              <a:t>Privacy</a:t>
            </a:r>
            <a:endParaRPr lang="en-US" sz="1500" dirty="0"/>
          </a:p>
        </p:txBody>
      </p:sp>
      <p:sp>
        <p:nvSpPr>
          <p:cNvPr id="20" name="card-body-sec-5"/>
          <p:cNvSpPr txBox="1"/>
          <p:nvPr/>
        </p:nvSpPr>
        <p:spPr>
          <a:xfrm>
            <a:off x="6583680" y="5093208"/>
            <a:ext cx="4791456" cy="62179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The courier's number is released only after the handover; a seller never sees the customer's address on the orders list; consent to the terms is recorded with its date.</a:t>
            </a:r>
            <a:endParaRPr lang="en-US" sz="1300" dirty="0"/>
          </a:p>
        </p:txBody>
      </p:sp>
      <p:sp>
        <p:nvSpPr>
          <p:cNvPr id="21" name="sec-note"/>
          <p:cNvSpPr txBox="1"/>
          <p:nvPr/>
        </p:nvSpPr>
        <p:spPr>
          <a:xfrm>
            <a:off x="566928" y="5943600"/>
            <a:ext cx="11064240" cy="320040"/>
          </a:xfrm>
          <a:prstGeom prst="rect">
            <a:avLst/>
          </a:prstGeom>
          <a:noFill/>
          <a:ln/>
        </p:spPr>
        <p:txBody>
          <a:bodyPr wrap="square" lIns="0" tIns="0" rIns="0" bIns="0" rtlCol="0" anchor="ctr"/>
          <a:lstStyle/>
          <a:p>
            <a:pPr indent="0" marL="0">
              <a:buNone/>
            </a:pPr>
            <a:r>
              <a:rPr lang="en-US" sz="1250" i="1" dirty="0">
                <a:solidFill>
                  <a:srgbClr val="475569"/>
                </a:solidFill>
              </a:rPr>
              <a:t>Objective 4 in full, except TLS — which is configured where the system is deployed, not in a local setup.</a:t>
            </a:r>
            <a:endParaRPr lang="en-US" sz="1250" dirty="0"/>
          </a:p>
        </p:txBody>
      </p:sp>
      <p:sp>
        <p:nvSpPr>
          <p:cNvPr id="23"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Challenges and Solutions</a:t>
            </a:r>
            <a:endParaRPr lang="en-US" sz="3200" dirty="0"/>
          </a:p>
        </p:txBody>
      </p:sp>
      <p:sp>
        <p:nvSpPr>
          <p:cNvPr id="3" name="card-ch-0"/>
          <p:cNvSpPr/>
          <p:nvPr/>
        </p:nvSpPr>
        <p:spPr>
          <a:xfrm>
            <a:off x="566928" y="1371600"/>
            <a:ext cx="11064240" cy="1188720"/>
          </a:xfrm>
          <a:prstGeom prst="roundRect">
            <a:avLst>
              <a:gd name="adj" fmla="val 6154"/>
            </a:avLst>
          </a:prstGeom>
          <a:solidFill>
            <a:srgbClr val="F1F5F9"/>
          </a:solidFill>
          <a:ln/>
        </p:spPr>
      </p:sp>
      <p:sp>
        <p:nvSpPr>
          <p:cNvPr id="4" name="card-head-ch-0"/>
          <p:cNvSpPr txBox="1"/>
          <p:nvPr/>
        </p:nvSpPr>
        <p:spPr>
          <a:xfrm>
            <a:off x="822960" y="1554480"/>
            <a:ext cx="10552176" cy="347472"/>
          </a:xfrm>
          <a:prstGeom prst="rect">
            <a:avLst/>
          </a:prstGeom>
          <a:noFill/>
          <a:ln/>
        </p:spPr>
        <p:txBody>
          <a:bodyPr wrap="square" lIns="0" tIns="0" rIns="0" bIns="0" rtlCol="0" anchor="ctr"/>
          <a:lstStyle/>
          <a:p>
            <a:pPr indent="0" marL="0">
              <a:buNone/>
            </a:pPr>
            <a:r>
              <a:rPr lang="en-US" sz="1500" b="1" dirty="0">
                <a:solidFill>
                  <a:srgbClr val="1C3557"/>
                </a:solidFill>
              </a:rPr>
              <a:t>Payment gateways need a registered business</a:t>
            </a:r>
            <a:endParaRPr lang="en-US" sz="1500" dirty="0"/>
          </a:p>
        </p:txBody>
      </p:sp>
      <p:sp>
        <p:nvSpPr>
          <p:cNvPr id="5" name="card-body-ch-0"/>
          <p:cNvSpPr txBox="1"/>
          <p:nvPr/>
        </p:nvSpPr>
        <p:spPr>
          <a:xfrm>
            <a:off x="822960" y="1938528"/>
            <a:ext cx="10552176" cy="43891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Airtel Money and MTN MoMo require a signed commercial agreement, which a student project cannot obtain. The order records the chosen method and writes a payment row; no money moves, and we say so plainly.</a:t>
            </a:r>
            <a:endParaRPr lang="en-US" sz="1300" dirty="0"/>
          </a:p>
        </p:txBody>
      </p:sp>
      <p:sp>
        <p:nvSpPr>
          <p:cNvPr id="6" name="card-ch-1"/>
          <p:cNvSpPr/>
          <p:nvPr/>
        </p:nvSpPr>
        <p:spPr>
          <a:xfrm>
            <a:off x="566928" y="2834640"/>
            <a:ext cx="11064240" cy="1188720"/>
          </a:xfrm>
          <a:prstGeom prst="roundRect">
            <a:avLst>
              <a:gd name="adj" fmla="val 6154"/>
            </a:avLst>
          </a:prstGeom>
          <a:solidFill>
            <a:srgbClr val="F1F5F9"/>
          </a:solidFill>
          <a:ln/>
        </p:spPr>
      </p:sp>
      <p:sp>
        <p:nvSpPr>
          <p:cNvPr id="7" name="card-head-ch-1"/>
          <p:cNvSpPr txBox="1"/>
          <p:nvPr/>
        </p:nvSpPr>
        <p:spPr>
          <a:xfrm>
            <a:off x="822960" y="3017520"/>
            <a:ext cx="10552176" cy="347472"/>
          </a:xfrm>
          <a:prstGeom prst="rect">
            <a:avLst/>
          </a:prstGeom>
          <a:noFill/>
          <a:ln/>
        </p:spPr>
        <p:txBody>
          <a:bodyPr wrap="square" lIns="0" tIns="0" rIns="0" bIns="0" rtlCol="0" anchor="ctr"/>
          <a:lstStyle/>
          <a:p>
            <a:pPr indent="0" marL="0">
              <a:buNone/>
            </a:pPr>
            <a:r>
              <a:rPr lang="en-US" sz="1500" b="1" dirty="0">
                <a:solidFill>
                  <a:srgbClr val="1C3557"/>
                </a:solidFill>
              </a:rPr>
              <a:t>Two couriers could claim one parcel</a:t>
            </a:r>
            <a:endParaRPr lang="en-US" sz="1500" dirty="0"/>
          </a:p>
        </p:txBody>
      </p:sp>
      <p:sp>
        <p:nvSpPr>
          <p:cNvPr id="8" name="card-body-ch-1"/>
          <p:cNvSpPr txBox="1"/>
          <p:nvPr/>
        </p:nvSpPr>
        <p:spPr>
          <a:xfrm>
            <a:off x="822960" y="3401568"/>
            <a:ext cx="10552176" cy="43891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Reading then writing left a race between two riders tapping at once. A single conditional UPDATE now claims the parcel, so the second request simply finds nothing to claim.</a:t>
            </a:r>
            <a:endParaRPr lang="en-US" sz="1300" dirty="0"/>
          </a:p>
        </p:txBody>
      </p:sp>
      <p:sp>
        <p:nvSpPr>
          <p:cNvPr id="9" name="card-ch-2"/>
          <p:cNvSpPr/>
          <p:nvPr/>
        </p:nvSpPr>
        <p:spPr>
          <a:xfrm>
            <a:off x="566928" y="4297680"/>
            <a:ext cx="11064240" cy="1188720"/>
          </a:xfrm>
          <a:prstGeom prst="roundRect">
            <a:avLst>
              <a:gd name="adj" fmla="val 6154"/>
            </a:avLst>
          </a:prstGeom>
          <a:solidFill>
            <a:srgbClr val="F1F5F9"/>
          </a:solidFill>
          <a:ln/>
        </p:spPr>
      </p:sp>
      <p:sp>
        <p:nvSpPr>
          <p:cNvPr id="10" name="card-head-ch-2"/>
          <p:cNvSpPr txBox="1"/>
          <p:nvPr/>
        </p:nvSpPr>
        <p:spPr>
          <a:xfrm>
            <a:off x="822960" y="4480560"/>
            <a:ext cx="10552176" cy="347472"/>
          </a:xfrm>
          <a:prstGeom prst="rect">
            <a:avLst/>
          </a:prstGeom>
          <a:noFill/>
          <a:ln/>
        </p:spPr>
        <p:txBody>
          <a:bodyPr wrap="square" lIns="0" tIns="0" rIns="0" bIns="0" rtlCol="0" anchor="ctr"/>
          <a:lstStyle/>
          <a:p>
            <a:pPr indent="0" marL="0">
              <a:buNone/>
            </a:pPr>
            <a:r>
              <a:rPr lang="en-US" sz="1500" b="1" dirty="0">
                <a:solidFill>
                  <a:srgbClr val="1C3557"/>
                </a:solidFill>
              </a:rPr>
              <a:t>Tests blocked each other for 931 seconds</a:t>
            </a:r>
            <a:endParaRPr lang="en-US" sz="1500" dirty="0"/>
          </a:p>
        </p:txBody>
      </p:sp>
      <p:sp>
        <p:nvSpPr>
          <p:cNvPr id="11" name="card-body-ch-2"/>
          <p:cNvSpPr txBox="1"/>
          <p:nvPr/>
        </p:nvSpPr>
        <p:spPr>
          <a:xfrm>
            <a:off x="822960" y="4864608"/>
            <a:ext cx="10552176" cy="43891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Resetting the database across a pool meant foreign-key checks and truncates landed on different connections. One connection with a 30-second lock timeout turned a silent wait into a readable error — that suite went from 1030 seconds to 125.</a:t>
            </a:r>
            <a:endParaRPr lang="en-US" sz="1300" dirty="0"/>
          </a:p>
        </p:txBody>
      </p:sp>
      <p:sp>
        <p:nvSpPr>
          <p:cNvPr id="13"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How the System Was Tested</a:t>
            </a:r>
            <a:endParaRPr lang="en-US" sz="3200" dirty="0"/>
          </a:p>
        </p:txBody>
      </p:sp>
      <p:sp>
        <p:nvSpPr>
          <p:cNvPr id="3" name="disc-1"/>
          <p:cNvSpPr/>
          <p:nvPr/>
        </p:nvSpPr>
        <p:spPr>
          <a:xfrm>
            <a:off x="566928" y="1371600"/>
            <a:ext cx="384048" cy="384048"/>
          </a:xfrm>
          <a:prstGeom prst="ellipse">
            <a:avLst/>
          </a:prstGeom>
          <a:solidFill>
            <a:srgbClr val="1C3557"/>
          </a:solidFill>
          <a:ln/>
        </p:spPr>
      </p:sp>
      <p:sp>
        <p:nvSpPr>
          <p:cNvPr id="4" name="disc-label-1"/>
          <p:cNvSpPr txBox="1"/>
          <p:nvPr/>
        </p:nvSpPr>
        <p:spPr>
          <a:xfrm>
            <a:off x="566928"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row-1"/>
          <p:cNvSpPr txBox="1"/>
          <p:nvPr/>
        </p:nvSpPr>
        <p:spPr>
          <a:xfrm>
            <a:off x="1097280" y="1335024"/>
            <a:ext cx="5943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They drive the real application</a:t>
            </a:r>
            <a:endParaRPr lang="en-US" sz="1600" dirty="0"/>
          </a:p>
          <a:p>
            <a:pPr indent="0" marL="0">
              <a:lnSpc>
                <a:spcPct val="105000"/>
              </a:lnSpc>
              <a:buNone/>
            </a:pPr>
            <a:r>
              <a:rPr lang="en-US" sz="1350" dirty="0">
                <a:solidFill>
                  <a:srgbClr val="475569"/>
                </a:solidFill>
              </a:rPr>
              <a:t>The backend tests import the same Express app the server runs and call it over HTTP; the frontend tests render the real components. Nothing is re-implemented inside a test.</a:t>
            </a:r>
            <a:endParaRPr lang="en-US" sz="1600" dirty="0"/>
          </a:p>
        </p:txBody>
      </p:sp>
      <p:sp>
        <p:nvSpPr>
          <p:cNvPr id="6" name="disc-2"/>
          <p:cNvSpPr/>
          <p:nvPr/>
        </p:nvSpPr>
        <p:spPr>
          <a:xfrm>
            <a:off x="566928" y="2578608"/>
            <a:ext cx="384048" cy="384048"/>
          </a:xfrm>
          <a:prstGeom prst="ellipse">
            <a:avLst/>
          </a:prstGeom>
          <a:solidFill>
            <a:srgbClr val="1C3557"/>
          </a:solidFill>
          <a:ln/>
        </p:spPr>
      </p:sp>
      <p:sp>
        <p:nvSpPr>
          <p:cNvPr id="7" name="disc-label-2"/>
          <p:cNvSpPr txBox="1"/>
          <p:nvPr/>
        </p:nvSpPr>
        <p:spPr>
          <a:xfrm>
            <a:off x="566928"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row-2"/>
          <p:cNvSpPr txBox="1"/>
          <p:nvPr/>
        </p:nvSpPr>
        <p:spPr>
          <a:xfrm>
            <a:off x="1097280" y="2542032"/>
            <a:ext cx="5943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On their own database</a:t>
            </a:r>
            <a:endParaRPr lang="en-US" sz="1600" dirty="0"/>
          </a:p>
          <a:p>
            <a:pPr indent="0" marL="0">
              <a:lnSpc>
                <a:spcPct val="105000"/>
              </a:lnSpc>
              <a:buNone/>
            </a:pPr>
            <a:r>
              <a:rPr lang="en-US" sz="1350" dirty="0">
                <a:solidFill>
                  <a:srgbClr val="475569"/>
                </a:solidFill>
              </a:rPr>
              <a:t>A separate database is created on the first run and reset between tests, so the development data is never touched.</a:t>
            </a:r>
            <a:endParaRPr lang="en-US" sz="1600" dirty="0"/>
          </a:p>
        </p:txBody>
      </p:sp>
      <p:sp>
        <p:nvSpPr>
          <p:cNvPr id="9" name="disc-3"/>
          <p:cNvSpPr/>
          <p:nvPr/>
        </p:nvSpPr>
        <p:spPr>
          <a:xfrm>
            <a:off x="566928" y="3785616"/>
            <a:ext cx="384048" cy="384048"/>
          </a:xfrm>
          <a:prstGeom prst="ellipse">
            <a:avLst/>
          </a:prstGeom>
          <a:solidFill>
            <a:srgbClr val="1C3557"/>
          </a:solidFill>
          <a:ln/>
        </p:spPr>
      </p:sp>
      <p:sp>
        <p:nvSpPr>
          <p:cNvPr id="10" name="disc-label-3"/>
          <p:cNvSpPr txBox="1"/>
          <p:nvPr/>
        </p:nvSpPr>
        <p:spPr>
          <a:xfrm>
            <a:off x="566928" y="37856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row-3"/>
          <p:cNvSpPr txBox="1"/>
          <p:nvPr/>
        </p:nvSpPr>
        <p:spPr>
          <a:xfrm>
            <a:off x="1097280" y="3749040"/>
            <a:ext cx="5943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Written as sentences</a:t>
            </a:r>
            <a:endParaRPr lang="en-US" sz="1600" dirty="0"/>
          </a:p>
          <a:p>
            <a:pPr indent="0" marL="0">
              <a:lnSpc>
                <a:spcPct val="105000"/>
              </a:lnSpc>
              <a:buNone/>
            </a:pPr>
            <a:r>
              <a:rPr lang="en-US" sz="1350" dirty="0">
                <a:solidFill>
                  <a:srgbClr val="475569"/>
                </a:solidFill>
              </a:rPr>
              <a:t>Each test says what should be true — "a second courier cannot ask for a parcel already spoken for" — so a failure names a behaviour, not a line number.</a:t>
            </a:r>
            <a:endParaRPr lang="en-US" sz="1600" dirty="0"/>
          </a:p>
        </p:txBody>
      </p:sp>
      <p:sp>
        <p:nvSpPr>
          <p:cNvPr id="12" name="disc-4"/>
          <p:cNvSpPr/>
          <p:nvPr/>
        </p:nvSpPr>
        <p:spPr>
          <a:xfrm>
            <a:off x="566928" y="4992624"/>
            <a:ext cx="384048" cy="384048"/>
          </a:xfrm>
          <a:prstGeom prst="ellipse">
            <a:avLst/>
          </a:prstGeom>
          <a:solidFill>
            <a:srgbClr val="1C3557"/>
          </a:solidFill>
          <a:ln/>
        </p:spPr>
      </p:sp>
      <p:sp>
        <p:nvSpPr>
          <p:cNvPr id="13" name="disc-label-4"/>
          <p:cNvSpPr txBox="1"/>
          <p:nvPr/>
        </p:nvSpPr>
        <p:spPr>
          <a:xfrm>
            <a:off x="566928" y="4992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row-4"/>
          <p:cNvSpPr txBox="1"/>
          <p:nvPr/>
        </p:nvSpPr>
        <p:spPr>
          <a:xfrm>
            <a:off x="1097280" y="4956048"/>
            <a:ext cx="5943600" cy="868680"/>
          </a:xfrm>
          <a:prstGeom prst="rect">
            <a:avLst/>
          </a:prstGeom>
          <a:noFill/>
          <a:ln/>
        </p:spPr>
        <p:txBody>
          <a:bodyPr wrap="square" lIns="0" tIns="0" rIns="0" bIns="0" rtlCol="0" anchor="t"/>
          <a:lstStyle/>
          <a:p>
            <a:pPr indent="0" marL="0">
              <a:lnSpc>
                <a:spcPct val="105000"/>
              </a:lnSpc>
              <a:buNone/>
            </a:pPr>
            <a:r>
              <a:rPr lang="en-US" sz="1600" b="1" dirty="0">
                <a:solidFill>
                  <a:srgbClr val="0F172A"/>
                </a:solidFill>
              </a:rPr>
              <a:t>Three levels</a:t>
            </a:r>
            <a:endParaRPr lang="en-US" sz="1600" dirty="0"/>
          </a:p>
          <a:p>
            <a:pPr indent="0" marL="0">
              <a:lnSpc>
                <a:spcPct val="105000"/>
              </a:lnSpc>
              <a:buNone/>
            </a:pPr>
            <a:r>
              <a:rPr lang="en-US" sz="1350" dirty="0">
                <a:solidFill>
                  <a:srgbClr val="475569"/>
                </a:solidFill>
              </a:rPr>
              <a:t>Unit tests for pricing and place lookup; integration tests through the API; Cypress for whole journeys in a real browser.</a:t>
            </a:r>
            <a:endParaRPr lang="en-US" sz="1600" dirty="0"/>
          </a:p>
        </p:txBody>
      </p:sp>
      <p:sp>
        <p:nvSpPr>
          <p:cNvPr id="15" name="card-found"/>
          <p:cNvSpPr/>
          <p:nvPr/>
        </p:nvSpPr>
        <p:spPr>
          <a:xfrm>
            <a:off x="7589520" y="1280160"/>
            <a:ext cx="4041648" cy="4754880"/>
          </a:xfrm>
          <a:prstGeom prst="roundRect">
            <a:avLst>
              <a:gd name="adj" fmla="val 1810"/>
            </a:avLst>
          </a:prstGeom>
          <a:solidFill>
            <a:srgbClr val="F1F5F9"/>
          </a:solidFill>
          <a:ln/>
        </p:spPr>
      </p:sp>
      <p:sp>
        <p:nvSpPr>
          <p:cNvPr id="16" name="card-head-found"/>
          <p:cNvSpPr txBox="1"/>
          <p:nvPr/>
        </p:nvSpPr>
        <p:spPr>
          <a:xfrm>
            <a:off x="7845552" y="1463040"/>
            <a:ext cx="3529584" cy="347472"/>
          </a:xfrm>
          <a:prstGeom prst="rect">
            <a:avLst/>
          </a:prstGeom>
          <a:noFill/>
          <a:ln/>
        </p:spPr>
        <p:txBody>
          <a:bodyPr wrap="square" lIns="0" tIns="0" rIns="0" bIns="0" rtlCol="0" anchor="ctr"/>
          <a:lstStyle/>
          <a:p>
            <a:pPr indent="0" marL="0">
              <a:buNone/>
            </a:pPr>
            <a:r>
              <a:rPr lang="en-US" sz="1500" b="1" dirty="0">
                <a:solidFill>
                  <a:srgbClr val="1C3557"/>
                </a:solidFill>
              </a:rPr>
              <a:t>What the tests found</a:t>
            </a:r>
            <a:endParaRPr lang="en-US" sz="1500" dirty="0"/>
          </a:p>
        </p:txBody>
      </p:sp>
      <p:sp>
        <p:nvSpPr>
          <p:cNvPr id="17" name="card-body-found"/>
          <p:cNvSpPr txBox="1"/>
          <p:nvPr/>
        </p:nvSpPr>
        <p:spPr>
          <a:xfrm>
            <a:off x="7845552" y="1847088"/>
            <a:ext cx="3529584" cy="40050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The schema was never created on a fresh clone — the first query failed with "Unknown database".</a:t>
            </a:r>
            <a:endParaRPr lang="en-US" sz="1300" dirty="0"/>
          </a:p>
          <a:p>
            <a:pPr marL="342900" indent="-342900">
              <a:spcAft>
                <a:spcPts val="500"/>
              </a:spcAft>
              <a:buSzPct val="100000"/>
              <a:buChar char="•"/>
            </a:pPr>
            <a:r>
              <a:rPr lang="en-US" sz="1300" dirty="0">
                <a:solidFill>
                  <a:srgbClr val="475569"/>
                </a:solidFill>
              </a:rPr>
              <a:t>A new courier was stored active and quietly promoted to approved, skipping the administrator.</a:t>
            </a:r>
            <a:endParaRPr lang="en-US" sz="1300" dirty="0"/>
          </a:p>
          <a:p>
            <a:pPr marL="342900" indent="-342900">
              <a:spcAft>
                <a:spcPts val="500"/>
              </a:spcAft>
              <a:buSzPct val="100000"/>
              <a:buChar char="•"/>
            </a:pPr>
            <a:r>
              <a:rPr lang="en-US" sz="1300" dirty="0">
                <a:solidFill>
                  <a:srgbClr val="475569"/>
                </a:solidFill>
              </a:rPr>
              <a:t>The basket answered 500 on any current database.</a:t>
            </a:r>
            <a:endParaRPr lang="en-US" sz="1300" dirty="0"/>
          </a:p>
          <a:p>
            <a:pPr marL="342900" indent="-342900">
              <a:spcAft>
                <a:spcPts val="500"/>
              </a:spcAft>
              <a:buSzPct val="100000"/>
              <a:buChar char="•"/>
            </a:pPr>
            <a:r>
              <a:rPr lang="en-US" sz="1300" dirty="0">
                <a:solidFill>
                  <a:srgbClr val="475569"/>
                </a:solidFill>
              </a:rPr>
              <a:t>The product page crashed for every real product.</a:t>
            </a:r>
            <a:endParaRPr lang="en-US" sz="1300" dirty="0"/>
          </a:p>
          <a:p>
            <a:pPr marL="342900" indent="-342900">
              <a:spcAft>
                <a:spcPts val="500"/>
              </a:spcAft>
              <a:buSzPct val="100000"/>
              <a:buChar char="•"/>
            </a:pPr>
            <a:r>
              <a:rPr lang="en-US" sz="1300" dirty="0">
                <a:solidFill>
                  <a:srgbClr val="475569"/>
                </a:solidFill>
              </a:rPr>
              <a:t>Sign-up accepted role "admin" — anybody could make themselves an administrator.</a:t>
            </a:r>
            <a:endParaRPr lang="en-US" sz="1300" dirty="0"/>
          </a:p>
        </p:txBody>
      </p:sp>
      <p:sp>
        <p:nvSpPr>
          <p:cNvPr id="18" name="found-note"/>
          <p:cNvSpPr txBox="1"/>
          <p:nvPr/>
        </p:nvSpPr>
        <p:spPr>
          <a:xfrm>
            <a:off x="566928" y="5897880"/>
            <a:ext cx="5943600" cy="320040"/>
          </a:xfrm>
          <a:prstGeom prst="rect">
            <a:avLst/>
          </a:prstGeom>
          <a:noFill/>
          <a:ln/>
        </p:spPr>
        <p:txBody>
          <a:bodyPr wrap="square" lIns="0" tIns="0" rIns="0" bIns="0" rtlCol="0" anchor="ctr"/>
          <a:lstStyle/>
          <a:p>
            <a:pPr indent="0" marL="0">
              <a:buNone/>
            </a:pPr>
            <a:r>
              <a:rPr lang="en-US" sz="1250" i="1" dirty="0">
                <a:solidFill>
                  <a:srgbClr val="475569"/>
                </a:solidFill>
              </a:rPr>
              <a:t>Every one of these would have met the first person to clone the repository.</a:t>
            </a:r>
            <a:endParaRPr lang="en-US" sz="1250" dirty="0"/>
          </a:p>
        </p:txBody>
      </p:sp>
      <p:sp>
        <p:nvSpPr>
          <p:cNvPr id="20"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Test Results</a:t>
            </a:r>
            <a:endParaRPr lang="en-US" sz="3200" dirty="0"/>
          </a:p>
        </p:txBody>
      </p:sp>
      <p:graphicFrame>
        <p:nvGraphicFramePr>
          <p:cNvPr id="21" name="test-table"/>
          <p:cNvGraphicFramePr>
            <a:graphicFrameLocks noGrp="1"/>
          </p:cNvGraphicFramePr>
          <p:nvPr>
            <p:extLst>
              <p:ext uri="{D42A27DB-BD31-4B8C-83A1-F6EECF244321}">
                <p14:modId xmlns:p14="http://schemas.microsoft.com/office/powerpoint/2010/main" val="1579011935"/>
              </p:ext>
            </p:extLst>
          </p:nvPr>
        </p:nvGraphicFramePr>
        <p:xfrm>
          <a:off x="566928" y="1280160"/>
          <a:ext cx="11064240" cy="914400"/>
        </p:xfrm>
        <a:graphic>
          <a:graphicData uri="http://schemas.openxmlformats.org/drawingml/2006/table">
            <a:tbl>
              <a:tblPr/>
              <a:tblGrid>
                <a:gridCol w="3200400"/>
                <a:gridCol w="5577840"/>
                <a:gridCol w="822960"/>
                <a:gridCol w="1463040"/>
              </a:tblGrid>
              <a:tr h="402336">
                <a:tc>
                  <a:txBody>
                    <a:bodyPr/>
                    <a:lstStyle/>
                    <a:p>
                      <a:pPr indent="0" marL="0">
                        <a:buNone/>
                      </a:pPr>
                      <a:r>
                        <a:rPr lang="en-US" sz="1250" b="1" dirty="0">
                          <a:solidFill>
                            <a:srgbClr val="FFFFFF"/>
                          </a:solidFill>
                        </a:rPr>
                        <a:t>Suite</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indent="0" marL="0">
                        <a:buNone/>
                      </a:pPr>
                      <a:r>
                        <a:rPr lang="en-US" sz="1250" b="1" dirty="0">
                          <a:solidFill>
                            <a:srgbClr val="FFFFFF"/>
                          </a:solidFill>
                        </a:rPr>
                        <a:t>What it drives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algn="ctr" indent="0" marL="0">
                        <a:buNone/>
                      </a:pPr>
                      <a:r>
                        <a:rPr lang="en-US" sz="1250" b="1" dirty="0">
                          <a:solidFill>
                            <a:srgbClr val="FFFFFF"/>
                          </a:solidFill>
                        </a:rPr>
                        <a:t>Tests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algn="ctr" indent="0" marL="0">
                        <a:buNone/>
                      </a:pPr>
                      <a:r>
                        <a:rPr lang="en-US" sz="1250" b="1" dirty="0">
                          <a:solidFill>
                            <a:srgbClr val="FFFFFF"/>
                          </a:solidFill>
                        </a:rPr>
                        <a:t>Result</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r>
              <a:tr h="402336">
                <a:tc>
                  <a:txBody>
                    <a:bodyPr/>
                    <a:lstStyle/>
                    <a:p>
                      <a:pPr indent="0" marL="0">
                        <a:buNone/>
                      </a:pPr>
                      <a:r>
                        <a:rPr lang="en-US" sz="1250" dirty="0">
                          <a:solidFill>
                            <a:srgbClr val="0F172A"/>
                          </a:solidFill>
                        </a:rPr>
                        <a:t>TC-01 · Registration and sign-in</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Hashing, duplicate emails, forged tokens, consent to the terms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19</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TC-02 · Catalogue</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Listing with photos, ownership, filtering, verification</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24</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TC-03 · Orders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Quoting, splitting per shop, stock, cancellation</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41</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TC-04 · Courier handover</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Pool, shifts, racing couriers, denial, escalation, delivery</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39</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TC-05 · Complaints and suspension</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Who may report whom, the three-report flag, what suspension blocks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29</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TC-06 · Admin console</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Figures, approval, editing, soft delete, restore, purge</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28</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TC-07 · Remaining backend suites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Rate limits, deals, messages, delivery pricing, account resolution, comment guard</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79</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TC-08 · Frontend components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Session handling, basket limits, sign-up checks, tracking</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82</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02336">
                <a:tc>
                  <a:txBody>
                    <a:bodyPr/>
                    <a:lstStyle/>
                    <a:p>
                      <a:pPr indent="0" marL="0">
                        <a:buNone/>
                      </a:pPr>
                      <a:r>
                        <a:rPr lang="en-US" sz="1250" dirty="0">
                          <a:solidFill>
                            <a:srgbClr val="0F172A"/>
                          </a:solidFill>
                        </a:rPr>
                        <a:t>TC-09 · Browser journeys (Cypress)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dirty="0">
                          <a:solidFill>
                            <a:srgbClr val="0F172A"/>
                          </a:solidFill>
                        </a:rPr>
                        <a:t>Sign in, sign up, browse, buy, track — in a real browser</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ctr" indent="0" marL="0">
                        <a:buNone/>
                      </a:pPr>
                      <a:r>
                        <a:rPr lang="en-US" sz="1250" dirty="0">
                          <a:solidFill>
                            <a:srgbClr val="0F172A"/>
                          </a:solidFill>
                        </a:rPr>
                        <a:t>8</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50" b="1" dirty="0">
                          <a:solidFill>
                            <a:srgbClr val="047857"/>
                          </a:solidFill>
                        </a:rPr>
                        <a:t>PASS</a:t>
                      </a:r>
                      <a:endParaRPr lang="en-US" sz="1250" dirty="0"/>
                    </a:p>
                  </a:txBody>
                  <a:tcPr marL="127000" marR="1270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bl>
          </a:graphicData>
        </a:graphic>
      </p:graphicFrame>
      <p:sp>
        <p:nvSpPr>
          <p:cNvPr id="4" name="test-total"/>
          <p:cNvSpPr txBox="1"/>
          <p:nvPr/>
        </p:nvSpPr>
        <p:spPr>
          <a:xfrm>
            <a:off x="566928" y="5440680"/>
            <a:ext cx="11064240" cy="640080"/>
          </a:xfrm>
          <a:prstGeom prst="rect">
            <a:avLst/>
          </a:prstGeom>
          <a:noFill/>
          <a:ln/>
        </p:spPr>
        <p:txBody>
          <a:bodyPr wrap="square" lIns="0" tIns="0" rIns="0" bIns="0" rtlCol="0" anchor="ctr"/>
          <a:lstStyle/>
          <a:p>
            <a:pPr indent="0" marL="0">
              <a:buNone/>
            </a:pPr>
            <a:r>
              <a:rPr lang="en-US" sz="4000" b="1" dirty="0">
                <a:solidFill>
                  <a:srgbClr val="1C3557"/>
                </a:solidFill>
              </a:rPr>
              <a:t>349</a:t>
            </a:r>
            <a:pPr indent="0" marL="0">
              <a:buNone/>
            </a:pPr>
            <a:r>
              <a:rPr lang="en-US" sz="1400" dirty="0">
                <a:solidFill>
                  <a:srgbClr val="475569"/>
                </a:solidFill>
              </a:rPr>
              <a:t>  automated checks, all passing — and every one drives the real application, not a copy of its rules.</a:t>
            </a:r>
            <a:endParaRPr lang="en-US" sz="4000" dirty="0"/>
          </a:p>
        </p:txBody>
      </p:sp>
      <p:sp>
        <p:nvSpPr>
          <p:cNvPr id="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Evidence for Each Objective</a:t>
            </a:r>
            <a:endParaRPr lang="en-US" sz="3200" dirty="0"/>
          </a:p>
        </p:txBody>
      </p:sp>
      <p:graphicFrame>
        <p:nvGraphicFramePr>
          <p:cNvPr id="22" name="evidence-table"/>
          <p:cNvGraphicFramePr>
            <a:graphicFrameLocks noGrp="1"/>
          </p:cNvGraphicFramePr>
          <p:nvPr>
            <p:extLst>
              <p:ext uri="{D42A27DB-BD31-4B8C-83A1-F6EECF244321}">
                <p14:modId xmlns:p14="http://schemas.microsoft.com/office/powerpoint/2010/main" val="1579011935"/>
              </p:ext>
            </p:extLst>
          </p:nvPr>
        </p:nvGraphicFramePr>
        <p:xfrm>
          <a:off x="566928" y="1280160"/>
          <a:ext cx="11064240" cy="914400"/>
        </p:xfrm>
        <a:graphic>
          <a:graphicData uri="http://schemas.openxmlformats.org/drawingml/2006/table">
            <a:tbl>
              <a:tblPr/>
              <a:tblGrid>
                <a:gridCol w="2651760"/>
                <a:gridCol w="4389120"/>
                <a:gridCol w="4023360"/>
              </a:tblGrid>
              <a:tr h="457200">
                <a:tc>
                  <a:txBody>
                    <a:bodyPr/>
                    <a:lstStyle/>
                    <a:p>
                      <a:pPr indent="0" marL="0">
                        <a:buNone/>
                      </a:pPr>
                      <a:r>
                        <a:rPr lang="en-US" sz="1200" b="1" dirty="0">
                          <a:solidFill>
                            <a:srgbClr val="FFFFFF"/>
                          </a:solidFill>
                        </a:rPr>
                        <a:t>Objective</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indent="0" marL="0">
                        <a:buNone/>
                      </a:pPr>
                      <a:r>
                        <a:rPr lang="en-US" sz="1200" b="1" dirty="0">
                          <a:solidFill>
                            <a:srgbClr val="FFFFFF"/>
                          </a:solidFill>
                        </a:rPr>
                        <a:t>What was built</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c>
                  <a:txBody>
                    <a:bodyPr/>
                    <a:lstStyle/>
                    <a:p>
                      <a:pPr indent="0" marL="0">
                        <a:buNone/>
                      </a:pPr>
                      <a:r>
                        <a:rPr lang="en-US" sz="1200" b="1" dirty="0">
                          <a:solidFill>
                            <a:srgbClr val="FFFFFF"/>
                          </a:solidFill>
                        </a:rPr>
                        <a:t>How it is proved</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C3557"/>
                    </a:solidFill>
                  </a:tcPr>
                </a:tc>
              </a:tr>
              <a:tr h="457200">
                <a:tc>
                  <a:txBody>
                    <a:bodyPr/>
                    <a:lstStyle/>
                    <a:p>
                      <a:pPr indent="0" marL="0">
                        <a:buNone/>
                      </a:pPr>
                      <a:r>
                        <a:rPr lang="en-US" sz="1200" dirty="0">
                          <a:solidFill>
                            <a:srgbClr val="0F172A"/>
                          </a:solidFill>
                        </a:rPr>
                        <a:t>1 · A secure multi-vendor marketplace</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Several shops in one marketplace; a basket across them; one parcel per shop, each priced from its own town</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TC-02 and TC-03 — 65 tests through the API, plus a purchase clicked through in a browser</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57200">
                <a:tc>
                  <a:txBody>
                    <a:bodyPr/>
                    <a:lstStyle/>
                    <a:p>
                      <a:pPr indent="0" marL="0">
                        <a:buNone/>
                      </a:pPr>
                      <a:r>
                        <a:rPr lang="en-US" sz="1200" dirty="0">
                          <a:solidFill>
                            <a:srgbClr val="0F172A"/>
                          </a:solidFill>
                        </a:rPr>
                        <a:t>2 · Courier delivery and tracking</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A pool of released parcels, a claim that only one rider can win, a shop-confirmed handover, escalation after an hour, and per-parcel tracking</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TC-04 — 39 tests, including two couriers racing for one parcel and a denied handover returning it</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57200">
                <a:tc>
                  <a:txBody>
                    <a:bodyPr/>
                    <a:lstStyle/>
                    <a:p>
                      <a:pPr indent="0" marL="0">
                        <a:buNone/>
                      </a:pPr>
                      <a:r>
                        <a:rPr lang="en-US" sz="1200" dirty="0">
                          <a:solidFill>
                            <a:srgbClr val="0F172A"/>
                          </a:solidFill>
                        </a:rPr>
                        <a:t>3 · Interfaces for customers and store owners</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Four dashboards — shopper, shop, courier, administrator — all working at phone width</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TC-08 and TC-09 — 90 checks, including a whole purchase in a real browser</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57200">
                <a:tc>
                  <a:txBody>
                    <a:bodyPr/>
                    <a:lstStyle/>
                    <a:p>
                      <a:pPr indent="0" marL="0">
                        <a:buNone/>
                      </a:pPr>
                      <a:r>
                        <a:rPr lang="en-US" sz="1200" dirty="0">
                          <a:solidFill>
                            <a:srgbClr val="0F172A"/>
                          </a:solidFill>
                        </a:rPr>
                        <a:t>4 · Authentication and data protection</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bcrypt, signed sessions, rate limits, role and ownership checks, parameterised SQL, consent recorded</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TC-01 and TC-06 — 47 tests, including forged tokens and a deleted account being refused</a:t>
                      </a:r>
                      <a:endParaRPr lang="en-US" sz="1200" dirty="0"/>
                    </a:p>
                  </a:txBody>
                  <a:tcPr marL="127000" marR="127000" marT="76200" marB="762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bl>
          </a:graphicData>
        </a:graphic>
      </p:graphicFrame>
      <p:sp>
        <p:nvSpPr>
          <p:cNvPr id="4" name="evidence-note"/>
          <p:cNvSpPr txBox="1"/>
          <p:nvPr/>
        </p:nvSpPr>
        <p:spPr>
          <a:xfrm>
            <a:off x="566928" y="4526280"/>
            <a:ext cx="11064240" cy="365760"/>
          </a:xfrm>
          <a:prstGeom prst="rect">
            <a:avLst/>
          </a:prstGeom>
          <a:noFill/>
          <a:ln/>
        </p:spPr>
        <p:txBody>
          <a:bodyPr wrap="square" lIns="0" tIns="0" rIns="0" bIns="0" rtlCol="0" anchor="ctr"/>
          <a:lstStyle/>
          <a:p>
            <a:pPr indent="0" marL="0">
              <a:buNone/>
            </a:pPr>
            <a:r>
              <a:rPr lang="en-US" sz="1300" i="1" dirty="0">
                <a:solidFill>
                  <a:srgbClr val="475569"/>
                </a:solidFill>
              </a:rPr>
              <a:t>Nothing in this table rests on a demonstration going well on the day: each row is a suite that can be run in front of you.</a:t>
            </a:r>
            <a:endParaRPr lang="en-US" sz="1300" dirty="0"/>
          </a:p>
        </p:txBody>
      </p:sp>
      <p:sp>
        <p:nvSpPr>
          <p:cNvPr id="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Discussion of Findings</a:t>
            </a:r>
            <a:endParaRPr lang="en-US" sz="3200" dirty="0"/>
          </a:p>
        </p:txBody>
      </p:sp>
      <p:sp>
        <p:nvSpPr>
          <p:cNvPr id="3" name="card-find-0"/>
          <p:cNvSpPr/>
          <p:nvPr/>
        </p:nvSpPr>
        <p:spPr>
          <a:xfrm>
            <a:off x="566928" y="1280160"/>
            <a:ext cx="7406640" cy="1042416"/>
          </a:xfrm>
          <a:prstGeom prst="roundRect">
            <a:avLst>
              <a:gd name="adj" fmla="val 7018"/>
            </a:avLst>
          </a:prstGeom>
          <a:solidFill>
            <a:srgbClr val="F1F5F9"/>
          </a:solidFill>
          <a:ln/>
        </p:spPr>
      </p:sp>
      <p:sp>
        <p:nvSpPr>
          <p:cNvPr id="4" name="card-head-find-0"/>
          <p:cNvSpPr txBox="1"/>
          <p:nvPr/>
        </p:nvSpPr>
        <p:spPr>
          <a:xfrm>
            <a:off x="822960" y="1463040"/>
            <a:ext cx="6894576" cy="347472"/>
          </a:xfrm>
          <a:prstGeom prst="rect">
            <a:avLst/>
          </a:prstGeom>
          <a:noFill/>
          <a:ln/>
        </p:spPr>
        <p:txBody>
          <a:bodyPr wrap="square" lIns="0" tIns="0" rIns="0" bIns="0" rtlCol="0" anchor="ctr"/>
          <a:lstStyle/>
          <a:p>
            <a:pPr indent="0" marL="0">
              <a:buNone/>
            </a:pPr>
            <a:r>
              <a:rPr lang="en-US" sz="1500" b="1" dirty="0">
                <a:solidFill>
                  <a:srgbClr val="047857"/>
                </a:solidFill>
              </a:rPr>
              <a:t>Objective 1 — a secure multi-vendor marketplace</a:t>
            </a:r>
            <a:endParaRPr lang="en-US" sz="1500" dirty="0"/>
          </a:p>
        </p:txBody>
      </p:sp>
      <p:sp>
        <p:nvSpPr>
          <p:cNvPr id="5" name="card-body-find-0"/>
          <p:cNvSpPr txBox="1"/>
          <p:nvPr/>
        </p:nvSpPr>
        <p:spPr>
          <a:xfrm>
            <a:off x="822960" y="1847088"/>
            <a:ext cx="6894576" cy="292608"/>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Met. Several shops sell in one marketplace, a basket can span them, and the order splits into a parcel each.</a:t>
            </a:r>
            <a:endParaRPr lang="en-US" sz="1300" dirty="0"/>
          </a:p>
        </p:txBody>
      </p:sp>
      <p:sp>
        <p:nvSpPr>
          <p:cNvPr id="6" name="card-find-1"/>
          <p:cNvSpPr/>
          <p:nvPr/>
        </p:nvSpPr>
        <p:spPr>
          <a:xfrm>
            <a:off x="566928" y="2468880"/>
            <a:ext cx="7406640" cy="1042416"/>
          </a:xfrm>
          <a:prstGeom prst="roundRect">
            <a:avLst>
              <a:gd name="adj" fmla="val 7018"/>
            </a:avLst>
          </a:prstGeom>
          <a:solidFill>
            <a:srgbClr val="F1F5F9"/>
          </a:solidFill>
          <a:ln/>
        </p:spPr>
      </p:sp>
      <p:sp>
        <p:nvSpPr>
          <p:cNvPr id="7" name="card-head-find-1"/>
          <p:cNvSpPr txBox="1"/>
          <p:nvPr/>
        </p:nvSpPr>
        <p:spPr>
          <a:xfrm>
            <a:off x="822960" y="2651760"/>
            <a:ext cx="6894576" cy="347472"/>
          </a:xfrm>
          <a:prstGeom prst="rect">
            <a:avLst/>
          </a:prstGeom>
          <a:noFill/>
          <a:ln/>
        </p:spPr>
        <p:txBody>
          <a:bodyPr wrap="square" lIns="0" tIns="0" rIns="0" bIns="0" rtlCol="0" anchor="ctr"/>
          <a:lstStyle/>
          <a:p>
            <a:pPr indent="0" marL="0">
              <a:buNone/>
            </a:pPr>
            <a:r>
              <a:rPr lang="en-US" sz="1500" b="1" dirty="0">
                <a:solidFill>
                  <a:srgbClr val="B45309"/>
                </a:solidFill>
              </a:rPr>
              <a:t>Objective 2 — courier scheduling and tracking</a:t>
            </a:r>
            <a:endParaRPr lang="en-US" sz="1500" dirty="0"/>
          </a:p>
        </p:txBody>
      </p:sp>
      <p:sp>
        <p:nvSpPr>
          <p:cNvPr id="8" name="card-body-find-1"/>
          <p:cNvSpPr txBox="1"/>
          <p:nvPr/>
        </p:nvSpPr>
        <p:spPr>
          <a:xfrm>
            <a:off x="822960" y="3035808"/>
            <a:ext cx="6894576" cy="292608"/>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Tracking met in full. "Scheduling" was built as dispatch — pool, claim, handover, escalation — not customer-chosen time slots.</a:t>
            </a:r>
            <a:endParaRPr lang="en-US" sz="1300" dirty="0"/>
          </a:p>
        </p:txBody>
      </p:sp>
      <p:sp>
        <p:nvSpPr>
          <p:cNvPr id="9" name="card-find-2"/>
          <p:cNvSpPr/>
          <p:nvPr/>
        </p:nvSpPr>
        <p:spPr>
          <a:xfrm>
            <a:off x="566928" y="3657600"/>
            <a:ext cx="7406640" cy="1042416"/>
          </a:xfrm>
          <a:prstGeom prst="roundRect">
            <a:avLst>
              <a:gd name="adj" fmla="val 7018"/>
            </a:avLst>
          </a:prstGeom>
          <a:solidFill>
            <a:srgbClr val="F1F5F9"/>
          </a:solidFill>
          <a:ln/>
        </p:spPr>
      </p:sp>
      <p:sp>
        <p:nvSpPr>
          <p:cNvPr id="10" name="card-head-find-2"/>
          <p:cNvSpPr txBox="1"/>
          <p:nvPr/>
        </p:nvSpPr>
        <p:spPr>
          <a:xfrm>
            <a:off x="822960" y="3840480"/>
            <a:ext cx="6894576" cy="347472"/>
          </a:xfrm>
          <a:prstGeom prst="rect">
            <a:avLst/>
          </a:prstGeom>
          <a:noFill/>
          <a:ln/>
        </p:spPr>
        <p:txBody>
          <a:bodyPr wrap="square" lIns="0" tIns="0" rIns="0" bIns="0" rtlCol="0" anchor="ctr"/>
          <a:lstStyle/>
          <a:p>
            <a:pPr indent="0" marL="0">
              <a:buNone/>
            </a:pPr>
            <a:r>
              <a:rPr lang="en-US" sz="1500" b="1" dirty="0">
                <a:solidFill>
                  <a:srgbClr val="047857"/>
                </a:solidFill>
              </a:rPr>
              <a:t>Objective 3 — interfaces for customers and store owners</a:t>
            </a:r>
            <a:endParaRPr lang="en-US" sz="1500" dirty="0"/>
          </a:p>
        </p:txBody>
      </p:sp>
      <p:sp>
        <p:nvSpPr>
          <p:cNvPr id="11" name="card-body-find-2"/>
          <p:cNvSpPr txBox="1"/>
          <p:nvPr/>
        </p:nvSpPr>
        <p:spPr>
          <a:xfrm>
            <a:off x="822960" y="4224528"/>
            <a:ext cx="6894576" cy="292608"/>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Exceeded. Four dashboards rather than two, and they work on a phone.</a:t>
            </a:r>
            <a:endParaRPr lang="en-US" sz="1300" dirty="0"/>
          </a:p>
        </p:txBody>
      </p:sp>
      <p:sp>
        <p:nvSpPr>
          <p:cNvPr id="12" name="card-find-3"/>
          <p:cNvSpPr/>
          <p:nvPr/>
        </p:nvSpPr>
        <p:spPr>
          <a:xfrm>
            <a:off x="566928" y="4846320"/>
            <a:ext cx="7406640" cy="1042416"/>
          </a:xfrm>
          <a:prstGeom prst="roundRect">
            <a:avLst>
              <a:gd name="adj" fmla="val 7018"/>
            </a:avLst>
          </a:prstGeom>
          <a:solidFill>
            <a:srgbClr val="F1F5F9"/>
          </a:solidFill>
          <a:ln/>
        </p:spPr>
      </p:sp>
      <p:sp>
        <p:nvSpPr>
          <p:cNvPr id="13" name="card-head-find-3"/>
          <p:cNvSpPr txBox="1"/>
          <p:nvPr/>
        </p:nvSpPr>
        <p:spPr>
          <a:xfrm>
            <a:off x="822960" y="5029200"/>
            <a:ext cx="6894576" cy="347472"/>
          </a:xfrm>
          <a:prstGeom prst="rect">
            <a:avLst/>
          </a:prstGeom>
          <a:noFill/>
          <a:ln/>
        </p:spPr>
        <p:txBody>
          <a:bodyPr wrap="square" lIns="0" tIns="0" rIns="0" bIns="0" rtlCol="0" anchor="ctr"/>
          <a:lstStyle/>
          <a:p>
            <a:pPr indent="0" marL="0">
              <a:buNone/>
            </a:pPr>
            <a:r>
              <a:rPr lang="en-US" sz="1500" b="1" dirty="0">
                <a:solidFill>
                  <a:srgbClr val="047857"/>
                </a:solidFill>
              </a:rPr>
              <a:t>Objective 4 — authentication and data protection</a:t>
            </a:r>
            <a:endParaRPr lang="en-US" sz="1500" dirty="0"/>
          </a:p>
        </p:txBody>
      </p:sp>
      <p:sp>
        <p:nvSpPr>
          <p:cNvPr id="14" name="card-body-find-3"/>
          <p:cNvSpPr txBox="1"/>
          <p:nvPr/>
        </p:nvSpPr>
        <p:spPr>
          <a:xfrm>
            <a:off x="822960" y="5413248"/>
            <a:ext cx="6894576" cy="292608"/>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Met in the application: bcrypt, JWT, rate limiting, role and ownership checks, parameterised SQL. TLS belongs to deployment.</a:t>
            </a:r>
            <a:endParaRPr lang="en-US" sz="1300" dirty="0"/>
          </a:p>
        </p:txBody>
      </p:sp>
      <p:sp>
        <p:nvSpPr>
          <p:cNvPr id="15" name="card-headline"/>
          <p:cNvSpPr/>
          <p:nvPr/>
        </p:nvSpPr>
        <p:spPr>
          <a:xfrm>
            <a:off x="8229600" y="1280160"/>
            <a:ext cx="3401568" cy="4700016"/>
          </a:xfrm>
          <a:prstGeom prst="roundRect">
            <a:avLst>
              <a:gd name="adj" fmla="val 2151"/>
            </a:avLst>
          </a:prstGeom>
          <a:solidFill>
            <a:srgbClr val="F1F5F9"/>
          </a:solidFill>
          <a:ln/>
        </p:spPr>
      </p:sp>
      <p:sp>
        <p:nvSpPr>
          <p:cNvPr id="16" name="card-head-headline"/>
          <p:cNvSpPr txBox="1"/>
          <p:nvPr/>
        </p:nvSpPr>
        <p:spPr>
          <a:xfrm>
            <a:off x="8485632" y="1463040"/>
            <a:ext cx="2889504" cy="347472"/>
          </a:xfrm>
          <a:prstGeom prst="rect">
            <a:avLst/>
          </a:prstGeom>
          <a:noFill/>
          <a:ln/>
        </p:spPr>
        <p:txBody>
          <a:bodyPr wrap="square" lIns="0" tIns="0" rIns="0" bIns="0" rtlCol="0" anchor="ctr"/>
          <a:lstStyle/>
          <a:p>
            <a:pPr indent="0" marL="0">
              <a:buNone/>
            </a:pPr>
            <a:r>
              <a:rPr lang="en-US" sz="1500" b="1" dirty="0">
                <a:solidFill>
                  <a:srgbClr val="1C3557"/>
                </a:solidFill>
              </a:rPr>
              <a:t>The finding that matters</a:t>
            </a:r>
            <a:endParaRPr lang="en-US" sz="1500" dirty="0"/>
          </a:p>
        </p:txBody>
      </p:sp>
      <p:sp>
        <p:nvSpPr>
          <p:cNvPr id="17" name="card-body-headline"/>
          <p:cNvSpPr txBox="1"/>
          <p:nvPr/>
        </p:nvSpPr>
        <p:spPr>
          <a:xfrm>
            <a:off x="8485632" y="1847088"/>
            <a:ext cx="2889504" cy="395020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The platform answers the proposal's own problem statement: a shopper can tell a checked shop from an unchecked one, and the delivery is organised by the system rather than by phone calls.</a:t>
            </a:r>
            <a:endParaRPr lang="en-US" sz="1300" dirty="0"/>
          </a:p>
          <a:p>
            <a:pPr marL="342900" indent="-342900">
              <a:spcAft>
                <a:spcPts val="500"/>
              </a:spcAft>
              <a:buSzPct val="100000"/>
              <a:buChar char="•"/>
            </a:pPr>
            <a:r>
              <a:rPr lang="en-US" sz="1300" dirty="0">
                <a:solidFill>
                  <a:srgbClr val="475569"/>
                </a:solidFill>
              </a:rPr>
              <a:t>Where the build departs from the proposal — one backend language instead of two, simulated payment — the reason is stated rather than hidden.</a:t>
            </a:r>
            <a:endParaRPr lang="en-US" sz="1300" dirty="0"/>
          </a:p>
        </p:txBody>
      </p:sp>
      <p:sp>
        <p:nvSpPr>
          <p:cNvPr id="19"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Limitations</a:t>
            </a:r>
            <a:endParaRPr lang="en-US" sz="3200" dirty="0"/>
          </a:p>
        </p:txBody>
      </p:sp>
      <p:sp>
        <p:nvSpPr>
          <p:cNvPr id="3" name="card-lim-0"/>
          <p:cNvSpPr/>
          <p:nvPr/>
        </p:nvSpPr>
        <p:spPr>
          <a:xfrm>
            <a:off x="566928" y="1371600"/>
            <a:ext cx="5303520" cy="1508760"/>
          </a:xfrm>
          <a:prstGeom prst="roundRect">
            <a:avLst>
              <a:gd name="adj" fmla="val 4848"/>
            </a:avLst>
          </a:prstGeom>
          <a:solidFill>
            <a:srgbClr val="F1F5F9"/>
          </a:solidFill>
          <a:ln/>
        </p:spPr>
      </p:sp>
      <p:sp>
        <p:nvSpPr>
          <p:cNvPr id="4" name="card-head-lim-0"/>
          <p:cNvSpPr txBox="1"/>
          <p:nvPr/>
        </p:nvSpPr>
        <p:spPr>
          <a:xfrm>
            <a:off x="822960" y="1554480"/>
            <a:ext cx="4791456" cy="347472"/>
          </a:xfrm>
          <a:prstGeom prst="rect">
            <a:avLst/>
          </a:prstGeom>
          <a:noFill/>
          <a:ln/>
        </p:spPr>
        <p:txBody>
          <a:bodyPr wrap="square" lIns="0" tIns="0" rIns="0" bIns="0" rtlCol="0" anchor="ctr"/>
          <a:lstStyle/>
          <a:p>
            <a:pPr indent="0" marL="0">
              <a:buNone/>
            </a:pPr>
            <a:r>
              <a:rPr lang="en-US" sz="1500" b="1" dirty="0">
                <a:solidFill>
                  <a:srgbClr val="BE123C"/>
                </a:solidFill>
              </a:rPr>
              <a:t>Payment is simulated</a:t>
            </a:r>
            <a:endParaRPr lang="en-US" sz="1500" dirty="0"/>
          </a:p>
        </p:txBody>
      </p:sp>
      <p:sp>
        <p:nvSpPr>
          <p:cNvPr id="5" name="card-body-lim-0"/>
          <p:cNvSpPr txBox="1"/>
          <p:nvPr/>
        </p:nvSpPr>
        <p:spPr>
          <a:xfrm>
            <a:off x="822960" y="1938528"/>
            <a:ext cx="4791456" cy="75895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The method is recorded and a payment row written, but no money moves. A gateway needs a registered business.</a:t>
            </a:r>
            <a:endParaRPr lang="en-US" sz="1300" dirty="0"/>
          </a:p>
        </p:txBody>
      </p:sp>
      <p:sp>
        <p:nvSpPr>
          <p:cNvPr id="6" name="card-lim-1"/>
          <p:cNvSpPr/>
          <p:nvPr/>
        </p:nvSpPr>
        <p:spPr>
          <a:xfrm>
            <a:off x="6327648" y="1371600"/>
            <a:ext cx="5303520" cy="1508760"/>
          </a:xfrm>
          <a:prstGeom prst="roundRect">
            <a:avLst>
              <a:gd name="adj" fmla="val 4848"/>
            </a:avLst>
          </a:prstGeom>
          <a:solidFill>
            <a:srgbClr val="F1F5F9"/>
          </a:solidFill>
          <a:ln/>
        </p:spPr>
      </p:sp>
      <p:sp>
        <p:nvSpPr>
          <p:cNvPr id="7" name="card-head-lim-1"/>
          <p:cNvSpPr txBox="1"/>
          <p:nvPr/>
        </p:nvSpPr>
        <p:spPr>
          <a:xfrm>
            <a:off x="6583680" y="1554480"/>
            <a:ext cx="4791456" cy="347472"/>
          </a:xfrm>
          <a:prstGeom prst="rect">
            <a:avLst/>
          </a:prstGeom>
          <a:noFill/>
          <a:ln/>
        </p:spPr>
        <p:txBody>
          <a:bodyPr wrap="square" lIns="0" tIns="0" rIns="0" bIns="0" rtlCol="0" anchor="ctr"/>
          <a:lstStyle/>
          <a:p>
            <a:pPr indent="0" marL="0">
              <a:buNone/>
            </a:pPr>
            <a:r>
              <a:rPr lang="en-US" sz="1500" b="1" dirty="0">
                <a:solidFill>
                  <a:srgbClr val="BE123C"/>
                </a:solidFill>
              </a:rPr>
              <a:t>Distances come from a town lookup</a:t>
            </a:r>
            <a:endParaRPr lang="en-US" sz="1500" dirty="0"/>
          </a:p>
        </p:txBody>
      </p:sp>
      <p:sp>
        <p:nvSpPr>
          <p:cNvPr id="8" name="card-body-lim-1"/>
          <p:cNvSpPr txBox="1"/>
          <p:nvPr/>
        </p:nvSpPr>
        <p:spPr>
          <a:xfrm>
            <a:off x="6583680" y="1938528"/>
            <a:ext cx="4791456" cy="75895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Addresses are matched against Zambian towns, not a geocoder, and an unrecognised address is flagged as an estimate.</a:t>
            </a:r>
            <a:endParaRPr lang="en-US" sz="1300" dirty="0"/>
          </a:p>
        </p:txBody>
      </p:sp>
      <p:sp>
        <p:nvSpPr>
          <p:cNvPr id="9" name="card-lim-2"/>
          <p:cNvSpPr/>
          <p:nvPr/>
        </p:nvSpPr>
        <p:spPr>
          <a:xfrm>
            <a:off x="566928" y="3154680"/>
            <a:ext cx="5303520" cy="1508760"/>
          </a:xfrm>
          <a:prstGeom prst="roundRect">
            <a:avLst>
              <a:gd name="adj" fmla="val 4848"/>
            </a:avLst>
          </a:prstGeom>
          <a:solidFill>
            <a:srgbClr val="F1F5F9"/>
          </a:solidFill>
          <a:ln/>
        </p:spPr>
      </p:sp>
      <p:sp>
        <p:nvSpPr>
          <p:cNvPr id="10" name="card-head-lim-2"/>
          <p:cNvSpPr txBox="1"/>
          <p:nvPr/>
        </p:nvSpPr>
        <p:spPr>
          <a:xfrm>
            <a:off x="822960" y="3337560"/>
            <a:ext cx="4791456" cy="347472"/>
          </a:xfrm>
          <a:prstGeom prst="rect">
            <a:avLst/>
          </a:prstGeom>
          <a:noFill/>
          <a:ln/>
        </p:spPr>
        <p:txBody>
          <a:bodyPr wrap="square" lIns="0" tIns="0" rIns="0" bIns="0" rtlCol="0" anchor="ctr"/>
          <a:lstStyle/>
          <a:p>
            <a:pPr indent="0" marL="0">
              <a:buNone/>
            </a:pPr>
            <a:r>
              <a:rPr lang="en-US" sz="1500" b="1" dirty="0">
                <a:solidFill>
                  <a:srgbClr val="BE123C"/>
                </a:solidFill>
              </a:rPr>
              <a:t>Dashboards are not browser-tested</a:t>
            </a:r>
            <a:endParaRPr lang="en-US" sz="1500" dirty="0"/>
          </a:p>
        </p:txBody>
      </p:sp>
      <p:sp>
        <p:nvSpPr>
          <p:cNvPr id="11" name="card-body-lim-2"/>
          <p:cNvSpPr txBox="1"/>
          <p:nvPr/>
        </p:nvSpPr>
        <p:spPr>
          <a:xfrm>
            <a:off x="822960" y="3721608"/>
            <a:ext cx="4791456" cy="75895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The API beneath them is covered thoroughly; the seller, courier and admin screens are verified by use.</a:t>
            </a:r>
            <a:endParaRPr lang="en-US" sz="1300" dirty="0"/>
          </a:p>
        </p:txBody>
      </p:sp>
      <p:sp>
        <p:nvSpPr>
          <p:cNvPr id="12" name="card-lim-3"/>
          <p:cNvSpPr/>
          <p:nvPr/>
        </p:nvSpPr>
        <p:spPr>
          <a:xfrm>
            <a:off x="6327648" y="3154680"/>
            <a:ext cx="5303520" cy="1508760"/>
          </a:xfrm>
          <a:prstGeom prst="roundRect">
            <a:avLst>
              <a:gd name="adj" fmla="val 4848"/>
            </a:avLst>
          </a:prstGeom>
          <a:solidFill>
            <a:srgbClr val="F1F5F9"/>
          </a:solidFill>
          <a:ln/>
        </p:spPr>
      </p:sp>
      <p:sp>
        <p:nvSpPr>
          <p:cNvPr id="13" name="card-head-lim-3"/>
          <p:cNvSpPr txBox="1"/>
          <p:nvPr/>
        </p:nvSpPr>
        <p:spPr>
          <a:xfrm>
            <a:off x="6583680" y="3337560"/>
            <a:ext cx="4791456" cy="347472"/>
          </a:xfrm>
          <a:prstGeom prst="rect">
            <a:avLst/>
          </a:prstGeom>
          <a:noFill/>
          <a:ln/>
        </p:spPr>
        <p:txBody>
          <a:bodyPr wrap="square" lIns="0" tIns="0" rIns="0" bIns="0" rtlCol="0" anchor="ctr"/>
          <a:lstStyle/>
          <a:p>
            <a:pPr indent="0" marL="0">
              <a:buNone/>
            </a:pPr>
            <a:r>
              <a:rPr lang="en-US" sz="1500" b="1" dirty="0">
                <a:solidFill>
                  <a:srgbClr val="BE123C"/>
                </a:solidFill>
              </a:rPr>
              <a:t>Deployment is not yet proven</a:t>
            </a:r>
            <a:endParaRPr lang="en-US" sz="1500" dirty="0"/>
          </a:p>
        </p:txBody>
      </p:sp>
      <p:sp>
        <p:nvSpPr>
          <p:cNvPr id="14" name="card-body-lim-3"/>
          <p:cNvSpPr txBox="1"/>
          <p:nvPr/>
        </p:nvSpPr>
        <p:spPr>
          <a:xfrm>
            <a:off x="6583680" y="3721608"/>
            <a:ext cx="4791456" cy="758952"/>
          </a:xfrm>
          <a:prstGeom prst="rect">
            <a:avLst/>
          </a:prstGeom>
          <a:noFill/>
          <a:ln/>
        </p:spPr>
        <p:txBody>
          <a:bodyPr wrap="square" lIns="0" tIns="0" rIns="0" bIns="0" rtlCol="0" anchor="t"/>
          <a:lstStyle/>
          <a:p>
            <a:pPr indent="0" marL="0">
              <a:spcAft>
                <a:spcPts val="500"/>
              </a:spcAft>
              <a:buNone/>
            </a:pPr>
            <a:r>
              <a:rPr lang="en-US" sz="1300" dirty="0">
                <a:solidFill>
                  <a:srgbClr val="475569"/>
                </a:solidFill>
              </a:rPr>
              <a:t>The Docker stack was corrected against the code but never run, and the local setup is plain HTTP.</a:t>
            </a:r>
            <a:endParaRPr lang="en-US" sz="1300" dirty="0"/>
          </a:p>
        </p:txBody>
      </p:sp>
      <p:sp>
        <p:nvSpPr>
          <p:cNvPr id="15" name="limit-note"/>
          <p:cNvSpPr txBox="1"/>
          <p:nvPr/>
        </p:nvSpPr>
        <p:spPr>
          <a:xfrm>
            <a:off x="566928" y="5120640"/>
            <a:ext cx="11064240" cy="365760"/>
          </a:xfrm>
          <a:prstGeom prst="rect">
            <a:avLst/>
          </a:prstGeom>
          <a:noFill/>
          <a:ln/>
        </p:spPr>
        <p:txBody>
          <a:bodyPr wrap="square" lIns="0" tIns="0" rIns="0" bIns="0" rtlCol="0" anchor="ctr"/>
          <a:lstStyle/>
          <a:p>
            <a:pPr indent="0" marL="0">
              <a:buNone/>
            </a:pPr>
            <a:r>
              <a:rPr lang="en-US" sz="1350" i="1" dirty="0">
                <a:solidFill>
                  <a:srgbClr val="475569"/>
                </a:solidFill>
              </a:rPr>
              <a:t>None of these affect the parts the objectives are judged on: ordering, splitting, delivery and trust all run on real data.</a:t>
            </a:r>
            <a:endParaRPr lang="en-US" sz="1350" dirty="0"/>
          </a:p>
        </p:txBody>
      </p:sp>
      <p:sp>
        <p:nvSpPr>
          <p:cNvPr id="17"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64240" cy="685800"/>
          </a:xfrm>
          <a:prstGeom prst="rect">
            <a:avLst/>
          </a:prstGeom>
          <a:noFill/>
          <a:ln/>
        </p:spPr>
        <p:txBody>
          <a:bodyPr wrap="square" lIns="0" tIns="0" rIns="0" bIns="0" rtlCol="0" anchor="ctr"/>
          <a:lstStyle/>
          <a:p>
            <a:pPr algn="l" indent="0" marL="0">
              <a:buNone/>
            </a:pPr>
            <a:r>
              <a:rPr lang="en-US" sz="3200" b="1" dirty="0">
                <a:solidFill>
                  <a:srgbClr val="1C3557"/>
                </a:solidFill>
              </a:rPr>
              <a:t>Conclusion</a:t>
            </a:r>
            <a:endParaRPr lang="en-US" sz="3200" dirty="0"/>
          </a:p>
        </p:txBody>
      </p:sp>
      <p:sp>
        <p:nvSpPr>
          <p:cNvPr id="3" name="conc-text"/>
          <p:cNvSpPr txBox="1"/>
          <p:nvPr/>
        </p:nvSpPr>
        <p:spPr>
          <a:xfrm>
            <a:off x="566928" y="1280160"/>
            <a:ext cx="6858000" cy="3108960"/>
          </a:xfrm>
          <a:prstGeom prst="rect">
            <a:avLst/>
          </a:prstGeom>
          <a:noFill/>
          <a:ln/>
        </p:spPr>
        <p:txBody>
          <a:bodyPr wrap="square" lIns="0" tIns="0" rIns="0" bIns="0" rtlCol="0" anchor="ctr"/>
          <a:lstStyle/>
          <a:p>
            <a:pPr indent="0" marL="0">
              <a:lnSpc>
                <a:spcPct val="118000"/>
              </a:lnSpc>
              <a:spcAft>
                <a:spcPts val="1200"/>
              </a:spcAft>
              <a:buNone/>
            </a:pPr>
            <a:r>
              <a:rPr lang="en-US" sz="1900" b="1" dirty="0">
                <a:solidFill>
                  <a:srgbClr val="1C3557"/>
                </a:solidFill>
              </a:rPr>
              <a:t>A working multi-vendor marketplace with the courier service built into it</a:t>
            </a:r>
            <a:endParaRPr lang="en-US" sz="1900" dirty="0"/>
          </a:p>
          <a:p>
            <a:pPr indent="0" marL="0">
              <a:lnSpc>
                <a:spcPct val="118000"/>
              </a:lnSpc>
              <a:spcAft>
                <a:spcPts val="1200"/>
              </a:spcAft>
              <a:buNone/>
            </a:pPr>
            <a:r>
              <a:rPr lang="en-US" sz="1500" dirty="0">
                <a:solidFill>
                  <a:srgbClr val="0F172A"/>
                </a:solidFill>
              </a:rPr>
              <a:t>All four objectives are met, with one qualification stated openly: delivery is dispatched rather than booked into time slots. The platform runs end to end — a shopper orders from two shops, each packs its own parcel, a courier collects it from the counter, and both parcels are tracked to the door.</a:t>
            </a:r>
            <a:endParaRPr lang="en-US" sz="1900" dirty="0"/>
          </a:p>
          <a:p>
            <a:pPr indent="0" marL="0">
              <a:lnSpc>
                <a:spcPct val="118000"/>
              </a:lnSpc>
              <a:buNone/>
            </a:pPr>
            <a:r>
              <a:rPr lang="en-US" sz="1500" dirty="0">
                <a:solidFill>
                  <a:srgbClr val="0F172A"/>
                </a:solidFill>
              </a:rPr>
              <a:t>It is verified the way working software should be: 349 automated checks against the real application, run on every push, plus a fresh clone that seeds and runs with no SQL typed by hand.</a:t>
            </a:r>
            <a:endParaRPr lang="en-US" sz="1900" dirty="0"/>
          </a:p>
        </p:txBody>
      </p:sp>
      <p:sp>
        <p:nvSpPr>
          <p:cNvPr id="4" name="card-next"/>
          <p:cNvSpPr/>
          <p:nvPr/>
        </p:nvSpPr>
        <p:spPr>
          <a:xfrm>
            <a:off x="7699248" y="1280160"/>
            <a:ext cx="3931920" cy="3108960"/>
          </a:xfrm>
          <a:prstGeom prst="roundRect">
            <a:avLst>
              <a:gd name="adj" fmla="val 2353"/>
            </a:avLst>
          </a:prstGeom>
          <a:solidFill>
            <a:srgbClr val="F1F5F9"/>
          </a:solidFill>
          <a:ln/>
        </p:spPr>
      </p:sp>
      <p:sp>
        <p:nvSpPr>
          <p:cNvPr id="5" name="card-head-next"/>
          <p:cNvSpPr txBox="1"/>
          <p:nvPr/>
        </p:nvSpPr>
        <p:spPr>
          <a:xfrm>
            <a:off x="7955280" y="1463040"/>
            <a:ext cx="3419856" cy="347472"/>
          </a:xfrm>
          <a:prstGeom prst="rect">
            <a:avLst/>
          </a:prstGeom>
          <a:noFill/>
          <a:ln/>
        </p:spPr>
        <p:txBody>
          <a:bodyPr wrap="square" lIns="0" tIns="0" rIns="0" bIns="0" rtlCol="0" anchor="ctr"/>
          <a:lstStyle/>
          <a:p>
            <a:pPr indent="0" marL="0">
              <a:buNone/>
            </a:pPr>
            <a:r>
              <a:rPr lang="en-US" sz="1500" b="1" dirty="0">
                <a:solidFill>
                  <a:srgbClr val="1C3557"/>
                </a:solidFill>
              </a:rPr>
              <a:t>What comes next</a:t>
            </a:r>
            <a:endParaRPr lang="en-US" sz="1500" dirty="0"/>
          </a:p>
        </p:txBody>
      </p:sp>
      <p:sp>
        <p:nvSpPr>
          <p:cNvPr id="6" name="card-body-next"/>
          <p:cNvSpPr txBox="1"/>
          <p:nvPr/>
        </p:nvSpPr>
        <p:spPr>
          <a:xfrm>
            <a:off x="7955280" y="1847088"/>
            <a:ext cx="3419856" cy="235915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75569"/>
                </a:solidFill>
              </a:rPr>
              <a:t>A payment gateway, once a registered business can hold the agreement</a:t>
            </a:r>
            <a:endParaRPr lang="en-US" sz="1300" dirty="0"/>
          </a:p>
          <a:p>
            <a:pPr marL="342900" indent="-342900">
              <a:spcAft>
                <a:spcPts val="500"/>
              </a:spcAft>
              <a:buSzPct val="100000"/>
              <a:buChar char="•"/>
            </a:pPr>
            <a:r>
              <a:rPr lang="en-US" sz="1300" dirty="0">
                <a:solidFill>
                  <a:srgbClr val="475569"/>
                </a:solidFill>
              </a:rPr>
              <a:t>Real geocoding and courier routing in place of the town lookup</a:t>
            </a:r>
            <a:endParaRPr lang="en-US" sz="1300" dirty="0"/>
          </a:p>
          <a:p>
            <a:pPr marL="342900" indent="-342900">
              <a:spcAft>
                <a:spcPts val="500"/>
              </a:spcAft>
              <a:buSzPct val="100000"/>
              <a:buChar char="•"/>
            </a:pPr>
            <a:r>
              <a:rPr lang="en-US" sz="1300" dirty="0">
                <a:solidFill>
                  <a:srgbClr val="475569"/>
                </a:solidFill>
              </a:rPr>
              <a:t>Browser tests across the seller, courier and admin dashboards</a:t>
            </a:r>
            <a:endParaRPr lang="en-US" sz="1300" dirty="0"/>
          </a:p>
          <a:p>
            <a:pPr marL="342900" indent="-342900">
              <a:spcAft>
                <a:spcPts val="500"/>
              </a:spcAft>
              <a:buSzPct val="100000"/>
              <a:buChar char="•"/>
            </a:pPr>
            <a:r>
              <a:rPr lang="en-US" sz="1300" dirty="0">
                <a:solidFill>
                  <a:srgbClr val="475569"/>
                </a:solidFill>
              </a:rPr>
              <a:t>A proven deployment, over HTTPS</a:t>
            </a:r>
            <a:endParaRPr lang="en-US" sz="1300" dirty="0"/>
          </a:p>
        </p:txBody>
      </p:sp>
      <p:sp>
        <p:nvSpPr>
          <p:cNvPr id="7" name="stat-0"/>
          <p:cNvSpPr txBox="1"/>
          <p:nvPr/>
        </p:nvSpPr>
        <p:spPr>
          <a:xfrm>
            <a:off x="566928" y="4709160"/>
            <a:ext cx="2651760" cy="658368"/>
          </a:xfrm>
          <a:prstGeom prst="rect">
            <a:avLst/>
          </a:prstGeom>
          <a:noFill/>
          <a:ln/>
        </p:spPr>
        <p:txBody>
          <a:bodyPr wrap="square" lIns="0" tIns="0" rIns="0" bIns="0" rtlCol="0" anchor="ctr"/>
          <a:lstStyle/>
          <a:p>
            <a:pPr indent="0" marL="0">
              <a:buNone/>
            </a:pPr>
            <a:r>
              <a:rPr lang="en-US" sz="3600" b="1" dirty="0">
                <a:solidFill>
                  <a:srgbClr val="1C3557"/>
                </a:solidFill>
              </a:rPr>
              <a:t>349</a:t>
            </a:r>
            <a:endParaRPr lang="en-US" sz="3600" dirty="0"/>
          </a:p>
        </p:txBody>
      </p:sp>
      <p:sp>
        <p:nvSpPr>
          <p:cNvPr id="8" name="stat-label-0"/>
          <p:cNvSpPr txBox="1"/>
          <p:nvPr/>
        </p:nvSpPr>
        <p:spPr>
          <a:xfrm>
            <a:off x="566928" y="5376672"/>
            <a:ext cx="2651760" cy="365760"/>
          </a:xfrm>
          <a:prstGeom prst="rect">
            <a:avLst/>
          </a:prstGeom>
          <a:noFill/>
          <a:ln/>
        </p:spPr>
        <p:txBody>
          <a:bodyPr wrap="square" lIns="0" tIns="0" rIns="0" bIns="0" rtlCol="0" anchor="ctr"/>
          <a:lstStyle/>
          <a:p>
            <a:pPr indent="0" marL="0">
              <a:buNone/>
            </a:pPr>
            <a:r>
              <a:rPr lang="en-US" sz="1250" dirty="0">
                <a:solidFill>
                  <a:srgbClr val="475569"/>
                </a:solidFill>
              </a:rPr>
              <a:t>automated checks</a:t>
            </a:r>
            <a:endParaRPr lang="en-US" sz="1250" dirty="0"/>
          </a:p>
        </p:txBody>
      </p:sp>
      <p:sp>
        <p:nvSpPr>
          <p:cNvPr id="9" name="stat-1"/>
          <p:cNvSpPr txBox="1"/>
          <p:nvPr/>
        </p:nvSpPr>
        <p:spPr>
          <a:xfrm>
            <a:off x="3419856" y="4709160"/>
            <a:ext cx="2651760" cy="658368"/>
          </a:xfrm>
          <a:prstGeom prst="rect">
            <a:avLst/>
          </a:prstGeom>
          <a:noFill/>
          <a:ln/>
        </p:spPr>
        <p:txBody>
          <a:bodyPr wrap="square" lIns="0" tIns="0" rIns="0" bIns="0" rtlCol="0" anchor="ctr"/>
          <a:lstStyle/>
          <a:p>
            <a:pPr indent="0" marL="0">
              <a:buNone/>
            </a:pPr>
            <a:r>
              <a:rPr lang="en-US" sz="3600" b="1" dirty="0">
                <a:solidFill>
                  <a:srgbClr val="1C3557"/>
                </a:solidFill>
              </a:rPr>
              <a:t>4</a:t>
            </a:r>
            <a:endParaRPr lang="en-US" sz="3600" dirty="0"/>
          </a:p>
        </p:txBody>
      </p:sp>
      <p:sp>
        <p:nvSpPr>
          <p:cNvPr id="10" name="stat-label-1"/>
          <p:cNvSpPr txBox="1"/>
          <p:nvPr/>
        </p:nvSpPr>
        <p:spPr>
          <a:xfrm>
            <a:off x="3419856" y="5376672"/>
            <a:ext cx="2651760" cy="365760"/>
          </a:xfrm>
          <a:prstGeom prst="rect">
            <a:avLst/>
          </a:prstGeom>
          <a:noFill/>
          <a:ln/>
        </p:spPr>
        <p:txBody>
          <a:bodyPr wrap="square" lIns="0" tIns="0" rIns="0" bIns="0" rtlCol="0" anchor="ctr"/>
          <a:lstStyle/>
          <a:p>
            <a:pPr indent="0" marL="0">
              <a:buNone/>
            </a:pPr>
            <a:r>
              <a:rPr lang="en-US" sz="1250" dirty="0">
                <a:solidFill>
                  <a:srgbClr val="475569"/>
                </a:solidFill>
              </a:rPr>
              <a:t>roles, four dashboards</a:t>
            </a:r>
            <a:endParaRPr lang="en-US" sz="1250" dirty="0"/>
          </a:p>
        </p:txBody>
      </p:sp>
      <p:sp>
        <p:nvSpPr>
          <p:cNvPr id="11" name="stat-2"/>
          <p:cNvSpPr txBox="1"/>
          <p:nvPr/>
        </p:nvSpPr>
        <p:spPr>
          <a:xfrm>
            <a:off x="6272784" y="4709160"/>
            <a:ext cx="2651760" cy="658368"/>
          </a:xfrm>
          <a:prstGeom prst="rect">
            <a:avLst/>
          </a:prstGeom>
          <a:noFill/>
          <a:ln/>
        </p:spPr>
        <p:txBody>
          <a:bodyPr wrap="square" lIns="0" tIns="0" rIns="0" bIns="0" rtlCol="0" anchor="ctr"/>
          <a:lstStyle/>
          <a:p>
            <a:pPr indent="0" marL="0">
              <a:buNone/>
            </a:pPr>
            <a:r>
              <a:rPr lang="en-US" sz="3600" b="1" dirty="0">
                <a:solidFill>
                  <a:srgbClr val="1C3557"/>
                </a:solidFill>
              </a:rPr>
              <a:t>15</a:t>
            </a:r>
            <a:endParaRPr lang="en-US" sz="3600" dirty="0"/>
          </a:p>
        </p:txBody>
      </p:sp>
      <p:sp>
        <p:nvSpPr>
          <p:cNvPr id="12" name="stat-label-2"/>
          <p:cNvSpPr txBox="1"/>
          <p:nvPr/>
        </p:nvSpPr>
        <p:spPr>
          <a:xfrm>
            <a:off x="6272784" y="5376672"/>
            <a:ext cx="2651760" cy="365760"/>
          </a:xfrm>
          <a:prstGeom prst="rect">
            <a:avLst/>
          </a:prstGeom>
          <a:noFill/>
          <a:ln/>
        </p:spPr>
        <p:txBody>
          <a:bodyPr wrap="square" lIns="0" tIns="0" rIns="0" bIns="0" rtlCol="0" anchor="ctr"/>
          <a:lstStyle/>
          <a:p>
            <a:pPr indent="0" marL="0">
              <a:buNone/>
            </a:pPr>
            <a:r>
              <a:rPr lang="en-US" sz="1250" dirty="0">
                <a:solidFill>
                  <a:srgbClr val="475569"/>
                </a:solidFill>
              </a:rPr>
              <a:t>database tables</a:t>
            </a:r>
            <a:endParaRPr lang="en-US" sz="1250" dirty="0"/>
          </a:p>
        </p:txBody>
      </p:sp>
      <p:sp>
        <p:nvSpPr>
          <p:cNvPr id="13" name="stat-3"/>
          <p:cNvSpPr txBox="1"/>
          <p:nvPr/>
        </p:nvSpPr>
        <p:spPr>
          <a:xfrm>
            <a:off x="9125712" y="4709160"/>
            <a:ext cx="2651760" cy="658368"/>
          </a:xfrm>
          <a:prstGeom prst="rect">
            <a:avLst/>
          </a:prstGeom>
          <a:noFill/>
          <a:ln/>
        </p:spPr>
        <p:txBody>
          <a:bodyPr wrap="square" lIns="0" tIns="0" rIns="0" bIns="0" rtlCol="0" anchor="ctr"/>
          <a:lstStyle/>
          <a:p>
            <a:pPr indent="0" marL="0">
              <a:buNone/>
            </a:pPr>
            <a:r>
              <a:rPr lang="en-US" sz="3600" b="1" dirty="0">
                <a:solidFill>
                  <a:srgbClr val="1C3557"/>
                </a:solidFill>
              </a:rPr>
              <a:t>100%</a:t>
            </a:r>
            <a:endParaRPr lang="en-US" sz="3600" dirty="0"/>
          </a:p>
        </p:txBody>
      </p:sp>
      <p:sp>
        <p:nvSpPr>
          <p:cNvPr id="14" name="stat-label-3"/>
          <p:cNvSpPr txBox="1"/>
          <p:nvPr/>
        </p:nvSpPr>
        <p:spPr>
          <a:xfrm>
            <a:off x="9125712" y="5376672"/>
            <a:ext cx="2651760" cy="365760"/>
          </a:xfrm>
          <a:prstGeom prst="rect">
            <a:avLst/>
          </a:prstGeom>
          <a:noFill/>
          <a:ln/>
        </p:spPr>
        <p:txBody>
          <a:bodyPr wrap="square" lIns="0" tIns="0" rIns="0" bIns="0" rtlCol="0" anchor="ctr"/>
          <a:lstStyle/>
          <a:p>
            <a:pPr indent="0" marL="0">
              <a:buNone/>
            </a:pPr>
            <a:r>
              <a:rPr lang="en-US" sz="1250" dirty="0">
                <a:solidFill>
                  <a:srgbClr val="475569"/>
                </a:solidFill>
              </a:rPr>
              <a:t>of objectives addressed</a:t>
            </a:r>
            <a:endParaRPr lang="en-US" sz="1250" dirty="0"/>
          </a:p>
        </p:txBody>
      </p:sp>
      <p:sp>
        <p:nvSpPr>
          <p:cNvPr id="16" name="Text 0"/>
          <p:cNvSpPr/>
          <p:nvPr>
            <p:ph idx="101" type="body" hasCustomPrompt="1"/>
          </p:nvPr>
        </p:nvSpPr>
        <p:spPr>
          <a:xfrm>
            <a:off x="566928" y="1234440"/>
            <a:ext cx="11064240" cy="48463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3291840" y="6437376"/>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10725912" cy="1371600"/>
          </a:xfrm>
          <a:prstGeom prst="rect">
            <a:avLst/>
          </a:prstGeom>
          <a:noFill/>
          <a:ln/>
        </p:spPr>
        <p:txBody>
          <a:bodyPr wrap="square" rtlCol="0" anchor="b"/>
          <a:lstStyle/>
          <a:p>
            <a:pPr algn="ctr" indent="0" marL="0">
              <a:buNone/>
            </a:pPr>
            <a:r>
              <a:rPr lang="en-US" sz="4000" b="1" dirty="0">
                <a:solidFill>
                  <a:srgbClr val="FFFFFF"/>
                </a:solidFill>
              </a:rPr>
              <a:t>Thank you</a:t>
            </a:r>
            <a:endParaRPr lang="en-US" sz="4000" dirty="0"/>
          </a:p>
        </p:txBody>
      </p:sp>
      <p:sp>
        <p:nvSpPr>
          <p:cNvPr id="3" name="Text 0"/>
          <p:cNvSpPr/>
          <p:nvPr>
            <p:ph idx="101" type="body" hasCustomPrompt="1"/>
          </p:nvPr>
        </p:nvSpPr>
        <p:spPr>
          <a:xfrm>
            <a:off x="1463040" y="3246120"/>
            <a:ext cx="9262872" cy="2926080"/>
          </a:xfrm>
          <a:prstGeom prst="rect">
            <a:avLst/>
          </a:prstGeom>
          <a:noFill/>
          <a:ln/>
        </p:spPr>
        <p:txBody>
          <a:bodyPr wrap="square" rtlCol="0" anchor="t"/>
          <a:lstStyle/>
          <a:p>
            <a:pPr algn="ctr" indent="0" marL="0">
              <a:lnSpc>
                <a:spcPct val="110000"/>
              </a:lnSpc>
              <a:spcAft>
                <a:spcPts val="1600"/>
              </a:spcAft>
              <a:buNone/>
            </a:pPr>
            <a:r>
              <a:rPr lang="en-US" sz="2400" dirty="0">
                <a:solidFill>
                  <a:srgbClr val="FFFFFF"/>
                </a:solidFill>
              </a:rPr>
              <a:t>Questions?</a:t>
            </a:r>
            <a:endParaRPr lang="en-US" sz="1600" dirty="0"/>
          </a:p>
          <a:p>
            <a:pPr algn="ctr" indent="0" marL="0">
              <a:lnSpc>
                <a:spcPct val="110000"/>
              </a:lnSpc>
              <a:buNone/>
            </a:pPr>
            <a:r>
              <a:rPr lang="en-US" sz="1500" dirty="0">
                <a:solidFill>
                  <a:srgbClr val="AFC2DD"/>
                </a:solidFill>
              </a:rPr>
              <a:t>System demonstration to follow</a:t>
            </a:r>
            <a:endParaRPr lang="en-US" sz="1600" dirty="0"/>
          </a:p>
        </p:txBody>
      </p:sp>
      <p:sp>
        <p:nvSpPr>
          <p:cNvPr id="25" name="Slide Number Placeholder 0"/>
          <p:cNvSpPr>
            <a:spLocks noGrp="1"/>
          </p:cNvSpPr>
          <p:nvPr>
            <p:ph type="sldNum" sz="quarter" idx="4294967295"/>
          </p:nvPr>
        </p:nvSpPr>
        <p:spPr>
          <a:xfrm>
            <a:off x="5120640" y="6419088"/>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AFC2DD"/>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Zamglam FYP">
  <a:themeElements>
    <a:clrScheme name="Zamglam FYP">
      <a:dk1>
        <a:srgbClr val="0F172A"/>
      </a:dk1>
      <a:lt1>
        <a:srgbClr val="FFFFFF"/>
      </a:lt1>
      <a:dk2>
        <a:srgbClr val="1C3557"/>
      </a:dk2>
      <a:lt2>
        <a:srgbClr val="F1F5F9"/>
      </a:lt2>
      <a:accent1>
        <a:srgbClr val="1C3557"/>
      </a:accent1>
      <a:accent2>
        <a:srgbClr val="4F46E5"/>
      </a:accent2>
      <a:accent3>
        <a:srgbClr val="047857"/>
      </a:accent3>
      <a:accent4>
        <a:srgbClr val="7E22CE"/>
      </a:accent4>
      <a:accent5>
        <a:srgbClr val="B45309"/>
      </a:accent5>
      <a:accent6>
        <a:srgbClr val="BE123C"/>
      </a:accent6>
      <a:hlink>
        <a:srgbClr val="4F46E5"/>
      </a:hlink>
      <a:folHlink>
        <a:srgbClr val="7E22CE"/>
      </a:folHlink>
    </a:clrScheme>
    <a:fontScheme name="Zamglam FY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University of Zambia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Multi-Vendor E-Commerce Platform with Integrated Courier Delivery Service</dc:title>
  <dc:subject>PptxGenJS Presentation</dc:subject>
  <dc:creator>Zamglam project team</dc:creator>
  <cp:lastModifiedBy>Zamglam project team</cp:lastModifiedBy>
  <cp:revision>1</cp:revision>
  <dcterms:created xsi:type="dcterms:W3CDTF">2026-10-16T13:15:02Z</dcterms:created>
  <dcterms:modified xsi:type="dcterms:W3CDTF">2026-10-16T13:15:02Z</dcterms:modified>
</cp:coreProperties>
</file>